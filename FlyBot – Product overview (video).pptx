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Introducing FlyBot: insect traps watched by cameras, with an AI that counts the insects on each trap card and tells growers when density crosses a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growers check traps by walking to each one and counting by hand. It takes time, the figures are hard to compare, and outbreaks are often noticed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camera photographs the trap card on a schedule, the AI finds and counts every insect, FlyBot works out the new catches per day, then it alerts and sends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82-second tour of the main screens. It starts by itself when this slide is presented; click the video to pause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overview: catches today, flies per trap per day over 7 days against the week before, each trap's risk against its own threshold, a 14-day chart and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boxes each insect in the photo with its species and confidence. Users can confirm or correct the count; reviewed photos are used to retrain the AI. Photos the AI failed on are retried automatically. The RF-DETR model was trained on 1,573 photos with over 85,000 marked flies; on 76 test photos its recall is 92%, precision 93%, mAP@50 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the trap kind when adding a camera. Sticky traps: daily catches are the rise over the day before. Lure traps: the day's average per photo drives alerts, reports, the overview and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page: live video, take a photo now, play back memory card recordings on a timeline, log trap card changes and see the camera's own detection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when catches reach each trap's own threshold, on a sudden surge, when a camera goes offline, when a trap card is due and when the AI keeps failing. Delivered in the app, as push notifications, by email and on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has trend charts, in-depth analysis by trap and by hour, and the history of every analyzed photo. Filter and export every match to PDF or Excel with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choose blocks, a period and filters per block, export to PDF, share with people or through a public link with an end date, and send them automatically every week or month by email and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assistant (the Assistant button at the top) is an agent: it calls FlyBot's own tools to get real figures before answering, compares weeks, reads alerts, reports and the farm logbook (with the effect of each treatment), can look at one photo (the "Ask the assistant about this photo" button), take a photo from a camera, email a report as a PDF and open the right screen. Answers stream in with photo, chart and comparison cards. A card change or a treatment is saved only when the user presses Confirm. Conversations are kept for 7 days. It follows the same camera access rules as the app and cannot change settings or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examples in the chat panel: asking for the latest photos brings the AI photos; asking about the last 24 hours brings a chart by hour; "Ask the assistant about this photo" has the AI look at it; saying "I replaced the card" prepares a card that is saved only when you press Confirm.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farms and plots, place traps on the map and view the heat map. The logbook records each treatment and works out its effect on catches; it exports a VietGAP pesticide use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FlyBot installs on the phone like an app, with push notifications, in English and Vietnamese. Role-based access, camera and organization sharing, API and webhooks, an activity log and a capture pipeline monitor for admins.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mount an EZVIZ camera on the trap, add it with its serial number and verification code and choose the trap kind, then set the alert threshold and channels. Contact contact@agrhub.com or visit https://ezviz.agrhub.com. The two QR codes open the app and the product tour on a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en-US" sz="3190" dirty="0">
                <a:solidFill>
                  <a:srgbClr val="13261D"/>
                </a:solidFill>
                <a:latin typeface="Arial" pitchFamily="34" charset="0"/>
                <a:ea typeface="Arial" pitchFamily="34" charset="-122"/>
                <a:cs typeface="Arial" pitchFamily="34" charset="-120"/>
              </a:defRPr>
            </a:lvl1pPr>
          </a:lstStyle>
          <a:p>
            <a:pPr algn="l" indent="0" marL="0">
              <a:lnSpc>
                <a:spcPct val="115000"/>
              </a:lnSpc>
              <a:buNone/>
            </a:pPr>
            <a:endParaRPr lang="en-US"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en-US" sz="1600" dirty="0">
                <a:solidFill>
                  <a:srgbClr val="13261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7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6331"/>
            <a:ext cx="10566400" cy="464344"/>
          </a:xfrm>
          <a:prstGeom prst="rect">
            <a:avLst/>
          </a:prstGeom>
          <a:noFill/>
          <a:ln/>
        </p:spPr>
        <p:txBody>
          <a:bodyPr wrap="square" lIns="0" tIns="0" rIns="0" bIns="0" rtlCol="0" anchor="t"/>
          <a:lstStyle>
            <a:lvl1pPr algn="l" indent="0" marL="0">
              <a:lnSpc>
                <a:spcPct val="115000"/>
              </a:lnSpc>
              <a:buNone/>
              <a:defRPr lang="en-US" sz="3190" dirty="0">
                <a:solidFill>
                  <a:srgbClr val="13261D"/>
                </a:solidFill>
                <a:latin typeface="Arial" pitchFamily="34" charset="0"/>
                <a:ea typeface="Arial" pitchFamily="34" charset="-122"/>
                <a:cs typeface="Arial" pitchFamily="34" charset="-120"/>
              </a:defRPr>
            </a:lvl1pPr>
          </a:lstStyle>
          <a:p>
            <a:pPr algn="l" indent="0" marL="0">
              <a:lnSpc>
                <a:spcPct val="115000"/>
              </a:lnSpc>
              <a:buNone/>
            </a:pPr>
            <a:endParaRPr lang="en-US" sz="3190" dirty="0"/>
          </a:p>
        </p:txBody>
      </p:sp>
      <p:sp>
        <p:nvSpPr>
          <p:cNvPr id="3" name="Text Placeholder 2"/>
          <p:cNvSpPr/>
          <p:nvPr>
            <p:ph idx="101" type="body"/>
          </p:nvPr>
        </p:nvSpPr>
        <p:spPr>
          <a:xfrm>
            <a:off x="812800" y="1895475"/>
            <a:ext cx="10566400" cy="4149725"/>
          </a:xfrm>
          <a:prstGeom prst="rect">
            <a:avLst/>
          </a:prstGeom>
          <a:noFill/>
          <a:ln/>
        </p:spPr>
        <p:txBody>
          <a:bodyPr wrap="square" lIns="0" tIns="0" rIns="0" bIns="0" rtlCol="0" anchor="t"/>
          <a:lstStyle>
            <a:lvl1pPr algn="l" indent="0" marL="0">
              <a:lnSpc>
                <a:spcPct val="140000"/>
              </a:lnSpc>
              <a:buNone/>
              <a:defRPr lang="en-US" sz="1600" dirty="0">
                <a:solidFill>
                  <a:srgbClr val="13261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ezviz.agrhub.com" TargetMode="External"/><Relationship Id="rId1" Type="http://schemas.openxmlformats.org/officeDocument/2006/relationships/image" Target="../media/image-1-1.png"/><Relationship Id="rId3" Type="http://schemas.openxmlformats.org/officeDocument/2006/relationships/image" Target="../media/image-1-2.webp"/><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ezviz.agrhub.com/media/flybot-tour-en.mp4" TargetMode="External"/><Relationship Id="rId2" Type="http://schemas.openxmlformats.org/officeDocument/2006/relationships/image" Target="../media/image-4-1.webp"/><Relationship Id="rId3" Type="http://schemas.openxmlformats.org/officeDocument/2006/relationships/slideLayout" Target="../slideLayouts/slideLayout2.xml"/><Relationship Id="rId4" Type="http://schemas.openxmlformats.org/officeDocument/2006/relationships/notesSlide" Target="../notesSlides/notesSlide4.xml"/><Relationship Id="rId5" Type="http://schemas.openxmlformats.org/officeDocument/2006/relationships/video" Target="../media/media1.mp4"/><Relationship Id="rId6" Type="http://schemas.microsoft.com/office/2007/relationships/media" Target="../media/media1.mp4"/></Relationships>
</file>

<file path=ppt/slides/_rels/slide5.xml.rels><?xml version="1.0" encoding="UTF-8" standalone="yes"?>
<Relationships xmlns="http://schemas.openxmlformats.org/package/2006/relationships"><Relationship Id="rId1" Type="http://schemas.openxmlformats.org/officeDocument/2006/relationships/image" Target="../media/image-5-1.webp"/><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webp"/><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webp"/><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webp"/><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webp"/><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webp"/><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hyperlink" Target="https://ezviz.agrhub.com/manual?tab=assistant" TargetMode="External"/><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5" Type="http://schemas.openxmlformats.org/officeDocument/2006/relationships/hyperlink" Target="https://ezviz.agrhub.com/manual?tab=assistant" TargetMode="External"/><Relationship Id="rId1" Type="http://schemas.openxmlformats.org/officeDocument/2006/relationships/image" Target="../media/image-13-1.webp"/><Relationship Id="rId2" Type="http://schemas.openxmlformats.org/officeDocument/2006/relationships/image" Target="../media/image-13-2.webp"/><Relationship Id="rId3" Type="http://schemas.openxmlformats.org/officeDocument/2006/relationships/image" Target="../media/image-13-3.webp"/><Relationship Id="rId4" Type="http://schemas.openxmlformats.org/officeDocument/2006/relationships/image" Target="../media/image-13-4.webp"/><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webp"/><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webp"/><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ezviz.agrhub.com" TargetMode="External"/><Relationship Id="rId4" Type="http://schemas.openxmlformats.org/officeDocument/2006/relationships/hyperlink" Target="https://ezviz.agrhub.com/media/flybot-tour-en.mp4" TargetMode="External"/><Relationship Id="rId5" Type="http://schemas.openxmlformats.org/officeDocument/2006/relationships/hyperlink" Target="https://ezviz.agrhub.com" TargetMode="External"/><Relationship Id="rId6" Type="http://schemas.openxmlformats.org/officeDocument/2006/relationships/hyperlink" Target="https://ezviz.agrhub.com/manual" TargetMode="External"/><Relationship Id="rId7" Type="http://schemas.openxmlformats.org/officeDocument/2006/relationships/hyperlink" Target="https://ezviz.agrhub.com/media/flybot-tour-en.mp4" TargetMode="External"/><Relationship Id="rId1" Type="http://schemas.openxmlformats.org/officeDocument/2006/relationships/image" Target="../media/image-16-1.png"/><Relationship Id="rId3" Type="http://schemas.openxmlformats.org/officeDocument/2006/relationships/image" Target="../media/image-16-2.png"/><Relationship Id="rId8" Type="http://schemas.openxmlformats.org/officeDocument/2006/relationships/slideLayout" Target="../slideLayouts/slideLayout2.xml"/><Relationship Id="rId9"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61D"/>
        </a:solidFill>
      </p:bgPr>
    </p:bg>
    <p:spTree>
      <p:nvGrpSpPr>
        <p:cNvPr id="1" name=""/>
        <p:cNvGrpSpPr/>
        <p:nvPr/>
      </p:nvGrpSpPr>
      <p:grpSpPr>
        <a:xfrm>
          <a:off x="0" y="0"/>
          <a:ext cx="0" cy="0"/>
          <a:chOff x="0" y="0"/>
          <a:chExt cx="0" cy="0"/>
        </a:xfrm>
      </p:grpSpPr>
      <p:pic>
        <p:nvPicPr>
          <p:cNvPr id="2" name="Image 0" descr="FlyBot logo">    </p:cNvPr>
          <p:cNvPicPr>
            <a:picLocks noChangeAspect="1"/>
          </p:cNvPicPr>
          <p:nvPr/>
        </p:nvPicPr>
        <p:blipFill>
          <a:blip r:embed="rId1"/>
          <a:srcRect l="0" r="0" t="0" b="0"/>
          <a:stretch/>
        </p:blipFill>
        <p:spPr>
          <a:xfrm>
            <a:off x="812800" y="1167309"/>
            <a:ext cx="711200" cy="711200"/>
          </a:xfrm>
          <a:prstGeom prst="rect">
            <a:avLst/>
          </a:prstGeom>
        </p:spPr>
      </p:pic>
      <p:sp>
        <p:nvSpPr>
          <p:cNvPr id="3" name="Text 0"/>
          <p:cNvSpPr/>
          <p:nvPr/>
        </p:nvSpPr>
        <p:spPr>
          <a:xfrm>
            <a:off x="1676400" y="1327348"/>
            <a:ext cx="111454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5F7F1"/>
                </a:solidFill>
                <a:latin typeface="Arial" pitchFamily="34" charset="0"/>
                <a:ea typeface="Arial" pitchFamily="34" charset="-122"/>
                <a:cs typeface="Arial" pitchFamily="34" charset="-120"/>
              </a:rPr>
              <a:t>FlyBot</a:t>
            </a:r>
            <a:endParaRPr lang="en-US" sz="2200" dirty="0"/>
          </a:p>
        </p:txBody>
      </p:sp>
      <p:sp>
        <p:nvSpPr>
          <p:cNvPr id="4" name="Text 1"/>
          <p:cNvSpPr/>
          <p:nvPr>
            <p:ph type="title"/>
          </p:nvPr>
        </p:nvSpPr>
        <p:spPr>
          <a:xfrm>
            <a:off x="812800" y="2132509"/>
            <a:ext cx="4970780" cy="1617861"/>
          </a:xfrm>
          <a:prstGeom prst="rect">
            <a:avLst/>
          </a:prstGeom>
          <a:noFill/>
          <a:ln/>
        </p:spPr>
        <p:txBody>
          <a:bodyPr wrap="square" lIns="0" tIns="0" rIns="0" bIns="0" rtlCol="0" anchor="t">
            <a:normAutofit/>
          </a:bodyPr>
          <a:lstStyle/>
          <a:p>
            <a:pPr algn="l" indent="0" marL="0">
              <a:lnSpc>
                <a:spcPts val="4180"/>
              </a:lnSpc>
              <a:buNone/>
            </a:pPr>
            <a:r>
              <a:rPr lang="en-US" sz="3800" b="1" i="0" dirty="0">
                <a:solidFill>
                  <a:srgbClr val="F5F7F1"/>
                </a:solidFill>
                <a:latin typeface="Arial" pitchFamily="34" charset="0"/>
                <a:ea typeface="Arial" pitchFamily="34" charset="-122"/>
                <a:cs typeface="Arial" pitchFamily="34" charset="-120"/>
              </a:rPr>
              <a:t>Smart insect traps: the camera shoots, the AI counts</a:t>
            </a:r>
            <a:endParaRPr lang="en-US" sz="3800" dirty="0"/>
          </a:p>
        </p:txBody>
      </p:sp>
      <p:sp>
        <p:nvSpPr>
          <p:cNvPr id="5" name="Text 2"/>
          <p:cNvSpPr/>
          <p:nvPr/>
        </p:nvSpPr>
        <p:spPr>
          <a:xfrm>
            <a:off x="812800" y="3978970"/>
            <a:ext cx="4970780" cy="61456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FD3C6"/>
                </a:solidFill>
                <a:latin typeface="Arial" pitchFamily="34" charset="0"/>
                <a:ea typeface="Arial" pitchFamily="34" charset="-122"/>
                <a:cs typeface="Arial" pitchFamily="34" charset="-120"/>
              </a:rPr>
              <a:t>Follow fruit flies and other pests on every trap, every day, right on your phone.</a:t>
            </a:r>
            <a:endParaRPr lang="en-US" sz="1600" dirty="0"/>
          </a:p>
        </p:txBody>
      </p:sp>
      <p:sp>
        <p:nvSpPr>
          <p:cNvPr id="6" name="Text 3"/>
          <p:cNvSpPr/>
          <p:nvPr/>
        </p:nvSpPr>
        <p:spPr>
          <a:xfrm>
            <a:off x="812800" y="4822130"/>
            <a:ext cx="3683000" cy="365720"/>
          </a:xfrm>
          <a:prstGeom prst="roundRect">
            <a:avLst>
              <a:gd name="adj" fmla="val 50000"/>
            </a:avLst>
          </a:prstGeom>
          <a:solidFill>
            <a:srgbClr val="F2C230"/>
          </a:solidFill>
          <a:ln/>
        </p:spPr>
        <p:txBody>
          <a:bodyPr wrap="square" lIns="48169" tIns="22642" rIns="48169" bIns="0" rtlCol="0" anchor="t">
            <a:normAutofit/>
          </a:bodyPr>
          <a:lstStyle/>
          <a:p>
            <a:pPr algn="ctr" indent="0" marL="0">
              <a:lnSpc>
                <a:spcPts val="1680"/>
              </a:lnSpc>
              <a:buNone/>
            </a:pPr>
            <a:r>
              <a:rPr lang="en-US" sz="1200" b="1" dirty="0">
                <a:solidFill>
                  <a:srgbClr val="13261D"/>
                </a:solidFill>
                <a:latin typeface="Arial" pitchFamily="34" charset="0"/>
                <a:ea typeface="Arial" pitchFamily="34" charset="-122"/>
                <a:cs typeface="Arial" pitchFamily="34" charset="-120"/>
              </a:rPr>
              <a:t>Web · Phone · English and Vietnamese</a:t>
            </a:r>
            <a:endParaRPr lang="en-US" sz="1200" dirty="0"/>
          </a:p>
        </p:txBody>
      </p:sp>
      <p:sp>
        <p:nvSpPr>
          <p:cNvPr id="7" name="Text 4"/>
          <p:cNvSpPr/>
          <p:nvPr/>
        </p:nvSpPr>
        <p:spPr>
          <a:xfrm>
            <a:off x="812800" y="5441851"/>
            <a:ext cx="4970780" cy="274241"/>
          </a:xfrm>
          <a:prstGeom prst="rect">
            <a:avLst/>
          </a:prstGeom>
          <a:noFill/>
          <a:ln/>
        </p:spPr>
        <p:txBody>
          <a:bodyPr wrap="square" lIns="0" tIns="0" rIns="0" bIns="0" rtlCol="0" anchor="t">
            <a:normAutofit/>
          </a:bodyPr>
          <a:lstStyle/>
          <a:p>
            <a:pPr algn="l" indent="0" marL="0">
              <a:lnSpc>
                <a:spcPts val="1960"/>
              </a:lnSpc>
              <a:buNone/>
            </a:pPr>
            <a:r>
              <a:rPr lang="en-US" sz="1400" b="1" u="sng" dirty="0">
                <a:solidFill>
                  <a:srgbClr val="F2C23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ezviz.agrhub.com</a:t>
            </a:r>
            <a:endParaRPr lang="en-US" sz="1400" dirty="0"/>
          </a:p>
        </p:txBody>
      </p:sp>
      <p:pic>
        <p:nvPicPr>
          <p:cNvPr id="8" name="Image 1" descr="FlyBot overview screen: catches today, flies per trap per day and the trap list">    </p:cNvPr>
          <p:cNvPicPr>
            <a:picLocks noChangeAspect="1"/>
          </p:cNvPicPr>
          <p:nvPr/>
        </p:nvPicPr>
        <p:blipFill>
          <a:blip r:embed="rId3"/>
          <a:srcRect l="-72" r="-72" t="0" b="0"/>
          <a:stretch/>
        </p:blipFill>
        <p:spPr>
          <a:xfrm>
            <a:off x="6051550" y="1768475"/>
            <a:ext cx="5321300" cy="3321050"/>
          </a:xfrm>
          <a:prstGeom prst="roundRect">
            <a:avLst>
              <a:gd name="adj" fmla="val 2868"/>
            </a:avLst>
          </a:prstGeom>
          <a:effectLst>
            <a:outerShdw sx="100000" sy="100000" kx="0" ky="0" algn="bl" rotWithShape="0" blurRad="406400" dist="203200" dir="5400000">
              <a:srgbClr val="000000">
                <a:alpha val="35000"/>
              </a:srgbClr>
            </a:outerShdw>
          </a:effectLst>
        </p:spPr>
      </p:pic>
      <p:sp>
        <p:nvSpPr>
          <p:cNvPr id="9" name="Shape 5"/>
          <p:cNvSpPr/>
          <p:nvPr/>
        </p:nvSpPr>
        <p:spPr>
          <a:xfrm>
            <a:off x="6048375" y="1765300"/>
            <a:ext cx="5327650" cy="3327400"/>
          </a:xfrm>
          <a:prstGeom prst="roundRect">
            <a:avLst>
              <a:gd name="adj" fmla="val 2958"/>
            </a:avLst>
          </a:prstGeom>
          <a:noFill/>
          <a:ln w="6350">
            <a:solidFill>
              <a:srgbClr val="2E4A3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Arial" pitchFamily="34" charset="0"/>
                <a:ea typeface="Arial" pitchFamily="34" charset="-122"/>
                <a:cs typeface="Arial" pitchFamily="34" charset="-120"/>
              </a:rPr>
              <a:t>THE PROBLEM</a:t>
            </a:r>
            <a:endParaRPr lang="en-US" sz="1200" dirty="0"/>
          </a:p>
        </p:txBody>
      </p:sp>
      <p:sp>
        <p:nvSpPr>
          <p:cNvPr id="3" name="Text 1"/>
          <p:cNvSpPr/>
          <p:nvPr>
            <p:ph type="title"/>
          </p:nvPr>
        </p:nvSpPr>
        <p:spPr>
          <a:xfrm>
            <a:off x="812800" y="112772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Arial" pitchFamily="34" charset="0"/>
                <a:ea typeface="Arial" pitchFamily="34" charset="-122"/>
                <a:cs typeface="Arial" pitchFamily="34" charset="-120"/>
              </a:rPr>
              <a:t>Checking traps by hand is slow and always behind the pests</a:t>
            </a:r>
            <a:endParaRPr lang="en-US" sz="3200" dirty="0"/>
          </a:p>
        </p:txBody>
      </p:sp>
      <p:sp>
        <p:nvSpPr>
          <p:cNvPr id="4" name="Shape 2"/>
          <p:cNvSpPr/>
          <p:nvPr/>
        </p:nvSpPr>
        <p:spPr>
          <a:xfrm>
            <a:off x="815975" y="2471936"/>
            <a:ext cx="3380284" cy="3366889"/>
          </a:xfrm>
          <a:prstGeom prst="roundRect">
            <a:avLst>
              <a:gd name="adj" fmla="val 3678"/>
            </a:avLst>
          </a:prstGeom>
          <a:solidFill>
            <a:srgbClr val="FFFFFF"/>
          </a:solidFill>
          <a:ln w="6350">
            <a:solidFill>
              <a:srgbClr val="DCE3DA"/>
            </a:solidFill>
            <a:prstDash val="solid"/>
          </a:ln>
        </p:spPr>
      </p:sp>
      <p:pic>
        <p:nvPicPr>
          <p:cNvPr id="5" name="Image 0" descr="Users">    </p:cNvPr>
          <p:cNvPicPr>
            <a:picLocks noChangeAspect="1"/>
          </p:cNvPicPr>
          <p:nvPr/>
        </p:nvPicPr>
        <p:blipFill>
          <a:blip r:embed="rId1"/>
          <a:srcRect l="0" r="0" t="0" b="0"/>
          <a:stretch/>
        </p:blipFill>
        <p:spPr>
          <a:xfrm>
            <a:off x="1123950" y="2779911"/>
            <a:ext cx="406400" cy="406400"/>
          </a:xfrm>
          <a:prstGeom prst="rect">
            <a:avLst/>
          </a:prstGeom>
        </p:spPr>
      </p:pic>
      <p:sp>
        <p:nvSpPr>
          <p:cNvPr id="6" name="Text 3"/>
          <p:cNvSpPr/>
          <p:nvPr/>
        </p:nvSpPr>
        <p:spPr>
          <a:xfrm>
            <a:off x="1123950" y="3338711"/>
            <a:ext cx="284726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Arial" pitchFamily="34" charset="0"/>
                <a:ea typeface="Arial" pitchFamily="34" charset="-122"/>
                <a:cs typeface="Arial" pitchFamily="34" charset="-120"/>
              </a:rPr>
              <a:t>Walking every trap, counting by eye</a:t>
            </a:r>
            <a:endParaRPr lang="en-US" sz="2000" dirty="0"/>
          </a:p>
        </p:txBody>
      </p:sp>
      <p:sp>
        <p:nvSpPr>
          <p:cNvPr id="7" name="Text 4"/>
          <p:cNvSpPr/>
          <p:nvPr/>
        </p:nvSpPr>
        <p:spPr>
          <a:xfrm>
            <a:off x="1123950" y="4100711"/>
            <a:ext cx="2847264"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Arial" pitchFamily="34" charset="0"/>
                <a:ea typeface="Arial" pitchFamily="34" charset="-122"/>
                <a:cs typeface="Arial" pitchFamily="34" charset="-120"/>
              </a:rPr>
              <a:t>Each round takes hours of labour, and the count depends on who does it.</a:t>
            </a:r>
            <a:endParaRPr lang="en-US" sz="1400" dirty="0"/>
          </a:p>
        </p:txBody>
      </p:sp>
      <p:sp>
        <p:nvSpPr>
          <p:cNvPr id="8" name="Shape 5"/>
          <p:cNvSpPr/>
          <p:nvPr/>
        </p:nvSpPr>
        <p:spPr>
          <a:xfrm>
            <a:off x="4405809" y="2471936"/>
            <a:ext cx="3380383" cy="3366889"/>
          </a:xfrm>
          <a:prstGeom prst="roundRect">
            <a:avLst>
              <a:gd name="adj" fmla="val 3678"/>
            </a:avLst>
          </a:prstGeom>
          <a:solidFill>
            <a:srgbClr val="FFFFFF"/>
          </a:solidFill>
          <a:ln w="6350">
            <a:solidFill>
              <a:srgbClr val="DCE3DA"/>
            </a:solidFill>
            <a:prstDash val="solid"/>
          </a:ln>
        </p:spPr>
      </p:sp>
      <p:pic>
        <p:nvPicPr>
          <p:cNvPr id="9" name="Image 1" descr="Chart">    </p:cNvPr>
          <p:cNvPicPr>
            <a:picLocks noChangeAspect="1"/>
          </p:cNvPicPr>
          <p:nvPr/>
        </p:nvPicPr>
        <p:blipFill>
          <a:blip r:embed="rId2"/>
          <a:srcRect l="0" r="0" t="0" b="0"/>
          <a:stretch/>
        </p:blipFill>
        <p:spPr>
          <a:xfrm>
            <a:off x="4713784" y="2779911"/>
            <a:ext cx="406400" cy="406400"/>
          </a:xfrm>
          <a:prstGeom prst="rect">
            <a:avLst/>
          </a:prstGeom>
        </p:spPr>
      </p:pic>
      <p:sp>
        <p:nvSpPr>
          <p:cNvPr id="10" name="Text 6"/>
          <p:cNvSpPr/>
          <p:nvPr/>
        </p:nvSpPr>
        <p:spPr>
          <a:xfrm>
            <a:off x="4713784" y="3338711"/>
            <a:ext cx="2847366"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Arial" pitchFamily="34" charset="0"/>
                <a:ea typeface="Arial" pitchFamily="34" charset="-122"/>
                <a:cs typeface="Arial" pitchFamily="34" charset="-120"/>
              </a:rPr>
              <a:t>Scattered records</a:t>
            </a:r>
            <a:endParaRPr lang="en-US" sz="2000" dirty="0"/>
          </a:p>
        </p:txBody>
      </p:sp>
      <p:sp>
        <p:nvSpPr>
          <p:cNvPr id="11" name="Text 7"/>
          <p:cNvSpPr/>
          <p:nvPr/>
        </p:nvSpPr>
        <p:spPr>
          <a:xfrm>
            <a:off x="4713784" y="3795911"/>
            <a:ext cx="2847366"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Arial" pitchFamily="34" charset="0"/>
                <a:ea typeface="Arial" pitchFamily="34" charset="-122"/>
                <a:cs typeface="Arial" pitchFamily="34" charset="-120"/>
              </a:rPr>
              <a:t>Notes on paper are hard to compare across traps, plots and weeks.</a:t>
            </a:r>
            <a:endParaRPr lang="en-US" sz="1400" dirty="0"/>
          </a:p>
        </p:txBody>
      </p:sp>
      <p:sp>
        <p:nvSpPr>
          <p:cNvPr id="12" name="Shape 8"/>
          <p:cNvSpPr/>
          <p:nvPr/>
        </p:nvSpPr>
        <p:spPr>
          <a:xfrm>
            <a:off x="7995741" y="2471936"/>
            <a:ext cx="3380284" cy="3366889"/>
          </a:xfrm>
          <a:prstGeom prst="roundRect">
            <a:avLst>
              <a:gd name="adj" fmla="val 3678"/>
            </a:avLst>
          </a:prstGeom>
          <a:solidFill>
            <a:srgbClr val="FFFFFF"/>
          </a:solidFill>
          <a:ln w="6350">
            <a:solidFill>
              <a:srgbClr val="DCE3DA"/>
            </a:solidFill>
            <a:prstDash val="solid"/>
          </a:ln>
        </p:spPr>
      </p:sp>
      <p:pic>
        <p:nvPicPr>
          <p:cNvPr id="13" name="Image 2" descr="Clock">    </p:cNvPr>
          <p:cNvPicPr>
            <a:picLocks noChangeAspect="1"/>
          </p:cNvPicPr>
          <p:nvPr/>
        </p:nvPicPr>
        <p:blipFill>
          <a:blip r:embed="rId3"/>
          <a:srcRect l="0" r="0" t="0" b="0"/>
          <a:stretch/>
        </p:blipFill>
        <p:spPr>
          <a:xfrm>
            <a:off x="8303716" y="2779911"/>
            <a:ext cx="406400" cy="406400"/>
          </a:xfrm>
          <a:prstGeom prst="rect">
            <a:avLst/>
          </a:prstGeom>
        </p:spPr>
      </p:pic>
      <p:sp>
        <p:nvSpPr>
          <p:cNvPr id="14" name="Text 9"/>
          <p:cNvSpPr/>
          <p:nvPr/>
        </p:nvSpPr>
        <p:spPr>
          <a:xfrm>
            <a:off x="8303716" y="3338711"/>
            <a:ext cx="284726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61D"/>
                </a:solidFill>
                <a:latin typeface="Arial" pitchFamily="34" charset="0"/>
                <a:ea typeface="Arial" pitchFamily="34" charset="-122"/>
                <a:cs typeface="Arial" pitchFamily="34" charset="-120"/>
              </a:rPr>
              <a:t>Spotted too late</a:t>
            </a:r>
            <a:endParaRPr lang="en-US" sz="2000" dirty="0"/>
          </a:p>
        </p:txBody>
      </p:sp>
      <p:sp>
        <p:nvSpPr>
          <p:cNvPr id="15" name="Text 10"/>
          <p:cNvSpPr/>
          <p:nvPr/>
        </p:nvSpPr>
        <p:spPr>
          <a:xfrm>
            <a:off x="8303716" y="3795911"/>
            <a:ext cx="2847264"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4A5A50"/>
                </a:solidFill>
                <a:latin typeface="Arial" pitchFamily="34" charset="0"/>
                <a:ea typeface="Arial" pitchFamily="34" charset="-122"/>
                <a:cs typeface="Arial" pitchFamily="34" charset="-120"/>
              </a:rPr>
              <a:t>By the time numbers look high, the outbreak has started and costs more to treat.</a:t>
            </a:r>
            <a:endParaRPr lang="en-US" sz="1400" dirty="0"/>
          </a:p>
        </p:txBody>
      </p:sp>
      <p:sp>
        <p:nvSpPr>
          <p:cNvPr id="16"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Arial" pitchFamily="34" charset="0"/>
                <a:ea typeface="Arial" pitchFamily="34" charset="-122"/>
                <a:cs typeface="Arial" pitchFamily="34" charset="-120"/>
              </a:rPr>
              <a:t>HOW IT WORKS</a:t>
            </a:r>
            <a:endParaRPr lang="en-US" sz="1200" dirty="0"/>
          </a:p>
        </p:txBody>
      </p:sp>
      <p:sp>
        <p:nvSpPr>
          <p:cNvPr id="3" name="Text 1"/>
          <p:cNvSpPr/>
          <p:nvPr>
            <p:ph type="title"/>
          </p:nvPr>
        </p:nvSpPr>
        <p:spPr>
          <a:xfrm>
            <a:off x="812800" y="1127720"/>
            <a:ext cx="10883392"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Arial" pitchFamily="34" charset="0"/>
                <a:ea typeface="Arial" pitchFamily="34" charset="-122"/>
                <a:cs typeface="Arial" pitchFamily="34" charset="-120"/>
              </a:rPr>
              <a:t>From trap card to decision, with no counting by hand</a:t>
            </a:r>
            <a:endParaRPr lang="en-US" sz="3200" dirty="0"/>
          </a:p>
        </p:txBody>
      </p:sp>
      <p:sp>
        <p:nvSpPr>
          <p:cNvPr id="4" name="Shape 2"/>
          <p:cNvSpPr/>
          <p:nvPr/>
        </p:nvSpPr>
        <p:spPr>
          <a:xfrm>
            <a:off x="815975" y="2471936"/>
            <a:ext cx="2257425" cy="3366889"/>
          </a:xfrm>
          <a:prstGeom prst="roundRect">
            <a:avLst>
              <a:gd name="adj" fmla="val 5485"/>
            </a:avLst>
          </a:prstGeom>
          <a:solidFill>
            <a:srgbClr val="FFFFFF"/>
          </a:solidFill>
          <a:ln w="6350">
            <a:solidFill>
              <a:srgbClr val="DCE3DA"/>
            </a:solidFill>
            <a:prstDash val="solid"/>
          </a:ln>
        </p:spPr>
      </p:sp>
      <p:sp>
        <p:nvSpPr>
          <p:cNvPr id="5" name="Text 3"/>
          <p:cNvSpPr/>
          <p:nvPr/>
        </p:nvSpPr>
        <p:spPr>
          <a:xfrm>
            <a:off x="1073150" y="272911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Arial" pitchFamily="34" charset="0"/>
                <a:ea typeface="Arial" pitchFamily="34" charset="-122"/>
                <a:cs typeface="Arial" pitchFamily="34" charset="-120"/>
              </a:rPr>
              <a:t>1</a:t>
            </a:r>
            <a:endParaRPr lang="en-US" sz="1200" dirty="0"/>
          </a:p>
        </p:txBody>
      </p:sp>
      <p:sp>
        <p:nvSpPr>
          <p:cNvPr id="6" name="Text 4"/>
          <p:cNvSpPr/>
          <p:nvPr/>
        </p:nvSpPr>
        <p:spPr>
          <a:xfrm>
            <a:off x="1073150" y="3211711"/>
            <a:ext cx="1795367" cy="848122"/>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Arial" pitchFamily="34" charset="0"/>
                <a:ea typeface="Arial" pitchFamily="34" charset="-122"/>
                <a:cs typeface="Arial" pitchFamily="34" charset="-120"/>
              </a:rPr>
              <a:t>The camera shoots the trap</a:t>
            </a:r>
            <a:endParaRPr lang="en-US" sz="1800" dirty="0"/>
          </a:p>
        </p:txBody>
      </p:sp>
      <p:sp>
        <p:nvSpPr>
          <p:cNvPr id="7" name="Text 5"/>
          <p:cNvSpPr/>
          <p:nvPr/>
        </p:nvSpPr>
        <p:spPr>
          <a:xfrm>
            <a:off x="1073150" y="4161433"/>
            <a:ext cx="1795367" cy="12636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An EZVIZ camera takes photos on each trap's own schedule, daytime only if you like.</a:t>
            </a:r>
            <a:endParaRPr lang="en-US" sz="1300" dirty="0"/>
          </a:p>
        </p:txBody>
      </p:sp>
      <p:pic>
        <p:nvPicPr>
          <p:cNvPr id="8" name="Image 0" descr="arrow-right">    </p:cNvPr>
          <p:cNvPicPr>
            <a:picLocks noChangeAspect="1"/>
          </p:cNvPicPr>
          <p:nvPr/>
        </p:nvPicPr>
        <p:blipFill>
          <a:blip r:embed="rId1"/>
          <a:srcRect l="0" r="0" t="0" b="0"/>
          <a:stretch/>
        </p:blipFill>
        <p:spPr>
          <a:xfrm>
            <a:off x="3178175" y="4066480"/>
            <a:ext cx="304800" cy="177800"/>
          </a:xfrm>
          <a:prstGeom prst="rect">
            <a:avLst/>
          </a:prstGeom>
        </p:spPr>
      </p:pic>
      <p:sp>
        <p:nvSpPr>
          <p:cNvPr id="9" name="Shape 6"/>
          <p:cNvSpPr/>
          <p:nvPr/>
        </p:nvSpPr>
        <p:spPr>
          <a:xfrm>
            <a:off x="3587750" y="2471936"/>
            <a:ext cx="2257425" cy="3366889"/>
          </a:xfrm>
          <a:prstGeom prst="roundRect">
            <a:avLst>
              <a:gd name="adj" fmla="val 5485"/>
            </a:avLst>
          </a:prstGeom>
          <a:solidFill>
            <a:srgbClr val="FFFFFF"/>
          </a:solidFill>
          <a:ln w="6350">
            <a:solidFill>
              <a:srgbClr val="DCE3DA"/>
            </a:solidFill>
            <a:prstDash val="solid"/>
          </a:ln>
        </p:spPr>
      </p:sp>
      <p:sp>
        <p:nvSpPr>
          <p:cNvPr id="10" name="Text 7"/>
          <p:cNvSpPr/>
          <p:nvPr/>
        </p:nvSpPr>
        <p:spPr>
          <a:xfrm>
            <a:off x="3844925" y="272911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Arial" pitchFamily="34" charset="0"/>
                <a:ea typeface="Arial" pitchFamily="34" charset="-122"/>
                <a:cs typeface="Arial" pitchFamily="34" charset="-120"/>
              </a:rPr>
              <a:t>2</a:t>
            </a:r>
            <a:endParaRPr lang="en-US" sz="1200" dirty="0"/>
          </a:p>
        </p:txBody>
      </p:sp>
      <p:sp>
        <p:nvSpPr>
          <p:cNvPr id="11" name="Text 8"/>
          <p:cNvSpPr/>
          <p:nvPr/>
        </p:nvSpPr>
        <p:spPr>
          <a:xfrm>
            <a:off x="3844925" y="321171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Arial" pitchFamily="34" charset="0"/>
                <a:ea typeface="Arial" pitchFamily="34" charset="-122"/>
                <a:cs typeface="Arial" pitchFamily="34" charset="-120"/>
              </a:rPr>
              <a:t>The AI finds and counts</a:t>
            </a:r>
            <a:endParaRPr lang="en-US" sz="1800" dirty="0"/>
          </a:p>
        </p:txBody>
      </p:sp>
      <p:sp>
        <p:nvSpPr>
          <p:cNvPr id="12" name="Text 9"/>
          <p:cNvSpPr/>
          <p:nvPr/>
        </p:nvSpPr>
        <p:spPr>
          <a:xfrm>
            <a:off x="3844925" y="3887192"/>
            <a:ext cx="1795367"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It boxes every insect in the photo, with its species and confidence.</a:t>
            </a:r>
            <a:endParaRPr lang="en-US" sz="1300" dirty="0"/>
          </a:p>
        </p:txBody>
      </p:sp>
      <p:pic>
        <p:nvPicPr>
          <p:cNvPr id="13" name="Image 1" descr="arrow-right">    </p:cNvPr>
          <p:cNvPicPr>
            <a:picLocks noChangeAspect="1"/>
          </p:cNvPicPr>
          <p:nvPr/>
        </p:nvPicPr>
        <p:blipFill>
          <a:blip r:embed="rId2"/>
          <a:srcRect l="0" r="0" t="0" b="0"/>
          <a:stretch/>
        </p:blipFill>
        <p:spPr>
          <a:xfrm>
            <a:off x="5949950" y="4066480"/>
            <a:ext cx="304800" cy="177800"/>
          </a:xfrm>
          <a:prstGeom prst="rect">
            <a:avLst/>
          </a:prstGeom>
        </p:spPr>
      </p:pic>
      <p:sp>
        <p:nvSpPr>
          <p:cNvPr id="14" name="Shape 10"/>
          <p:cNvSpPr/>
          <p:nvPr/>
        </p:nvSpPr>
        <p:spPr>
          <a:xfrm>
            <a:off x="6359525" y="2471936"/>
            <a:ext cx="2257425" cy="3366889"/>
          </a:xfrm>
          <a:prstGeom prst="roundRect">
            <a:avLst>
              <a:gd name="adj" fmla="val 5485"/>
            </a:avLst>
          </a:prstGeom>
          <a:solidFill>
            <a:srgbClr val="FFFFFF"/>
          </a:solidFill>
          <a:ln w="6350">
            <a:solidFill>
              <a:srgbClr val="DCE3DA"/>
            </a:solidFill>
            <a:prstDash val="solid"/>
          </a:ln>
        </p:spPr>
      </p:sp>
      <p:sp>
        <p:nvSpPr>
          <p:cNvPr id="15" name="Text 11"/>
          <p:cNvSpPr/>
          <p:nvPr/>
        </p:nvSpPr>
        <p:spPr>
          <a:xfrm>
            <a:off x="6616700" y="272911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Arial" pitchFamily="34" charset="0"/>
                <a:ea typeface="Arial" pitchFamily="34" charset="-122"/>
                <a:cs typeface="Arial" pitchFamily="34" charset="-120"/>
              </a:rPr>
              <a:t>3</a:t>
            </a:r>
            <a:endParaRPr lang="en-US" sz="1200" dirty="0"/>
          </a:p>
        </p:txBody>
      </p:sp>
      <p:sp>
        <p:nvSpPr>
          <p:cNvPr id="16" name="Text 12"/>
          <p:cNvSpPr/>
          <p:nvPr/>
        </p:nvSpPr>
        <p:spPr>
          <a:xfrm>
            <a:off x="6616700" y="3211711"/>
            <a:ext cx="1795367"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Arial" pitchFamily="34" charset="0"/>
                <a:ea typeface="Arial" pitchFamily="34" charset="-122"/>
                <a:cs typeface="Arial" pitchFamily="34" charset="-120"/>
              </a:rPr>
              <a:t>Daily catches</a:t>
            </a:r>
            <a:endParaRPr lang="en-US" sz="1800" dirty="0"/>
          </a:p>
        </p:txBody>
      </p:sp>
      <p:sp>
        <p:nvSpPr>
          <p:cNvPr id="17" name="Text 13"/>
          <p:cNvSpPr/>
          <p:nvPr/>
        </p:nvSpPr>
        <p:spPr>
          <a:xfrm>
            <a:off x="6616700" y="3612952"/>
            <a:ext cx="1795367"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New insects per day and flies per trap per day, to compare.</a:t>
            </a:r>
            <a:endParaRPr lang="en-US" sz="1300" dirty="0"/>
          </a:p>
        </p:txBody>
      </p:sp>
      <p:pic>
        <p:nvPicPr>
          <p:cNvPr id="18" name="Image 2" descr="arrow-right">    </p:cNvPr>
          <p:cNvPicPr>
            <a:picLocks noChangeAspect="1"/>
          </p:cNvPicPr>
          <p:nvPr/>
        </p:nvPicPr>
        <p:blipFill>
          <a:blip r:embed="rId3"/>
          <a:srcRect l="0" r="0" t="0" b="0"/>
          <a:stretch/>
        </p:blipFill>
        <p:spPr>
          <a:xfrm>
            <a:off x="8721725" y="4066480"/>
            <a:ext cx="304800" cy="177800"/>
          </a:xfrm>
          <a:prstGeom prst="rect">
            <a:avLst/>
          </a:prstGeom>
        </p:spPr>
      </p:pic>
      <p:sp>
        <p:nvSpPr>
          <p:cNvPr id="19" name="Shape 14"/>
          <p:cNvSpPr/>
          <p:nvPr/>
        </p:nvSpPr>
        <p:spPr>
          <a:xfrm>
            <a:off x="9128125" y="2468761"/>
            <a:ext cx="2251075" cy="3373239"/>
          </a:xfrm>
          <a:prstGeom prst="roundRect">
            <a:avLst>
              <a:gd name="adj" fmla="val 5642"/>
            </a:avLst>
          </a:prstGeom>
          <a:solidFill>
            <a:srgbClr val="13261D"/>
          </a:solidFill>
          <a:ln/>
        </p:spPr>
      </p:sp>
      <p:sp>
        <p:nvSpPr>
          <p:cNvPr id="20" name="Text 15"/>
          <p:cNvSpPr/>
          <p:nvPr/>
        </p:nvSpPr>
        <p:spPr>
          <a:xfrm>
            <a:off x="9382125" y="2722761"/>
            <a:ext cx="355600" cy="355600"/>
          </a:xfrm>
          <a:custGeom>
            <a:avLst/>
            <a:gdLst/>
            <a:ahLst/>
            <a:cxnLst/>
            <a:rect l="l" t="t" r="r" b="b"/>
            <a:pathLst>
              <a:path w="355600" h="355600">
                <a:moveTo>
                  <a:pt x="177800" y="0"/>
                </a:moveTo>
                <a:lnTo>
                  <a:pt x="177800" y="0"/>
                </a:lnTo>
                <a:arcTo hR="177800" wR="177800" stAng="16200000" swAng="5400000"/>
                <a:lnTo>
                  <a:pt x="355600" y="177800"/>
                </a:lnTo>
                <a:arcTo hR="177800" wR="177800" stAng="0" swAng="5400000"/>
                <a:lnTo>
                  <a:pt x="177800" y="355600"/>
                </a:lnTo>
                <a:arcTo hR="177800" wR="177800" stAng="5400000" swAng="5400000"/>
                <a:lnTo>
                  <a:pt x="0" y="177800"/>
                </a:lnTo>
                <a:arcTo hR="177800" wR="177800" stAng="10800000" swAng="5400000"/>
                <a:close/>
              </a:path>
            </a:pathLst>
          </a:custGeom>
          <a:solidFill>
            <a:srgbClr val="F2C230"/>
          </a:solidFill>
          <a:ln/>
        </p:spPr>
        <p:txBody>
          <a:bodyPr wrap="square" lIns="0" tIns="0" rIns="0" bIns="0" rtlCol="0" anchor="t">
            <a:normAutofit/>
          </a:bodyPr>
          <a:lstStyle/>
          <a:p>
            <a:pPr algn="ctr" indent="0" marL="0">
              <a:lnSpc>
                <a:spcPts val="2796"/>
              </a:lnSpc>
              <a:buNone/>
            </a:pPr>
            <a:r>
              <a:rPr lang="en-US" sz="1200" b="1" dirty="0">
                <a:solidFill>
                  <a:srgbClr val="13261D"/>
                </a:solidFill>
                <a:latin typeface="Arial" pitchFamily="34" charset="0"/>
                <a:ea typeface="Arial" pitchFamily="34" charset="-122"/>
                <a:cs typeface="Arial" pitchFamily="34" charset="-120"/>
              </a:rPr>
              <a:t>4</a:t>
            </a:r>
            <a:endParaRPr lang="en-US" sz="1200" dirty="0"/>
          </a:p>
        </p:txBody>
      </p:sp>
      <p:sp>
        <p:nvSpPr>
          <p:cNvPr id="21" name="Text 16"/>
          <p:cNvSpPr/>
          <p:nvPr/>
        </p:nvSpPr>
        <p:spPr>
          <a:xfrm>
            <a:off x="9382125" y="3205361"/>
            <a:ext cx="1795367"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Arial" pitchFamily="34" charset="0"/>
                <a:ea typeface="Arial" pitchFamily="34" charset="-122"/>
                <a:cs typeface="Arial" pitchFamily="34" charset="-120"/>
              </a:rPr>
              <a:t>Alerts and reports</a:t>
            </a:r>
            <a:endParaRPr lang="en-US" sz="1800" dirty="0"/>
          </a:p>
        </p:txBody>
      </p:sp>
      <p:sp>
        <p:nvSpPr>
          <p:cNvPr id="22" name="Text 17"/>
          <p:cNvSpPr/>
          <p:nvPr/>
        </p:nvSpPr>
        <p:spPr>
          <a:xfrm>
            <a:off x="9382125" y="3880842"/>
            <a:ext cx="1795367"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An alert as soon as a threshold is reached; reports on a schedule.</a:t>
            </a:r>
            <a:endParaRPr lang="en-US" sz="1300" dirty="0"/>
          </a:p>
        </p:txBody>
      </p:sp>
      <p:sp>
        <p:nvSpPr>
          <p:cNvPr id="23"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1230809"/>
            <a:ext cx="293014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Arial" pitchFamily="34" charset="0"/>
                <a:ea typeface="Arial" pitchFamily="34" charset="-122"/>
                <a:cs typeface="Arial" pitchFamily="34" charset="-120"/>
              </a:rPr>
              <a:t>PRODUCT TOUR</a:t>
            </a:r>
            <a:endParaRPr lang="en-US" sz="1200" dirty="0"/>
          </a:p>
        </p:txBody>
      </p:sp>
      <p:sp>
        <p:nvSpPr>
          <p:cNvPr id="3" name="Text 1"/>
          <p:cNvSpPr/>
          <p:nvPr>
            <p:ph type="title"/>
          </p:nvPr>
        </p:nvSpPr>
        <p:spPr>
          <a:xfrm>
            <a:off x="812800" y="1596529"/>
            <a:ext cx="2930144"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Arial" pitchFamily="34" charset="0"/>
                <a:ea typeface="Arial" pitchFamily="34" charset="-122"/>
                <a:cs typeface="Arial" pitchFamily="34" charset="-120"/>
              </a:rPr>
              <a:t>FlyBot in 82 seconds</a:t>
            </a:r>
            <a:endParaRPr lang="en-US" sz="3200" dirty="0"/>
          </a:p>
        </p:txBody>
      </p:sp>
      <p:sp>
        <p:nvSpPr>
          <p:cNvPr id="4" name="Text 2"/>
          <p:cNvSpPr/>
          <p:nvPr/>
        </p:nvSpPr>
        <p:spPr>
          <a:xfrm>
            <a:off x="812800" y="2683570"/>
            <a:ext cx="2930144" cy="13589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Arial" pitchFamily="34" charset="0"/>
                <a:ea typeface="Arial" pitchFamily="34" charset="-122"/>
                <a:cs typeface="Arial" pitchFamily="34" charset="-120"/>
              </a:rPr>
              <a:t>A walk through the app: overview, AI detection, cameras, analytics, reports, the FlyBot assistant and the quick tour.</a:t>
            </a:r>
            <a:endParaRPr lang="en-US" sz="1400" dirty="0"/>
          </a:p>
        </p:txBody>
      </p:sp>
      <p:sp>
        <p:nvSpPr>
          <p:cNvPr id="5" name="Text 3"/>
          <p:cNvSpPr/>
          <p:nvPr/>
        </p:nvSpPr>
        <p:spPr>
          <a:xfrm>
            <a:off x="812800" y="4169470"/>
            <a:ext cx="2930144"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2C230"/>
                </a:solidFill>
                <a:latin typeface="Arial" pitchFamily="34" charset="0"/>
                <a:ea typeface="Arial" pitchFamily="34" charset="-122"/>
                <a:cs typeface="Arial" pitchFamily="34" charset="-120"/>
              </a:rPr>
              <a:t>▶ </a:t>
            </a:r>
            <a:r>
              <a:rPr lang="en-US" sz="1400" b="1" u="sng" dirty="0">
                <a:solidFill>
                  <a:srgbClr val="F2C230"/>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Watch the video online</a:t>
            </a:r>
            <a:endParaRPr lang="en-US" sz="1400" dirty="0"/>
          </a:p>
        </p:txBody>
      </p:sp>
      <p:sp>
        <p:nvSpPr>
          <p:cNvPr id="6" name="Text 4"/>
          <p:cNvSpPr/>
          <p:nvPr/>
        </p:nvSpPr>
        <p:spPr>
          <a:xfrm>
            <a:off x="812800" y="4570710"/>
            <a:ext cx="2930144"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It plays by itself when presented. In the PDF or PowerPoint file, click the video or the link above to watch the latest version on the website.</a:t>
            </a:r>
            <a:endParaRPr lang="en-US" sz="1200" dirty="0"/>
          </a:p>
        </p:txBody>
      </p:sp>
      <p:sp>
        <p:nvSpPr>
          <p:cNvPr id="7" name="Shape 5"/>
          <p:cNvSpPr/>
          <p:nvPr/>
        </p:nvSpPr>
        <p:spPr>
          <a:xfrm>
            <a:off x="4064000" y="1270000"/>
            <a:ext cx="7315200" cy="4114800"/>
          </a:xfrm>
          <a:prstGeom prst="roundRect">
            <a:avLst>
              <a:gd name="adj" fmla="val 2469"/>
            </a:avLst>
          </a:prstGeom>
          <a:solidFill>
            <a:srgbClr val="0B1712"/>
          </a:solidFill>
          <a:ln/>
          <a:effectLst>
            <a:outerShdw sx="100000" sy="100000" kx="0" ky="0" algn="bl" rotWithShape="0" blurRad="406400" dist="203200" dir="5400000">
              <a:srgbClr val="000000">
                <a:alpha val="35000"/>
              </a:srgbClr>
            </a:outerShdw>
          </a:effectLst>
        </p:spPr>
      </p:sp>
      <p:pic>
        <p:nvPicPr>
          <p:cNvPr id="8" name="Image 0" descr="FlyBot product tour: a walk through the main screens of the app">
            <a:hlinkClick r:id="" action="ppaction://media"/>
          </p:cNvPr>
          <p:cNvPicPr>
            <a:picLocks noChangeAspect="1"/>
          </p:cNvPicPr>
          <p:nvPr>
            <a:videoFile r:link="rId5"/>
            <p:extLst>
              <p:ext uri="{DAA4B4D4-6D71-4841-9C94-3DE7FCFB9230}">
                <p14:media xmlns:p14="http://schemas.microsoft.com/office/powerpoint/2010/main" r:embed="rId6"/>
              </p:ext>
            </p:extLst>
          </p:nvPr>
        </p:nvPicPr>
        <p:blipFill>
          <a:blip r:embed="rId2"/>
          <a:srcRect l="-68" r="-68" t="0" b="0"/>
          <a:stretch/>
        </p:blipFill>
        <p:spPr>
          <a:xfrm>
            <a:off x="4070350" y="1276350"/>
            <a:ext cx="7302500" cy="4102100"/>
          </a:xfrm>
          <a:prstGeom prst="roundRect">
            <a:avLst>
              <a:gd name="adj" fmla="val 2322"/>
            </a:avLst>
          </a:prstGeom>
        </p:spPr>
      </p:pic>
      <p:sp>
        <p:nvSpPr>
          <p:cNvPr id="9" name="Shape 6"/>
          <p:cNvSpPr/>
          <p:nvPr/>
        </p:nvSpPr>
        <p:spPr>
          <a:xfrm>
            <a:off x="4067175" y="1273175"/>
            <a:ext cx="7308850" cy="4108450"/>
          </a:xfrm>
          <a:prstGeom prst="roundRect">
            <a:avLst>
              <a:gd name="adj" fmla="val 2396"/>
            </a:avLst>
          </a:prstGeom>
          <a:noFill/>
          <a:ln w="6350">
            <a:solidFill>
              <a:srgbClr val="2E4A3B"/>
            </a:solidFill>
            <a:prstDash val="solid"/>
          </a:ln>
        </p:spPr>
      </p:sp>
      <p:sp>
        <p:nvSpPr>
          <p:cNvPr id="10" name="Text 7"/>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FlyBot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OVERVIEW</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The whole farm on one screen</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Overview screen: catches today, flies per trap per day, cameras online and risk level, with the list of trap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Catches today</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New insects, not the running total on the sticky card.</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Flies per trap per day</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The standard figure to compare traps and weeks.</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Risk for every trap</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Against each trap's own threshold, with its latest AI photo.</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AI DETECTION</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Every insect boxed and named</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Sticky card photo with a detection box around every fruit fly and moth, and counts by specie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Boxes and species</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Each insect gets a box, a species and a confidence; counts by species.</a:t>
            </a:r>
            <a:endParaRPr lang="en-US" sz="1300" dirty="0"/>
          </a:p>
        </p:txBody>
      </p:sp>
      <p:sp>
        <p:nvSpPr>
          <p:cNvPr id="9" name="Text 6"/>
          <p:cNvSpPr/>
          <p:nvPr/>
        </p:nvSpPr>
        <p:spPr>
          <a:xfrm>
            <a:off x="7569200" y="28987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Measured accuracy</a:t>
            </a:r>
            <a:endParaRPr lang="en-US" sz="1600" dirty="0"/>
          </a:p>
        </p:txBody>
      </p:sp>
      <p:sp>
        <p:nvSpPr>
          <p:cNvPr id="10" name="Text 7"/>
          <p:cNvSpPr/>
          <p:nvPr/>
        </p:nvSpPr>
        <p:spPr>
          <a:xfrm>
            <a:off x="7569200" y="32035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On 76 test photos: finds 92 of 100 flies; 93 of 100 boxes are fruit flies.</a:t>
            </a:r>
            <a:endParaRPr lang="en-US" sz="1300" dirty="0"/>
          </a:p>
        </p:txBody>
      </p:sp>
      <p:sp>
        <p:nvSpPr>
          <p:cNvPr id="11" name="Text 8"/>
          <p:cNvSpPr/>
          <p:nvPr/>
        </p:nvSpPr>
        <p:spPr>
          <a:xfrm>
            <a:off x="7569200" y="39020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People review</a:t>
            </a:r>
            <a:endParaRPr lang="en-US" sz="1600" dirty="0"/>
          </a:p>
        </p:txBody>
      </p:sp>
      <p:sp>
        <p:nvSpPr>
          <p:cNvPr id="12" name="Text 9"/>
          <p:cNvSpPr/>
          <p:nvPr/>
        </p:nvSpPr>
        <p:spPr>
          <a:xfrm>
            <a:off x="7569200" y="42068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Confirm the result or correct the count right on the photo.</a:t>
            </a:r>
            <a:endParaRPr lang="en-US" sz="1300" dirty="0"/>
          </a:p>
        </p:txBody>
      </p:sp>
      <p:sp>
        <p:nvSpPr>
          <p:cNvPr id="13" name="Text 10"/>
          <p:cNvSpPr/>
          <p:nvPr/>
        </p:nvSpPr>
        <p:spPr>
          <a:xfrm>
            <a:off x="7569200" y="49053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An AI that improves</a:t>
            </a:r>
            <a:endParaRPr lang="en-US" sz="1600" dirty="0"/>
          </a:p>
        </p:txBody>
      </p:sp>
      <p:sp>
        <p:nvSpPr>
          <p:cNvPr id="14" name="Text 11"/>
          <p:cNvSpPr/>
          <p:nvPr/>
        </p:nvSpPr>
        <p:spPr>
          <a:xfrm>
            <a:off x="7569200" y="5210175"/>
            <a:ext cx="4572000"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Reviewed photos are sent to retrain the model.</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Arial" pitchFamily="34" charset="0"/>
                <a:ea typeface="Arial" pitchFamily="34" charset="-122"/>
                <a:cs typeface="Arial" pitchFamily="34" charset="-120"/>
              </a:rPr>
              <a:t>TWO KINDS OF TRAP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Arial" pitchFamily="34" charset="0"/>
                <a:ea typeface="Arial" pitchFamily="34" charset="-122"/>
                <a:cs typeface="Arial" pitchFamily="34" charset="-120"/>
              </a:rPr>
              <a:t>Each kind of trap is read its own way</a:t>
            </a:r>
            <a:endParaRPr lang="en-US" sz="3200" dirty="0"/>
          </a:p>
        </p:txBody>
      </p:sp>
      <p:sp>
        <p:nvSpPr>
          <p:cNvPr id="4" name="Shape 2"/>
          <p:cNvSpPr/>
          <p:nvPr/>
        </p:nvSpPr>
        <p:spPr>
          <a:xfrm>
            <a:off x="815975" y="2004616"/>
            <a:ext cx="5124450" cy="3834209"/>
          </a:xfrm>
          <a:prstGeom prst="roundRect">
            <a:avLst>
              <a:gd name="adj" fmla="val 3229"/>
            </a:avLst>
          </a:prstGeom>
          <a:solidFill>
            <a:srgbClr val="1E3A2C"/>
          </a:solidFill>
          <a:ln w="6350">
            <a:solidFill>
              <a:srgbClr val="2E4A3B"/>
            </a:solidFill>
            <a:prstDash val="solid"/>
          </a:ln>
        </p:spPr>
      </p:sp>
      <p:sp>
        <p:nvSpPr>
          <p:cNvPr id="5" name="Text 3"/>
          <p:cNvSpPr/>
          <p:nvPr/>
        </p:nvSpPr>
        <p:spPr>
          <a:xfrm>
            <a:off x="1174750" y="2363391"/>
            <a:ext cx="1524000" cy="314920"/>
          </a:xfrm>
          <a:prstGeom prst="roundRect">
            <a:avLst>
              <a:gd name="adj" fmla="val 50000"/>
            </a:avLst>
          </a:prstGeom>
          <a:solidFill>
            <a:srgbClr val="F2C230"/>
          </a:solidFill>
          <a:ln/>
        </p:spPr>
        <p:txBody>
          <a:bodyPr wrap="square" lIns="55481" tIns="4681" rIns="55481" bIns="0" rtlCol="0" anchor="t">
            <a:normAutofit/>
          </a:bodyPr>
          <a:lstStyle/>
          <a:p>
            <a:pPr algn="ctr" indent="0" marL="0">
              <a:lnSpc>
                <a:spcPts val="1680"/>
              </a:lnSpc>
              <a:buNone/>
            </a:pPr>
            <a:r>
              <a:rPr lang="en-US" sz="1200" b="1" dirty="0">
                <a:solidFill>
                  <a:srgbClr val="13261D"/>
                </a:solidFill>
                <a:latin typeface="Arial" pitchFamily="34" charset="0"/>
                <a:ea typeface="Arial" pitchFamily="34" charset="-122"/>
                <a:cs typeface="Arial" pitchFamily="34" charset="-120"/>
              </a:rPr>
              <a:t>Sticky trap</a:t>
            </a:r>
            <a:endParaRPr lang="en-US" sz="1200" dirty="0"/>
          </a:p>
        </p:txBody>
      </p:sp>
      <p:sp>
        <p:nvSpPr>
          <p:cNvPr id="6" name="Text 4"/>
          <p:cNvSpPr/>
          <p:nvPr/>
        </p:nvSpPr>
        <p:spPr>
          <a:xfrm>
            <a:off x="1174750" y="2856111"/>
            <a:ext cx="4539107"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5F7F1"/>
                </a:solidFill>
                <a:latin typeface="Arial" pitchFamily="34" charset="0"/>
                <a:ea typeface="Arial" pitchFamily="34" charset="-122"/>
                <a:cs typeface="Arial" pitchFamily="34" charset="-120"/>
              </a:rPr>
              <a:t>Catches = the rise each day</a:t>
            </a:r>
            <a:endParaRPr lang="en-US" sz="2000" dirty="0"/>
          </a:p>
        </p:txBody>
      </p:sp>
      <p:sp>
        <p:nvSpPr>
          <p:cNvPr id="7" name="Text 5"/>
          <p:cNvSpPr/>
          <p:nvPr/>
        </p:nvSpPr>
        <p:spPr>
          <a:xfrm>
            <a:off x="1174750" y="3351411"/>
            <a:ext cx="453910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Arial" pitchFamily="34" charset="0"/>
                <a:ea typeface="Arial" pitchFamily="34" charset="-122"/>
                <a:cs typeface="Arial" pitchFamily="34" charset="-120"/>
              </a:rPr>
              <a:t>The glue card keeps every insect it caught. FlyBot counts the new ones since yesterday, skips card-change days, and reminds you when a card is due.</a:t>
            </a:r>
            <a:endParaRPr lang="en-US" sz="1400" dirty="0"/>
          </a:p>
        </p:txBody>
      </p:sp>
      <p:sp>
        <p:nvSpPr>
          <p:cNvPr id="8" name="Shape 6"/>
          <p:cNvSpPr/>
          <p:nvPr/>
        </p:nvSpPr>
        <p:spPr>
          <a:xfrm>
            <a:off x="6251575" y="2004616"/>
            <a:ext cx="5124450" cy="3834209"/>
          </a:xfrm>
          <a:prstGeom prst="roundRect">
            <a:avLst>
              <a:gd name="adj" fmla="val 3229"/>
            </a:avLst>
          </a:prstGeom>
          <a:solidFill>
            <a:srgbClr val="1E3A2C"/>
          </a:solidFill>
          <a:ln w="6350">
            <a:solidFill>
              <a:srgbClr val="2E4A3B"/>
            </a:solidFill>
            <a:prstDash val="solid"/>
          </a:ln>
        </p:spPr>
      </p:sp>
      <p:sp>
        <p:nvSpPr>
          <p:cNvPr id="9" name="Text 7"/>
          <p:cNvSpPr/>
          <p:nvPr/>
        </p:nvSpPr>
        <p:spPr>
          <a:xfrm>
            <a:off x="6610350" y="2363391"/>
            <a:ext cx="1397000" cy="314920"/>
          </a:xfrm>
          <a:prstGeom prst="roundRect">
            <a:avLst>
              <a:gd name="adj" fmla="val 50000"/>
            </a:avLst>
          </a:prstGeom>
          <a:solidFill>
            <a:srgbClr val="7FD3A8"/>
          </a:solidFill>
          <a:ln/>
        </p:spPr>
        <p:txBody>
          <a:bodyPr wrap="square" lIns="55481" tIns="4681" rIns="55481" bIns="0" rtlCol="0" anchor="t">
            <a:normAutofit/>
          </a:bodyPr>
          <a:lstStyle/>
          <a:p>
            <a:pPr algn="ctr" indent="0" marL="0">
              <a:lnSpc>
                <a:spcPts val="1680"/>
              </a:lnSpc>
              <a:buNone/>
            </a:pPr>
            <a:r>
              <a:rPr lang="en-US" sz="1200" b="1" dirty="0">
                <a:solidFill>
                  <a:srgbClr val="13261D"/>
                </a:solidFill>
                <a:latin typeface="Arial" pitchFamily="34" charset="0"/>
                <a:ea typeface="Arial" pitchFamily="34" charset="-122"/>
                <a:cs typeface="Arial" pitchFamily="34" charset="-120"/>
              </a:rPr>
              <a:t>Lure trap</a:t>
            </a:r>
            <a:endParaRPr lang="en-US" sz="1200" dirty="0"/>
          </a:p>
        </p:txBody>
      </p:sp>
      <p:sp>
        <p:nvSpPr>
          <p:cNvPr id="10" name="Text 8"/>
          <p:cNvSpPr/>
          <p:nvPr/>
        </p:nvSpPr>
        <p:spPr>
          <a:xfrm>
            <a:off x="6610350" y="2856111"/>
            <a:ext cx="4539107" cy="3429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F5F7F1"/>
                </a:solidFill>
                <a:latin typeface="Arial" pitchFamily="34" charset="0"/>
                <a:ea typeface="Arial" pitchFamily="34" charset="-122"/>
                <a:cs typeface="Arial" pitchFamily="34" charset="-120"/>
              </a:rPr>
              <a:t>Judged by the day's average</a:t>
            </a:r>
            <a:endParaRPr lang="en-US" sz="2000" dirty="0"/>
          </a:p>
        </p:txBody>
      </p:sp>
      <p:sp>
        <p:nvSpPr>
          <p:cNvPr id="11" name="Text 9"/>
          <p:cNvSpPr/>
          <p:nvPr/>
        </p:nvSpPr>
        <p:spPr>
          <a:xfrm>
            <a:off x="6610350" y="3351411"/>
            <a:ext cx="4539107" cy="8255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D3C6"/>
                </a:solidFill>
                <a:latin typeface="Arial" pitchFamily="34" charset="0"/>
                <a:ea typeface="Arial" pitchFamily="34" charset="-122"/>
                <a:cs typeface="Arial" pitchFamily="34" charset="-120"/>
              </a:rPr>
              <a:t>Flies come and go, so FlyBot uses the average per photo over the day. One crowded photo no longer raises a false alarm.</a:t>
            </a:r>
            <a:endParaRPr lang="en-US" sz="1400" dirty="0"/>
          </a:p>
        </p:txBody>
      </p:sp>
      <p:sp>
        <p:nvSpPr>
          <p:cNvPr id="12"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FlyBot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CAMERAS</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Watch live, play back and maintain traps</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Camera page: recordings on a timeline, the 24-hour bar and the trap card change history">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Live and snap now</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Live video from the camera; take and analyze a photo when you need one.</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Timeline playback</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Memory card recordings laid out by hour, day by day.</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Trap maintenance</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Log card changes and get a reminder when one is due.</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ALERTS</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Know the moment you need to go out</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Notification list: sudden surge, pest threshold reached, camera offline, trap card due">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At the right time</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Trap threshold reached, sudden surge, camera offline, card due.</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On the right channel</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In the app, push, email, Telegram; a 6:30 morning brief if turned on.</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Never noisy</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Pick the alert types, quiet hours and a cool-down between alerts.</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ANALYTICS AND HISTORY</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Every photo, filtered and exported</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Detection history: table of photos with counts, alert status and species, and the export menu with PDF and Excel with photo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In-depth analysis</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Compare traps, temperature against catches, the busiest hours.</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Filters that fit</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By camera, period, alert level and review status.</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Export with photos</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PDF and Excel with boxed photos, one sheet per camera.</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REPORTS</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Reports that build and send themselves</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Season report: key figures, flies per day and insect species, with Export PDF, Email and Share buttons">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Pick the blocks</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Figures, charts, tables; 7 days to 12 months, against the period before.</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On a schedule</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Weekly or monthly, with the PDF, by email and Telegram.</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Sharing that ends</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Share with colleagues or a public link that expires.</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Arial" pitchFamily="34" charset="0"/>
                <a:ea typeface="Arial" pitchFamily="34" charset="-122"/>
                <a:cs typeface="Arial" pitchFamily="34" charset="-120"/>
              </a:rPr>
              <a:t>AI ASSISTANT</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5F7F1"/>
                </a:solidFill>
                <a:latin typeface="Arial" pitchFamily="34" charset="0"/>
                <a:ea typeface="Arial" pitchFamily="34" charset="-122"/>
                <a:cs typeface="Arial" pitchFamily="34" charset="-120"/>
              </a:rPr>
              <a:t>Ask in plain words; it looks up and acts</a:t>
            </a:r>
            <a:endParaRPr lang="en-US" sz="3200" dirty="0"/>
          </a:p>
        </p:txBody>
      </p:sp>
      <p:sp>
        <p:nvSpPr>
          <p:cNvPr id="4" name="Shape 2"/>
          <p:cNvSpPr/>
          <p:nvPr/>
        </p:nvSpPr>
        <p:spPr>
          <a:xfrm>
            <a:off x="815975" y="1953816"/>
            <a:ext cx="3181350" cy="3281759"/>
          </a:xfrm>
          <a:prstGeom prst="roundRect">
            <a:avLst>
              <a:gd name="adj" fmla="val 3892"/>
            </a:avLst>
          </a:prstGeom>
          <a:solidFill>
            <a:srgbClr val="1E3A2C"/>
          </a:solidFill>
          <a:ln w="6350">
            <a:solidFill>
              <a:srgbClr val="2E4A3B"/>
            </a:solidFill>
            <a:prstDash val="solid"/>
          </a:ln>
        </p:spPr>
      </p:sp>
      <p:pic>
        <p:nvPicPr>
          <p:cNvPr id="5" name="Image 0" descr="Chat">    </p:cNvPr>
          <p:cNvPicPr>
            <a:picLocks noChangeAspect="1"/>
          </p:cNvPicPr>
          <p:nvPr/>
        </p:nvPicPr>
        <p:blipFill>
          <a:blip r:embed="rId1"/>
          <a:srcRect l="0" r="0" t="0" b="0"/>
          <a:stretch/>
        </p:blipFill>
        <p:spPr>
          <a:xfrm>
            <a:off x="1073150" y="2210991"/>
            <a:ext cx="355600" cy="355600"/>
          </a:xfrm>
          <a:prstGeom prst="rect">
            <a:avLst/>
          </a:prstGeom>
        </p:spPr>
      </p:pic>
      <p:sp>
        <p:nvSpPr>
          <p:cNvPr id="6" name="Text 3"/>
          <p:cNvSpPr/>
          <p:nvPr/>
        </p:nvSpPr>
        <p:spPr>
          <a:xfrm>
            <a:off x="1073150" y="269359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Arial" pitchFamily="34" charset="0"/>
                <a:ea typeface="Arial" pitchFamily="34" charset="-122"/>
                <a:cs typeface="Arial" pitchFamily="34" charset="-120"/>
              </a:rPr>
              <a:t>You ask</a:t>
            </a:r>
            <a:endParaRPr lang="en-US" sz="1800" dirty="0"/>
          </a:p>
        </p:txBody>
      </p:sp>
      <p:sp>
        <p:nvSpPr>
          <p:cNvPr id="7" name="Text 4"/>
          <p:cNvSpPr/>
          <p:nvPr/>
        </p:nvSpPr>
        <p:spPr>
          <a:xfrm>
            <a:off x="1073150" y="3094831"/>
            <a:ext cx="2747010"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"Which trap is worst?"</a:t>
            </a:r>
            <a:endParaRPr lang="en-US" sz="1300" dirty="0"/>
          </a:p>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"Did last week's spray work?"</a:t>
            </a:r>
            <a:endParaRPr lang="en-US" sz="1300" dirty="0"/>
          </a:p>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"I replaced the card on trap A1."</a:t>
            </a:r>
            <a:endParaRPr lang="en-US" sz="1300" dirty="0"/>
          </a:p>
        </p:txBody>
      </p:sp>
      <p:pic>
        <p:nvPicPr>
          <p:cNvPr id="8" name="Image 1" descr="arrow-right">    </p:cNvPr>
          <p:cNvPicPr>
            <a:picLocks noChangeAspect="1"/>
          </p:cNvPicPr>
          <p:nvPr/>
        </p:nvPicPr>
        <p:blipFill>
          <a:blip r:embed="rId2"/>
          <a:srcRect l="0" r="0" t="0" b="0"/>
          <a:stretch/>
        </p:blipFill>
        <p:spPr>
          <a:xfrm>
            <a:off x="4102100" y="3505795"/>
            <a:ext cx="304800" cy="177800"/>
          </a:xfrm>
          <a:prstGeom prst="rect">
            <a:avLst/>
          </a:prstGeom>
        </p:spPr>
      </p:pic>
      <p:sp>
        <p:nvSpPr>
          <p:cNvPr id="9" name="Shape 5"/>
          <p:cNvSpPr/>
          <p:nvPr/>
        </p:nvSpPr>
        <p:spPr>
          <a:xfrm>
            <a:off x="4511675" y="1953816"/>
            <a:ext cx="3181350" cy="3281759"/>
          </a:xfrm>
          <a:prstGeom prst="roundRect">
            <a:avLst>
              <a:gd name="adj" fmla="val 3892"/>
            </a:avLst>
          </a:prstGeom>
          <a:solidFill>
            <a:srgbClr val="1E3A2C"/>
          </a:solidFill>
          <a:ln w="6350">
            <a:solidFill>
              <a:srgbClr val="2E4A3B"/>
            </a:solidFill>
            <a:prstDash val="solid"/>
          </a:ln>
        </p:spPr>
      </p:sp>
      <p:pic>
        <p:nvPicPr>
          <p:cNvPr id="10" name="Image 2" descr="Tool">    </p:cNvPr>
          <p:cNvPicPr>
            <a:picLocks noChangeAspect="1"/>
          </p:cNvPicPr>
          <p:nvPr/>
        </p:nvPicPr>
        <p:blipFill>
          <a:blip r:embed="rId3"/>
          <a:srcRect l="0" r="0" t="0" b="0"/>
          <a:stretch/>
        </p:blipFill>
        <p:spPr>
          <a:xfrm>
            <a:off x="4768850" y="2210991"/>
            <a:ext cx="355600" cy="355600"/>
          </a:xfrm>
          <a:prstGeom prst="rect">
            <a:avLst/>
          </a:prstGeom>
        </p:spPr>
      </p:pic>
      <p:sp>
        <p:nvSpPr>
          <p:cNvPr id="11" name="Text 6"/>
          <p:cNvSpPr/>
          <p:nvPr/>
        </p:nvSpPr>
        <p:spPr>
          <a:xfrm>
            <a:off x="4768850" y="269359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5F7F1"/>
                </a:solidFill>
                <a:latin typeface="Arial" pitchFamily="34" charset="0"/>
                <a:ea typeface="Arial" pitchFamily="34" charset="-122"/>
                <a:cs typeface="Arial" pitchFamily="34" charset="-120"/>
              </a:rPr>
              <a:t>It picks its tools</a:t>
            </a:r>
            <a:endParaRPr lang="en-US" sz="1800" dirty="0"/>
          </a:p>
        </p:txBody>
      </p:sp>
      <p:sp>
        <p:nvSpPr>
          <p:cNvPr id="12" name="Text 7"/>
          <p:cNvSpPr/>
          <p:nvPr/>
        </p:nvSpPr>
        <p:spPr>
          <a:xfrm>
            <a:off x="4768850" y="3094831"/>
            <a:ext cx="274701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Trap figures, week-on-week, alerts, reports, logbook; looks at a photo; takes a photo, emails a report.</a:t>
            </a:r>
            <a:endParaRPr lang="en-US" sz="1300" dirty="0"/>
          </a:p>
        </p:txBody>
      </p:sp>
      <p:pic>
        <p:nvPicPr>
          <p:cNvPr id="13" name="Image 3" descr="arrow-right">    </p:cNvPr>
          <p:cNvPicPr>
            <a:picLocks noChangeAspect="1"/>
          </p:cNvPicPr>
          <p:nvPr/>
        </p:nvPicPr>
        <p:blipFill>
          <a:blip r:embed="rId4"/>
          <a:srcRect l="0" r="0" t="0" b="0"/>
          <a:stretch/>
        </p:blipFill>
        <p:spPr>
          <a:xfrm>
            <a:off x="7797800" y="3505795"/>
            <a:ext cx="304800" cy="177800"/>
          </a:xfrm>
          <a:prstGeom prst="rect">
            <a:avLst/>
          </a:prstGeom>
        </p:spPr>
      </p:pic>
      <p:sp>
        <p:nvSpPr>
          <p:cNvPr id="14" name="Shape 8"/>
          <p:cNvSpPr/>
          <p:nvPr/>
        </p:nvSpPr>
        <p:spPr>
          <a:xfrm>
            <a:off x="8204200" y="1950641"/>
            <a:ext cx="3175000" cy="3288109"/>
          </a:xfrm>
          <a:prstGeom prst="roundRect">
            <a:avLst>
              <a:gd name="adj" fmla="val 4000"/>
            </a:avLst>
          </a:prstGeom>
          <a:solidFill>
            <a:srgbClr val="F5F7F1"/>
          </a:solidFill>
          <a:ln/>
        </p:spPr>
      </p:sp>
      <p:pic>
        <p:nvPicPr>
          <p:cNvPr id="15" name="Image 4" descr="CheckCircle">    </p:cNvPr>
          <p:cNvPicPr>
            <a:picLocks noChangeAspect="1"/>
          </p:cNvPicPr>
          <p:nvPr/>
        </p:nvPicPr>
        <p:blipFill>
          <a:blip r:embed="rId5"/>
          <a:srcRect l="0" r="0" t="0" b="0"/>
          <a:stretch/>
        </p:blipFill>
        <p:spPr>
          <a:xfrm>
            <a:off x="8458200" y="2204641"/>
            <a:ext cx="355600" cy="355600"/>
          </a:xfrm>
          <a:prstGeom prst="rect">
            <a:avLst/>
          </a:prstGeom>
        </p:spPr>
      </p:pic>
      <p:sp>
        <p:nvSpPr>
          <p:cNvPr id="16" name="Text 9"/>
          <p:cNvSpPr/>
          <p:nvPr/>
        </p:nvSpPr>
        <p:spPr>
          <a:xfrm>
            <a:off x="8458200" y="2687241"/>
            <a:ext cx="27470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61D"/>
                </a:solidFill>
                <a:latin typeface="Arial" pitchFamily="34" charset="0"/>
                <a:ea typeface="Arial" pitchFamily="34" charset="-122"/>
                <a:cs typeface="Arial" pitchFamily="34" charset="-120"/>
              </a:rPr>
              <a:t>Answers and guides</a:t>
            </a:r>
            <a:endParaRPr lang="en-US" sz="1800" dirty="0"/>
          </a:p>
        </p:txBody>
      </p:sp>
      <p:sp>
        <p:nvSpPr>
          <p:cNvPr id="17" name="Text 10"/>
          <p:cNvSpPr/>
          <p:nvPr/>
        </p:nvSpPr>
        <p:spPr>
          <a:xfrm>
            <a:off x="8458200" y="3088481"/>
            <a:ext cx="2747010"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Streams its answer with photos and charts, opens the right screen. Changes are saved only on your Confirm.</a:t>
            </a:r>
            <a:endParaRPr lang="en-US" sz="1300" dirty="0"/>
          </a:p>
        </p:txBody>
      </p:sp>
      <p:sp>
        <p:nvSpPr>
          <p:cNvPr id="18" name="Text 11"/>
          <p:cNvSpPr/>
          <p:nvPr/>
        </p:nvSpPr>
        <p:spPr>
          <a:xfrm>
            <a:off x="812800" y="5594350"/>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The assistant only sees the cameras you may see, and never changes settings or accounts.</a:t>
            </a:r>
            <a:endParaRPr lang="en-US" sz="1300" dirty="0"/>
          </a:p>
        </p:txBody>
      </p:sp>
      <p:sp>
        <p:nvSpPr>
          <p:cNvPr id="19"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FlyBot · 12 · Full guide: </a:t>
            </a:r>
            <a:r>
              <a:rPr lang="en-US" sz="1200" u="sng" dirty="0">
                <a:solidFill>
                  <a:srgbClr val="8FA898"/>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ezviz.agrhub.com/manual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Arial" pitchFamily="34" charset="0"/>
                <a:ea typeface="Arial" pitchFamily="34" charset="-122"/>
                <a:cs typeface="Arial" pitchFamily="34" charset="-120"/>
              </a:rPr>
              <a:t>THE ASSISTANT IN THE APP</a:t>
            </a:r>
            <a:endParaRPr lang="en-US" sz="1200" dirty="0"/>
          </a:p>
        </p:txBody>
      </p:sp>
      <p:sp>
        <p:nvSpPr>
          <p:cNvPr id="3" name="Text 1"/>
          <p:cNvSpPr/>
          <p:nvPr>
            <p:ph type="title"/>
          </p:nvPr>
        </p:nvSpPr>
        <p:spPr>
          <a:xfrm>
            <a:off x="812800" y="11277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Arial" pitchFamily="34" charset="0"/>
                <a:ea typeface="Arial" pitchFamily="34" charset="-122"/>
                <a:cs typeface="Arial" pitchFamily="34" charset="-120"/>
              </a:rPr>
              <a:t>Answers with photos, charts and buttons</a:t>
            </a:r>
            <a:endParaRPr lang="en-US" sz="3200" dirty="0"/>
          </a:p>
        </p:txBody>
      </p:sp>
      <p:sp>
        <p:nvSpPr>
          <p:cNvPr id="4" name="Text 2"/>
          <p:cNvSpPr/>
          <p:nvPr/>
        </p:nvSpPr>
        <p:spPr>
          <a:xfrm>
            <a:off x="8128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Arial" pitchFamily="34" charset="0"/>
                <a:ea typeface="Arial" pitchFamily="34" charset="-122"/>
                <a:cs typeface="Arial" pitchFamily="34" charset="-120"/>
              </a:rPr>
              <a:t>Latest AI photos</a:t>
            </a:r>
            <a:endParaRPr lang="en-US" sz="1200" dirty="0"/>
          </a:p>
        </p:txBody>
      </p:sp>
      <p:sp>
        <p:nvSpPr>
          <p:cNvPr id="5" name="Shape 3"/>
          <p:cNvSpPr/>
          <p:nvPr/>
        </p:nvSpPr>
        <p:spPr>
          <a:xfrm>
            <a:off x="812800" y="2138561"/>
            <a:ext cx="2489200" cy="3683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6" name="Image 0" descr="The assistant answers with the 4 latest trap photos and their counts">    </p:cNvPr>
          <p:cNvPicPr>
            <a:picLocks noChangeAspect="1"/>
          </p:cNvPicPr>
          <p:nvPr/>
        </p:nvPicPr>
        <p:blipFill>
          <a:blip r:embed="rId1"/>
          <a:srcRect l="0" r="0" t="-79" b="-79"/>
          <a:stretch/>
        </p:blipFill>
        <p:spPr>
          <a:xfrm>
            <a:off x="819150" y="2144911"/>
            <a:ext cx="2476500" cy="3670300"/>
          </a:xfrm>
          <a:prstGeom prst="roundRect">
            <a:avLst>
              <a:gd name="adj" fmla="val 3846"/>
            </a:avLst>
          </a:prstGeom>
        </p:spPr>
      </p:pic>
      <p:sp>
        <p:nvSpPr>
          <p:cNvPr id="7" name="Shape 4"/>
          <p:cNvSpPr/>
          <p:nvPr/>
        </p:nvSpPr>
        <p:spPr>
          <a:xfrm>
            <a:off x="815975" y="2141736"/>
            <a:ext cx="2482850" cy="3676650"/>
          </a:xfrm>
          <a:prstGeom prst="roundRect">
            <a:avLst>
              <a:gd name="adj" fmla="val 3964"/>
            </a:avLst>
          </a:prstGeom>
          <a:noFill/>
          <a:ln w="6350">
            <a:solidFill>
              <a:srgbClr val="DCE3DA"/>
            </a:solidFill>
            <a:prstDash val="solid"/>
          </a:ln>
        </p:spPr>
      </p:sp>
      <p:sp>
        <p:nvSpPr>
          <p:cNvPr id="8" name="Text 5"/>
          <p:cNvSpPr/>
          <p:nvPr/>
        </p:nvSpPr>
        <p:spPr>
          <a:xfrm>
            <a:off x="35052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Arial" pitchFamily="34" charset="0"/>
                <a:ea typeface="Arial" pitchFamily="34" charset="-122"/>
                <a:cs typeface="Arial" pitchFamily="34" charset="-120"/>
              </a:rPr>
              <a:t>Charts in the chat</a:t>
            </a:r>
            <a:endParaRPr lang="en-US" sz="1200" dirty="0"/>
          </a:p>
        </p:txBody>
      </p:sp>
      <p:sp>
        <p:nvSpPr>
          <p:cNvPr id="9" name="Shape 6"/>
          <p:cNvSpPr/>
          <p:nvPr/>
        </p:nvSpPr>
        <p:spPr>
          <a:xfrm>
            <a:off x="3505200" y="2138561"/>
            <a:ext cx="2489200" cy="279400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0" name="Image 1" descr="The assistant answers about the last 24 hours with a catches-by-hour chart">    </p:cNvPr>
          <p:cNvPicPr>
            <a:picLocks noChangeAspect="1"/>
          </p:cNvPicPr>
          <p:nvPr/>
        </p:nvPicPr>
        <p:blipFill>
          <a:blip r:embed="rId2"/>
          <a:srcRect l="0" r="0" t="-61" b="-61"/>
          <a:stretch/>
        </p:blipFill>
        <p:spPr>
          <a:xfrm>
            <a:off x="3511550" y="2144911"/>
            <a:ext cx="2476500" cy="2781300"/>
          </a:xfrm>
          <a:prstGeom prst="roundRect">
            <a:avLst>
              <a:gd name="adj" fmla="val 3846"/>
            </a:avLst>
          </a:prstGeom>
        </p:spPr>
      </p:pic>
      <p:sp>
        <p:nvSpPr>
          <p:cNvPr id="11" name="Shape 7"/>
          <p:cNvSpPr/>
          <p:nvPr/>
        </p:nvSpPr>
        <p:spPr>
          <a:xfrm>
            <a:off x="3508375" y="2141736"/>
            <a:ext cx="2482850" cy="2787650"/>
          </a:xfrm>
          <a:prstGeom prst="roundRect">
            <a:avLst>
              <a:gd name="adj" fmla="val 3964"/>
            </a:avLst>
          </a:prstGeom>
          <a:noFill/>
          <a:ln w="6350">
            <a:solidFill>
              <a:srgbClr val="DCE3DA"/>
            </a:solidFill>
            <a:prstDash val="solid"/>
          </a:ln>
        </p:spPr>
      </p:sp>
      <p:sp>
        <p:nvSpPr>
          <p:cNvPr id="12" name="Text 8"/>
          <p:cNvSpPr/>
          <p:nvPr/>
        </p:nvSpPr>
        <p:spPr>
          <a:xfrm>
            <a:off x="61976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Arial" pitchFamily="34" charset="0"/>
                <a:ea typeface="Arial" pitchFamily="34" charset="-122"/>
                <a:cs typeface="Arial" pitchFamily="34" charset="-120"/>
              </a:rPr>
              <a:t>Ask about a photo</a:t>
            </a:r>
            <a:endParaRPr lang="en-US" sz="1200" dirty="0"/>
          </a:p>
        </p:txBody>
      </p:sp>
      <p:sp>
        <p:nvSpPr>
          <p:cNvPr id="13" name="Shape 9"/>
          <p:cNvSpPr/>
          <p:nvPr/>
        </p:nvSpPr>
        <p:spPr>
          <a:xfrm>
            <a:off x="6197600" y="2138561"/>
            <a:ext cx="2489200" cy="3448050"/>
          </a:xfrm>
          <a:prstGeom prst="roundRect">
            <a:avLst>
              <a:gd name="adj" fmla="val 4082"/>
            </a:avLst>
          </a:prstGeom>
          <a:solidFill>
            <a:srgbClr val="FFFFFF"/>
          </a:solidFill>
          <a:ln/>
          <a:effectLst>
            <a:outerShdw sx="100000" sy="100000" kx="0" ky="0" algn="bl" rotWithShape="0" blurRad="203200" dist="101600" dir="5400000">
              <a:srgbClr val="13261D">
                <a:alpha val="10000"/>
              </a:srgbClr>
            </a:outerShdw>
          </a:effectLst>
        </p:spPr>
      </p:sp>
      <p:pic>
        <p:nvPicPr>
          <p:cNvPr id="14" name="Image 2" descr="The assistant looks at a trap photo and comments on the count and the image quality">    </p:cNvPr>
          <p:cNvPicPr>
            <a:picLocks noChangeAspect="1"/>
          </p:cNvPicPr>
          <p:nvPr/>
        </p:nvPicPr>
        <p:blipFill>
          <a:blip r:embed="rId3"/>
          <a:srcRect l="0" r="0" t="-106" b="-106"/>
          <a:stretch/>
        </p:blipFill>
        <p:spPr>
          <a:xfrm>
            <a:off x="6203950" y="2144911"/>
            <a:ext cx="2476500" cy="3435350"/>
          </a:xfrm>
          <a:prstGeom prst="roundRect">
            <a:avLst>
              <a:gd name="adj" fmla="val 3846"/>
            </a:avLst>
          </a:prstGeom>
        </p:spPr>
      </p:pic>
      <p:sp>
        <p:nvSpPr>
          <p:cNvPr id="15" name="Shape 10"/>
          <p:cNvSpPr/>
          <p:nvPr/>
        </p:nvSpPr>
        <p:spPr>
          <a:xfrm>
            <a:off x="6200775" y="2141736"/>
            <a:ext cx="2482850" cy="3441700"/>
          </a:xfrm>
          <a:prstGeom prst="roundRect">
            <a:avLst>
              <a:gd name="adj" fmla="val 3964"/>
            </a:avLst>
          </a:prstGeom>
          <a:noFill/>
          <a:ln w="6350">
            <a:solidFill>
              <a:srgbClr val="DCE3DA"/>
            </a:solidFill>
            <a:prstDash val="solid"/>
          </a:ln>
        </p:spPr>
      </p:sp>
      <p:sp>
        <p:nvSpPr>
          <p:cNvPr id="16" name="Text 11"/>
          <p:cNvSpPr/>
          <p:nvPr/>
        </p:nvSpPr>
        <p:spPr>
          <a:xfrm>
            <a:off x="8890000" y="1849041"/>
            <a:ext cx="256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61D"/>
                </a:solidFill>
                <a:latin typeface="Arial" pitchFamily="34" charset="0"/>
                <a:ea typeface="Arial" pitchFamily="34" charset="-122"/>
                <a:cs typeface="Arial" pitchFamily="34" charset="-120"/>
              </a:rPr>
              <a:t>Saved on your Confirm</a:t>
            </a:r>
            <a:endParaRPr lang="en-US" sz="1200" dirty="0"/>
          </a:p>
        </p:txBody>
      </p:sp>
      <p:sp>
        <p:nvSpPr>
          <p:cNvPr id="17" name="Shape 12"/>
          <p:cNvSpPr/>
          <p:nvPr/>
        </p:nvSpPr>
        <p:spPr>
          <a:xfrm>
            <a:off x="8890000" y="2138561"/>
            <a:ext cx="2489200" cy="2152650"/>
          </a:xfrm>
          <a:prstGeom prst="roundRect">
            <a:avLst>
              <a:gd name="adj" fmla="val 4720"/>
            </a:avLst>
          </a:prstGeom>
          <a:solidFill>
            <a:srgbClr val="FFFFFF"/>
          </a:solidFill>
          <a:ln/>
          <a:effectLst>
            <a:outerShdw sx="100000" sy="100000" kx="0" ky="0" algn="bl" rotWithShape="0" blurRad="203200" dist="101600" dir="5400000">
              <a:srgbClr val="13261D">
                <a:alpha val="10000"/>
              </a:srgbClr>
            </a:outerShdw>
          </a:effectLst>
        </p:spPr>
      </p:sp>
      <p:pic>
        <p:nvPicPr>
          <p:cNvPr id="18" name="Image 3" descr="A sticky card change card with Confirm and Cancel buttons">    </p:cNvPr>
          <p:cNvPicPr>
            <a:picLocks noChangeAspect="1"/>
          </p:cNvPicPr>
          <p:nvPr/>
        </p:nvPicPr>
        <p:blipFill>
          <a:blip r:embed="rId4"/>
          <a:srcRect l="0" r="0" t="-8" b="-8"/>
          <a:stretch/>
        </p:blipFill>
        <p:spPr>
          <a:xfrm>
            <a:off x="8896350" y="2144911"/>
            <a:ext cx="2476500" cy="2139950"/>
          </a:xfrm>
          <a:prstGeom prst="roundRect">
            <a:avLst>
              <a:gd name="adj" fmla="val 4451"/>
            </a:avLst>
          </a:prstGeom>
        </p:spPr>
      </p:pic>
      <p:sp>
        <p:nvSpPr>
          <p:cNvPr id="19" name="Shape 13"/>
          <p:cNvSpPr/>
          <p:nvPr/>
        </p:nvSpPr>
        <p:spPr>
          <a:xfrm>
            <a:off x="8893175" y="2141736"/>
            <a:ext cx="2482850" cy="2146300"/>
          </a:xfrm>
          <a:prstGeom prst="roundRect">
            <a:avLst>
              <a:gd name="adj" fmla="val 4586"/>
            </a:avLst>
          </a:prstGeom>
          <a:noFill/>
          <a:ln w="6350">
            <a:solidFill>
              <a:srgbClr val="DCE3DA"/>
            </a:solidFill>
            <a:prstDash val="solid"/>
          </a:ln>
        </p:spPr>
      </p:sp>
      <p:sp>
        <p:nvSpPr>
          <p:cNvPr id="20"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13 · Full guide: </a:t>
            </a:r>
            <a:r>
              <a:rPr lang="en-US" sz="1200" u="sng" dirty="0">
                <a:solidFill>
                  <a:srgbClr val="6B7B7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ezviz.agrhub.com/manual</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733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D7A50"/>
                </a:solidFill>
                <a:latin typeface="Arial" pitchFamily="34" charset="0"/>
                <a:ea typeface="Arial" pitchFamily="34" charset="-122"/>
                <a:cs typeface="Arial" pitchFamily="34" charset="-120"/>
              </a:rPr>
              <a:t>FARMS, MAP AND LOGBOOK</a:t>
            </a:r>
            <a:endParaRPr lang="en-US" sz="1196" dirty="0"/>
          </a:p>
        </p:txBody>
      </p:sp>
      <p:sp>
        <p:nvSpPr>
          <p:cNvPr id="3" name="Text 1"/>
          <p:cNvSpPr/>
          <p:nvPr>
            <p:ph type="title"/>
          </p:nvPr>
        </p:nvSpPr>
        <p:spPr>
          <a:xfrm>
            <a:off x="812800" y="1126331"/>
            <a:ext cx="10883392" cy="489744"/>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3261D"/>
                </a:solidFill>
                <a:latin typeface="Arial" pitchFamily="34" charset="0"/>
                <a:ea typeface="Arial" pitchFamily="34" charset="-122"/>
                <a:cs typeface="Arial" pitchFamily="34" charset="-120"/>
              </a:rPr>
              <a:t>See which treatments really work</a:t>
            </a:r>
            <a:endParaRPr lang="en-US" sz="3190" dirty="0"/>
          </a:p>
        </p:txBody>
      </p:sp>
      <p:sp>
        <p:nvSpPr>
          <p:cNvPr id="4" name="Shape 2"/>
          <p:cNvSpPr/>
          <p:nvPr/>
        </p:nvSpPr>
        <p:spPr>
          <a:xfrm>
            <a:off x="812800" y="1895475"/>
            <a:ext cx="6350000" cy="3968750"/>
          </a:xfrm>
          <a:prstGeom prst="roundRect">
            <a:avLst>
              <a:gd name="adj" fmla="val 2560"/>
            </a:avLst>
          </a:prstGeom>
          <a:solidFill>
            <a:srgbClr val="FFFFFF"/>
          </a:solidFill>
          <a:ln/>
          <a:effectLst>
            <a:outerShdw sx="100000" sy="100000" kx="0" ky="0" algn="bl" rotWithShape="0" blurRad="304800" dist="152400" dir="5400000">
              <a:srgbClr val="13261D">
                <a:alpha val="12000"/>
              </a:srgbClr>
            </a:outerShdw>
          </a:effectLst>
        </p:spPr>
      </p:sp>
      <p:pic>
        <p:nvPicPr>
          <p:cNvPr id="5" name="Image 0" descr="Farm logbook: sprays and orchard sanitation with their measured effect on catches, and the VietGAP export button">    </p:cNvPr>
          <p:cNvPicPr>
            <a:picLocks noChangeAspect="1"/>
          </p:cNvPicPr>
          <p:nvPr/>
        </p:nvPicPr>
        <p:blipFill>
          <a:blip r:embed="rId1"/>
          <a:srcRect l="-60" r="-60" t="0" b="0"/>
          <a:stretch/>
        </p:blipFill>
        <p:spPr>
          <a:xfrm>
            <a:off x="819150" y="1901825"/>
            <a:ext cx="6337300" cy="3956050"/>
          </a:xfrm>
          <a:prstGeom prst="roundRect">
            <a:avLst>
              <a:gd name="adj" fmla="val 2408"/>
            </a:avLst>
          </a:prstGeom>
        </p:spPr>
      </p:pic>
      <p:sp>
        <p:nvSpPr>
          <p:cNvPr id="6" name="Shape 3"/>
          <p:cNvSpPr/>
          <p:nvPr/>
        </p:nvSpPr>
        <p:spPr>
          <a:xfrm>
            <a:off x="815975" y="1898650"/>
            <a:ext cx="6343650" cy="3962400"/>
          </a:xfrm>
          <a:prstGeom prst="roundRect">
            <a:avLst>
              <a:gd name="adj" fmla="val 2484"/>
            </a:avLst>
          </a:prstGeom>
          <a:noFill/>
          <a:ln w="6350">
            <a:solidFill>
              <a:srgbClr val="DCE3DA"/>
            </a:solidFill>
            <a:prstDash val="solid"/>
          </a:ln>
        </p:spPr>
      </p:sp>
      <p:sp>
        <p:nvSpPr>
          <p:cNvPr id="7" name="Text 4"/>
          <p:cNvSpPr/>
          <p:nvPr/>
        </p:nvSpPr>
        <p:spPr>
          <a:xfrm>
            <a:off x="7569200" y="18954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Farms, plots and map</a:t>
            </a:r>
            <a:endParaRPr lang="en-US" sz="1600" dirty="0"/>
          </a:p>
        </p:txBody>
      </p:sp>
      <p:sp>
        <p:nvSpPr>
          <p:cNvPr id="8" name="Text 5"/>
          <p:cNvSpPr/>
          <p:nvPr/>
        </p:nvSpPr>
        <p:spPr>
          <a:xfrm>
            <a:off x="7569200" y="22002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Traps belong to plots; a heat map shows the pest hot spots.</a:t>
            </a:r>
            <a:endParaRPr lang="en-US" sz="1300" dirty="0"/>
          </a:p>
        </p:txBody>
      </p:sp>
      <p:sp>
        <p:nvSpPr>
          <p:cNvPr id="9" name="Text 6"/>
          <p:cNvSpPr/>
          <p:nvPr/>
        </p:nvSpPr>
        <p:spPr>
          <a:xfrm>
            <a:off x="7569200" y="29495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Treatment log</a:t>
            </a:r>
            <a:endParaRPr lang="en-US" sz="1600" dirty="0"/>
          </a:p>
        </p:txBody>
      </p:sp>
      <p:sp>
        <p:nvSpPr>
          <p:cNvPr id="10" name="Text 7"/>
          <p:cNvSpPr/>
          <p:nvPr/>
        </p:nvSpPr>
        <p:spPr>
          <a:xfrm>
            <a:off x="7569200" y="32543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Every spray or bait, with its measured effect on catches.</a:t>
            </a:r>
            <a:endParaRPr lang="en-US" sz="1300" dirty="0"/>
          </a:p>
        </p:txBody>
      </p:sp>
      <p:sp>
        <p:nvSpPr>
          <p:cNvPr id="11" name="Text 8"/>
          <p:cNvSpPr/>
          <p:nvPr/>
        </p:nvSpPr>
        <p:spPr>
          <a:xfrm>
            <a:off x="7569200" y="4003675"/>
            <a:ext cx="392430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VietGAP record</a:t>
            </a:r>
            <a:endParaRPr lang="en-US" sz="1600" dirty="0"/>
          </a:p>
        </p:txBody>
      </p:sp>
      <p:sp>
        <p:nvSpPr>
          <p:cNvPr id="12" name="Text 9"/>
          <p:cNvSpPr/>
          <p:nvPr/>
        </p:nvSpPr>
        <p:spPr>
          <a:xfrm>
            <a:off x="7569200" y="4308475"/>
            <a:ext cx="392430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Export the pesticide use record in the VietGAP layout.</a:t>
            </a:r>
            <a:endParaRPr lang="en-US" sz="1300" dirty="0"/>
          </a:p>
        </p:txBody>
      </p:sp>
      <p:sp>
        <p:nvSpPr>
          <p:cNvPr id="13" name="Text 1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1"/>
        </a:solidFill>
      </p:bgPr>
    </p:bg>
    <p:spTree>
      <p:nvGrpSpPr>
        <p:cNvPr id="1" name=""/>
        <p:cNvGrpSpPr/>
        <p:nvPr/>
      </p:nvGrpSpPr>
      <p:grpSpPr>
        <a:xfrm>
          <a:off x="0" y="0"/>
          <a:ext cx="0" cy="0"/>
          <a:chOff x="0" y="0"/>
          <a:chExt cx="0" cy="0"/>
        </a:xfrm>
      </p:grpSpPr>
      <p:sp>
        <p:nvSpPr>
          <p:cNvPr id="2" name="Shape 0"/>
          <p:cNvSpPr/>
          <p:nvPr/>
        </p:nvSpPr>
        <p:spPr>
          <a:xfrm>
            <a:off x="812800" y="838200"/>
            <a:ext cx="2298700" cy="4978400"/>
          </a:xfrm>
          <a:prstGeom prst="roundRect">
            <a:avLst>
              <a:gd name="adj" fmla="val 8840"/>
            </a:avLst>
          </a:prstGeom>
          <a:solidFill>
            <a:srgbClr val="FFFFFF"/>
          </a:solidFill>
          <a:ln/>
          <a:effectLst>
            <a:outerShdw sx="100000" sy="100000" kx="0" ky="0" algn="bl" rotWithShape="0" blurRad="304800" dist="152400" dir="5400000">
              <a:srgbClr val="13261D">
                <a:alpha val="12000"/>
              </a:srgbClr>
            </a:outerShdw>
          </a:effectLst>
        </p:spPr>
      </p:sp>
      <p:pic>
        <p:nvPicPr>
          <p:cNvPr id="3" name="Image 0" descr="FlyBot on a phone: the overview screen with the bottom navigation bar">    </p:cNvPr>
          <p:cNvPicPr>
            <a:picLocks noChangeAspect="1"/>
          </p:cNvPicPr>
          <p:nvPr/>
        </p:nvPicPr>
        <p:blipFill>
          <a:blip r:embed="rId1"/>
          <a:srcRect l="0" r="0" t="-188" b="-188"/>
          <a:stretch/>
        </p:blipFill>
        <p:spPr>
          <a:xfrm>
            <a:off x="819150" y="844550"/>
            <a:ext cx="2286000" cy="4965700"/>
          </a:xfrm>
          <a:prstGeom prst="roundRect">
            <a:avLst>
              <a:gd name="adj" fmla="val 8611"/>
            </a:avLst>
          </a:prstGeom>
        </p:spPr>
      </p:pic>
      <p:sp>
        <p:nvSpPr>
          <p:cNvPr id="4" name="Shape 1"/>
          <p:cNvSpPr/>
          <p:nvPr/>
        </p:nvSpPr>
        <p:spPr>
          <a:xfrm>
            <a:off x="815975" y="841375"/>
            <a:ext cx="2292350" cy="4972050"/>
          </a:xfrm>
          <a:prstGeom prst="roundRect">
            <a:avLst>
              <a:gd name="adj" fmla="val 8726"/>
            </a:avLst>
          </a:prstGeom>
          <a:noFill/>
          <a:ln w="6350">
            <a:solidFill>
              <a:srgbClr val="DCE3DA"/>
            </a:solidFill>
            <a:prstDash val="solid"/>
          </a:ln>
        </p:spPr>
      </p:sp>
      <p:sp>
        <p:nvSpPr>
          <p:cNvPr id="5" name="Text 2"/>
          <p:cNvSpPr/>
          <p:nvPr/>
        </p:nvSpPr>
        <p:spPr>
          <a:xfrm>
            <a:off x="3721100" y="1750120"/>
            <a:ext cx="788784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7A50"/>
                </a:solidFill>
                <a:latin typeface="Arial" pitchFamily="34" charset="0"/>
                <a:ea typeface="Arial" pitchFamily="34" charset="-122"/>
                <a:cs typeface="Arial" pitchFamily="34" charset="-120"/>
              </a:rPr>
              <a:t>PHONE AND TEAM</a:t>
            </a:r>
            <a:endParaRPr lang="en-US" sz="1200" dirty="0"/>
          </a:p>
        </p:txBody>
      </p:sp>
      <p:sp>
        <p:nvSpPr>
          <p:cNvPr id="6" name="Text 3"/>
          <p:cNvSpPr/>
          <p:nvPr>
            <p:ph type="title"/>
          </p:nvPr>
        </p:nvSpPr>
        <p:spPr>
          <a:xfrm>
            <a:off x="3721100" y="2065040"/>
            <a:ext cx="7887843" cy="96004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3261D"/>
                </a:solidFill>
                <a:latin typeface="Arial" pitchFamily="34" charset="0"/>
                <a:ea typeface="Arial" pitchFamily="34" charset="-122"/>
                <a:cs typeface="Arial" pitchFamily="34" charset="-120"/>
              </a:rPr>
              <a:t>The whole team on board, each with the right access</a:t>
            </a:r>
            <a:endParaRPr lang="en-US" sz="3200" dirty="0"/>
          </a:p>
        </p:txBody>
      </p:sp>
      <p:sp>
        <p:nvSpPr>
          <p:cNvPr id="7" name="Text 4"/>
          <p:cNvSpPr/>
          <p:nvPr/>
        </p:nvSpPr>
        <p:spPr>
          <a:xfrm>
            <a:off x="3721100" y="3304480"/>
            <a:ext cx="352425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Installs like an app</a:t>
            </a:r>
            <a:endParaRPr lang="en-US" sz="1600" dirty="0"/>
          </a:p>
        </p:txBody>
      </p:sp>
      <p:sp>
        <p:nvSpPr>
          <p:cNvPr id="8" name="Text 5"/>
          <p:cNvSpPr/>
          <p:nvPr/>
        </p:nvSpPr>
        <p:spPr>
          <a:xfrm>
            <a:off x="3721100" y="3609280"/>
            <a:ext cx="35242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Works on the phone with push notifications, in English and Vietnamese.</a:t>
            </a:r>
            <a:endParaRPr lang="en-US" sz="1300" dirty="0"/>
          </a:p>
        </p:txBody>
      </p:sp>
      <p:sp>
        <p:nvSpPr>
          <p:cNvPr id="9" name="Text 6"/>
          <p:cNvSpPr/>
          <p:nvPr/>
        </p:nvSpPr>
        <p:spPr>
          <a:xfrm>
            <a:off x="7550150" y="330448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Roles</a:t>
            </a:r>
            <a:endParaRPr lang="en-US" sz="1600" dirty="0"/>
          </a:p>
        </p:txBody>
      </p:sp>
      <p:sp>
        <p:nvSpPr>
          <p:cNvPr id="10" name="Text 7"/>
          <p:cNvSpPr/>
          <p:nvPr/>
        </p:nvSpPr>
        <p:spPr>
          <a:xfrm>
            <a:off x="7550150" y="360928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Admin, manager, viewer; share single cameras or a whole organization.</a:t>
            </a:r>
            <a:endParaRPr lang="en-US" sz="1300" dirty="0"/>
          </a:p>
        </p:txBody>
      </p:sp>
      <p:sp>
        <p:nvSpPr>
          <p:cNvPr id="11" name="Text 8"/>
          <p:cNvSpPr/>
          <p:nvPr/>
        </p:nvSpPr>
        <p:spPr>
          <a:xfrm>
            <a:off x="3721100" y="4254500"/>
            <a:ext cx="352425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Connects to your systems</a:t>
            </a:r>
            <a:endParaRPr lang="en-US" sz="1600" dirty="0"/>
          </a:p>
        </p:txBody>
      </p:sp>
      <p:sp>
        <p:nvSpPr>
          <p:cNvPr id="12" name="Text 9"/>
          <p:cNvSpPr/>
          <p:nvPr/>
        </p:nvSpPr>
        <p:spPr>
          <a:xfrm>
            <a:off x="3721100" y="4559300"/>
            <a:ext cx="352425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API keys and webhooks to bring the data into your own software.</a:t>
            </a:r>
            <a:endParaRPr lang="en-US" sz="1300" dirty="0"/>
          </a:p>
        </p:txBody>
      </p:sp>
      <p:sp>
        <p:nvSpPr>
          <p:cNvPr id="13" name="Text 10"/>
          <p:cNvSpPr/>
          <p:nvPr/>
        </p:nvSpPr>
        <p:spPr>
          <a:xfrm>
            <a:off x="7550150" y="4254500"/>
            <a:ext cx="394392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3261D"/>
                </a:solidFill>
                <a:latin typeface="Arial" pitchFamily="34" charset="0"/>
                <a:ea typeface="Arial" pitchFamily="34" charset="-122"/>
                <a:cs typeface="Arial" pitchFamily="34" charset="-120"/>
              </a:rPr>
              <a:t>Operations in view</a:t>
            </a:r>
            <a:endParaRPr lang="en-US" sz="1600" dirty="0"/>
          </a:p>
        </p:txBody>
      </p:sp>
      <p:sp>
        <p:nvSpPr>
          <p:cNvPr id="14" name="Text 11"/>
          <p:cNvSpPr/>
          <p:nvPr/>
        </p:nvSpPr>
        <p:spPr>
          <a:xfrm>
            <a:off x="7550150" y="4559300"/>
            <a:ext cx="394392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A50"/>
                </a:solidFill>
                <a:latin typeface="Arial" pitchFamily="34" charset="0"/>
                <a:ea typeface="Arial" pitchFamily="34" charset="-122"/>
                <a:cs typeface="Arial" pitchFamily="34" charset="-120"/>
              </a:rPr>
              <a:t>An activity log and a capture pipeline monitor for admins.</a:t>
            </a:r>
            <a:endParaRPr lang="en-US" sz="1300" dirty="0"/>
          </a:p>
        </p:txBody>
      </p:sp>
      <p:sp>
        <p:nvSpPr>
          <p:cNvPr id="15" name="Text 1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B70"/>
                </a:solidFill>
                <a:latin typeface="Arial" pitchFamily="34" charset="0"/>
                <a:ea typeface="Arial" pitchFamily="34" charset="-122"/>
                <a:cs typeface="Arial" pitchFamily="34" charset="-120"/>
              </a:rPr>
              <a:t>FlyBot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61D"/>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C230"/>
                </a:solidFill>
                <a:latin typeface="Arial" pitchFamily="34" charset="0"/>
                <a:ea typeface="Arial" pitchFamily="34" charset="-122"/>
                <a:cs typeface="Arial" pitchFamily="34" charset="-120"/>
              </a:rPr>
              <a:t>GET STARTED</a:t>
            </a:r>
            <a:endParaRPr lang="en-US" sz="1200" dirty="0"/>
          </a:p>
        </p:txBody>
      </p:sp>
      <p:sp>
        <p:nvSpPr>
          <p:cNvPr id="3" name="Text 1"/>
          <p:cNvSpPr/>
          <p:nvPr>
            <p:ph type="title"/>
          </p:nvPr>
        </p:nvSpPr>
        <p:spPr>
          <a:xfrm>
            <a:off x="812800" y="1026120"/>
            <a:ext cx="10883392" cy="537369"/>
          </a:xfrm>
          <a:prstGeom prst="rect">
            <a:avLst/>
          </a:prstGeom>
          <a:noFill/>
          <a:ln/>
        </p:spPr>
        <p:txBody>
          <a:bodyPr wrap="square" lIns="0" tIns="0" rIns="0" bIns="0" rtlCol="0" anchor="t">
            <a:normAutofit/>
          </a:bodyPr>
          <a:lstStyle/>
          <a:p>
            <a:pPr algn="l" indent="0" marL="0">
              <a:lnSpc>
                <a:spcPts val="4032"/>
              </a:lnSpc>
              <a:buNone/>
            </a:pPr>
            <a:r>
              <a:rPr lang="en-US" sz="3600" b="1" i="0" dirty="0">
                <a:solidFill>
                  <a:srgbClr val="F5F7F1"/>
                </a:solidFill>
                <a:latin typeface="Arial" pitchFamily="34" charset="0"/>
                <a:ea typeface="Arial" pitchFamily="34" charset="-122"/>
                <a:cs typeface="Arial" pitchFamily="34" charset="-120"/>
              </a:rPr>
              <a:t>Three steps to your first self-reporting trap</a:t>
            </a:r>
            <a:endParaRPr lang="en-US" sz="3600" dirty="0"/>
          </a:p>
        </p:txBody>
      </p:sp>
      <p:sp>
        <p:nvSpPr>
          <p:cNvPr id="4" name="Shape 2"/>
          <p:cNvSpPr/>
          <p:nvPr/>
        </p:nvSpPr>
        <p:spPr>
          <a:xfrm>
            <a:off x="812800" y="1906389"/>
            <a:ext cx="3386634" cy="0"/>
          </a:xfrm>
          <a:prstGeom prst="line">
            <a:avLst/>
          </a:prstGeom>
          <a:noFill/>
          <a:ln w="25400">
            <a:solidFill>
              <a:srgbClr val="F2C230"/>
            </a:solidFill>
            <a:prstDash val="solid"/>
          </a:ln>
        </p:spPr>
      </p:sp>
      <p:sp>
        <p:nvSpPr>
          <p:cNvPr id="5" name="Text 3"/>
          <p:cNvSpPr/>
          <p:nvPr/>
        </p:nvSpPr>
        <p:spPr>
          <a:xfrm>
            <a:off x="812800" y="2122289"/>
            <a:ext cx="3488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Arial" pitchFamily="34" charset="0"/>
                <a:ea typeface="Arial" pitchFamily="34" charset="-122"/>
                <a:cs typeface="Arial" pitchFamily="34" charset="-120"/>
              </a:rPr>
              <a:t>01</a:t>
            </a:r>
            <a:endParaRPr lang="en-US" sz="2200" dirty="0"/>
          </a:p>
        </p:txBody>
      </p:sp>
      <p:sp>
        <p:nvSpPr>
          <p:cNvPr id="6" name="Text 4"/>
          <p:cNvSpPr/>
          <p:nvPr/>
        </p:nvSpPr>
        <p:spPr>
          <a:xfrm>
            <a:off x="812800" y="2640409"/>
            <a:ext cx="3488233"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Arial" pitchFamily="34" charset="0"/>
                <a:ea typeface="Arial" pitchFamily="34" charset="-122"/>
                <a:cs typeface="Arial" pitchFamily="34" charset="-120"/>
              </a:rPr>
              <a:t>Mount a camera on the trap</a:t>
            </a:r>
            <a:endParaRPr lang="en-US" sz="1800" dirty="0"/>
          </a:p>
        </p:txBody>
      </p:sp>
      <p:sp>
        <p:nvSpPr>
          <p:cNvPr id="7" name="Text 5"/>
          <p:cNvSpPr/>
          <p:nvPr/>
        </p:nvSpPr>
        <p:spPr>
          <a:xfrm>
            <a:off x="812800" y="3053159"/>
            <a:ext cx="348823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An EZVIZ camera facing the sticky card or the lure trap.</a:t>
            </a:r>
            <a:endParaRPr lang="en-US" sz="1300" dirty="0"/>
          </a:p>
        </p:txBody>
      </p:sp>
      <p:sp>
        <p:nvSpPr>
          <p:cNvPr id="8" name="Shape 6"/>
          <p:cNvSpPr/>
          <p:nvPr/>
        </p:nvSpPr>
        <p:spPr>
          <a:xfrm>
            <a:off x="4402634" y="1906389"/>
            <a:ext cx="3386733" cy="0"/>
          </a:xfrm>
          <a:prstGeom prst="line">
            <a:avLst/>
          </a:prstGeom>
          <a:noFill/>
          <a:ln w="25400">
            <a:solidFill>
              <a:srgbClr val="F2C230"/>
            </a:solidFill>
            <a:prstDash val="solid"/>
          </a:ln>
        </p:spPr>
      </p:sp>
      <p:sp>
        <p:nvSpPr>
          <p:cNvPr id="9" name="Text 7"/>
          <p:cNvSpPr/>
          <p:nvPr/>
        </p:nvSpPr>
        <p:spPr>
          <a:xfrm>
            <a:off x="4402634" y="2122289"/>
            <a:ext cx="3488335"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Arial" pitchFamily="34" charset="0"/>
                <a:ea typeface="Arial" pitchFamily="34" charset="-122"/>
                <a:cs typeface="Arial" pitchFamily="34" charset="-120"/>
              </a:rPr>
              <a:t>02</a:t>
            </a:r>
            <a:endParaRPr lang="en-US" sz="2200" dirty="0"/>
          </a:p>
        </p:txBody>
      </p:sp>
      <p:sp>
        <p:nvSpPr>
          <p:cNvPr id="10" name="Text 8"/>
          <p:cNvSpPr/>
          <p:nvPr/>
        </p:nvSpPr>
        <p:spPr>
          <a:xfrm>
            <a:off x="4402634" y="2640409"/>
            <a:ext cx="3488335"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Arial" pitchFamily="34" charset="0"/>
                <a:ea typeface="Arial" pitchFamily="34" charset="-122"/>
                <a:cs typeface="Arial" pitchFamily="34" charset="-120"/>
              </a:rPr>
              <a:t>Add it to FlyBot</a:t>
            </a:r>
            <a:endParaRPr lang="en-US" sz="1800" dirty="0"/>
          </a:p>
        </p:txBody>
      </p:sp>
      <p:sp>
        <p:nvSpPr>
          <p:cNvPr id="11" name="Text 9"/>
          <p:cNvSpPr/>
          <p:nvPr/>
        </p:nvSpPr>
        <p:spPr>
          <a:xfrm>
            <a:off x="4402634" y="3053159"/>
            <a:ext cx="348833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Enter the serial number and verification code, pick the trap kind and schedule.</a:t>
            </a:r>
            <a:endParaRPr lang="en-US" sz="1300" dirty="0"/>
          </a:p>
        </p:txBody>
      </p:sp>
      <p:sp>
        <p:nvSpPr>
          <p:cNvPr id="12" name="Shape 10"/>
          <p:cNvSpPr/>
          <p:nvPr/>
        </p:nvSpPr>
        <p:spPr>
          <a:xfrm>
            <a:off x="7992566" y="1906389"/>
            <a:ext cx="3386634" cy="0"/>
          </a:xfrm>
          <a:prstGeom prst="line">
            <a:avLst/>
          </a:prstGeom>
          <a:noFill/>
          <a:ln w="25400">
            <a:solidFill>
              <a:srgbClr val="F2C230"/>
            </a:solidFill>
            <a:prstDash val="solid"/>
          </a:ln>
        </p:spPr>
      </p:sp>
      <p:sp>
        <p:nvSpPr>
          <p:cNvPr id="13" name="Text 11"/>
          <p:cNvSpPr/>
          <p:nvPr/>
        </p:nvSpPr>
        <p:spPr>
          <a:xfrm>
            <a:off x="7992566" y="2122289"/>
            <a:ext cx="348823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2C230"/>
                </a:solidFill>
                <a:latin typeface="Arial" pitchFamily="34" charset="0"/>
                <a:ea typeface="Arial" pitchFamily="34" charset="-122"/>
                <a:cs typeface="Arial" pitchFamily="34" charset="-120"/>
              </a:rPr>
              <a:t>03</a:t>
            </a:r>
            <a:endParaRPr lang="en-US" sz="2200" dirty="0"/>
          </a:p>
        </p:txBody>
      </p:sp>
      <p:sp>
        <p:nvSpPr>
          <p:cNvPr id="14" name="Text 12"/>
          <p:cNvSpPr/>
          <p:nvPr/>
        </p:nvSpPr>
        <p:spPr>
          <a:xfrm>
            <a:off x="7992566" y="2640409"/>
            <a:ext cx="3488233"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5F7F1"/>
                </a:solidFill>
                <a:latin typeface="Arial" pitchFamily="34" charset="0"/>
                <a:ea typeface="Arial" pitchFamily="34" charset="-122"/>
                <a:cs typeface="Arial" pitchFamily="34" charset="-120"/>
              </a:rPr>
              <a:t>Set thresholds and channels</a:t>
            </a:r>
            <a:endParaRPr lang="en-US" sz="1800" dirty="0"/>
          </a:p>
        </p:txBody>
      </p:sp>
      <p:sp>
        <p:nvSpPr>
          <p:cNvPr id="15" name="Text 13"/>
          <p:cNvSpPr/>
          <p:nvPr/>
        </p:nvSpPr>
        <p:spPr>
          <a:xfrm>
            <a:off x="7992566" y="3053159"/>
            <a:ext cx="348823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D3C6"/>
                </a:solidFill>
                <a:latin typeface="Arial" pitchFamily="34" charset="0"/>
                <a:ea typeface="Arial" pitchFamily="34" charset="-122"/>
                <a:cs typeface="Arial" pitchFamily="34" charset="-120"/>
              </a:rPr>
              <a:t>A threshold per trap; alerts by phone, email and Telegram.</a:t>
            </a:r>
            <a:endParaRPr lang="en-US" sz="1300" dirty="0"/>
          </a:p>
        </p:txBody>
      </p:sp>
      <p:pic>
        <p:nvPicPr>
          <p:cNvPr id="16" name="Image 0" descr="QR code opening ezviz.agrhub.com">    </p:cNvPr>
          <p:cNvPicPr>
            <a:picLocks noChangeAspect="1"/>
          </p:cNvPicPr>
          <p:nvPr/>
        </p:nvPicPr>
        <p:blipFill>
          <a:blip r:embed="rId1"/>
          <a:srcRect l="0" r="0" t="0" b="0"/>
          <a:stretch/>
        </p:blipFill>
        <p:spPr>
          <a:xfrm>
            <a:off x="812800" y="3904059"/>
            <a:ext cx="1143000" cy="1143000"/>
          </a:xfrm>
          <a:prstGeom prst="roundRect">
            <a:avLst>
              <a:gd name="adj" fmla="val 6667"/>
            </a:avLst>
          </a:prstGeom>
        </p:spPr>
      </p:pic>
      <p:sp>
        <p:nvSpPr>
          <p:cNvPr id="17" name="Text 14"/>
          <p:cNvSpPr/>
          <p:nvPr/>
        </p:nvSpPr>
        <p:spPr>
          <a:xfrm>
            <a:off x="2108200" y="4210149"/>
            <a:ext cx="158579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7F1"/>
                </a:solidFill>
                <a:latin typeface="Arial" pitchFamily="34" charset="0"/>
                <a:ea typeface="Arial" pitchFamily="34" charset="-122"/>
                <a:cs typeface="Arial" pitchFamily="34" charset="-120"/>
              </a:rPr>
              <a:t>Open the app</a:t>
            </a:r>
            <a:endParaRPr lang="en-US" sz="1500" dirty="0"/>
          </a:p>
        </p:txBody>
      </p:sp>
      <p:sp>
        <p:nvSpPr>
          <p:cNvPr id="18" name="Text 15"/>
          <p:cNvSpPr/>
          <p:nvPr/>
        </p:nvSpPr>
        <p:spPr>
          <a:xfrm>
            <a:off x="2108200" y="4527649"/>
            <a:ext cx="1585793"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BFD3C6"/>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ezviz.agrhub.com</a:t>
            </a:r>
            <a:endParaRPr lang="en-US" sz="1200" dirty="0"/>
          </a:p>
        </p:txBody>
      </p:sp>
      <p:pic>
        <p:nvPicPr>
          <p:cNvPr id="19" name="Image 1" descr="QR code opening the FlyBot product tour">    </p:cNvPr>
          <p:cNvPicPr>
            <a:picLocks noChangeAspect="1"/>
          </p:cNvPicPr>
          <p:nvPr/>
        </p:nvPicPr>
        <p:blipFill>
          <a:blip r:embed="rId3"/>
          <a:srcRect l="0" r="0" t="0" b="0"/>
          <a:stretch/>
        </p:blipFill>
        <p:spPr>
          <a:xfrm>
            <a:off x="3886895" y="3904059"/>
            <a:ext cx="1143000" cy="1143000"/>
          </a:xfrm>
          <a:prstGeom prst="roundRect">
            <a:avLst>
              <a:gd name="adj" fmla="val 6667"/>
            </a:avLst>
          </a:prstGeom>
        </p:spPr>
      </p:pic>
      <p:sp>
        <p:nvSpPr>
          <p:cNvPr id="20" name="Text 16"/>
          <p:cNvSpPr/>
          <p:nvPr/>
        </p:nvSpPr>
        <p:spPr>
          <a:xfrm>
            <a:off x="5182295" y="4210149"/>
            <a:ext cx="306038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5F7F1"/>
                </a:solidFill>
                <a:latin typeface="Arial" pitchFamily="34" charset="0"/>
                <a:ea typeface="Arial" pitchFamily="34" charset="-122"/>
                <a:cs typeface="Arial" pitchFamily="34" charset="-120"/>
              </a:rPr>
              <a:t>Watch the 82-second tour</a:t>
            </a:r>
            <a:endParaRPr lang="en-US" sz="1500" dirty="0"/>
          </a:p>
        </p:txBody>
      </p:sp>
      <p:sp>
        <p:nvSpPr>
          <p:cNvPr id="21" name="Text 17"/>
          <p:cNvSpPr/>
          <p:nvPr/>
        </p:nvSpPr>
        <p:spPr>
          <a:xfrm>
            <a:off x="5182295" y="4527649"/>
            <a:ext cx="2626828" cy="238720"/>
          </a:xfrm>
          <a:prstGeom prst="rect">
            <a:avLst/>
          </a:prstGeom>
          <a:noFill/>
          <a:ln/>
        </p:spPr>
        <p:txBody>
          <a:bodyPr wrap="square" lIns="0" tIns="0" rIns="0" bIns="0" rtlCol="0" anchor="t">
            <a:normAutofit/>
          </a:bodyPr>
          <a:lstStyle/>
          <a:p>
            <a:pPr algn="l" indent="0" marL="0">
              <a:lnSpc>
                <a:spcPts val="1680"/>
              </a:lnSpc>
              <a:buNone/>
            </a:pPr>
            <a:r>
              <a:rPr lang="en-US" sz="1200" u="sng" dirty="0">
                <a:solidFill>
                  <a:srgbClr val="BFD3C6"/>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Scan with your phone camera</a:t>
            </a:r>
            <a:endParaRPr lang="en-US" sz="1200" dirty="0"/>
          </a:p>
        </p:txBody>
      </p:sp>
      <p:sp>
        <p:nvSpPr>
          <p:cNvPr id="22" name="Text 1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898"/>
                </a:solidFill>
                <a:latin typeface="Arial" pitchFamily="34" charset="0"/>
                <a:ea typeface="Arial" pitchFamily="34" charset="-122"/>
                <a:cs typeface="Arial" pitchFamily="34" charset="-120"/>
              </a:rPr>
              <a:t>Contact: </a:t>
            </a:r>
            <a:r>
              <a:rPr lang="en-US" sz="1200" dirty="0">
                <a:solidFill>
                  <a:srgbClr val="8FA898"/>
                </a:solidFill>
                <a:latin typeface="Arial" pitchFamily="34" charset="0"/>
                <a:ea typeface="Arial" pitchFamily="34" charset="-122"/>
                <a:cs typeface="Arial" pitchFamily="34" charset="-120"/>
              </a:rPr>
              <a:t>contact@agrhub.com</a:t>
            </a:r>
            <a:r>
              <a:rPr lang="en-US" sz="1200" dirty="0">
                <a:solidFill>
                  <a:srgbClr val="8FA898"/>
                </a:solidFill>
                <a:latin typeface="Arial" pitchFamily="34" charset="0"/>
                <a:ea typeface="Arial" pitchFamily="34" charset="-122"/>
                <a:cs typeface="Arial" pitchFamily="34" charset="-120"/>
              </a:rPr>
              <a:t> · </a:t>
            </a:r>
            <a:r>
              <a:rPr lang="en-US" sz="1200" u="sng" dirty="0">
                <a:solidFill>
                  <a:srgbClr val="8FA898"/>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ezviz.agrhub.com</a:t>
            </a:r>
            <a:r>
              <a:rPr lang="en-US" sz="1200" dirty="0">
                <a:solidFill>
                  <a:srgbClr val="8FA898"/>
                </a:solidFill>
                <a:latin typeface="Arial" pitchFamily="34" charset="0"/>
                <a:ea typeface="Arial" pitchFamily="34" charset="-122"/>
                <a:cs typeface="Arial" pitchFamily="34" charset="-120"/>
              </a:rPr>
              <a:t> · </a:t>
            </a:r>
            <a:r>
              <a:rPr lang="en-US" sz="1200" u="sng" dirty="0">
                <a:solidFill>
                  <a:srgbClr val="8FA898"/>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Guide</a:t>
            </a:r>
            <a:r>
              <a:rPr lang="en-US" sz="1200" dirty="0">
                <a:solidFill>
                  <a:srgbClr val="8FA898"/>
                </a:solidFill>
                <a:latin typeface="Arial" pitchFamily="34" charset="0"/>
                <a:ea typeface="Arial" pitchFamily="34" charset="-122"/>
                <a:cs typeface="Arial" pitchFamily="34" charset="-120"/>
              </a:rPr>
              <a:t> · </a:t>
            </a:r>
            <a:r>
              <a:rPr lang="en-US" sz="1200" u="sng" dirty="0">
                <a:solidFill>
                  <a:srgbClr val="8FA898"/>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Product tour</a:t>
            </a:r>
            <a:endParaRPr lang="en-US" sz="1200" dirty="0"/>
          </a:p>
        </p:txBody>
      </p:sp>
    </p:spTree>
  </p:cSld>
  <p:clrMapOvr>
    <a:masterClrMapping/>
  </p:clrMapOvr>
</p:sld>
</file>

<file path=ppt/theme/theme1.xml><?xml version="1.0" encoding="utf-8"?>
<a:theme xmlns:a="http://schemas.openxmlformats.org/drawingml/2006/main" name="FlyBot – Product overview">
  <a:themeElements>
    <a:clrScheme name="FlyBot – Product overview">
      <a:dk1>
        <a:srgbClr val="13261D"/>
      </a:dk1>
      <a:lt1>
        <a:srgbClr val="F5F7F1"/>
      </a:lt1>
      <a:dk2>
        <a:srgbClr val="4C5A52"/>
      </a:dk2>
      <a:lt2>
        <a:srgbClr val="DEE2DC"/>
      </a:lt2>
      <a:accent1>
        <a:srgbClr val="F2C230"/>
      </a:accent1>
      <a:accent2>
        <a:srgbClr val="1D7A50"/>
      </a:accent2>
      <a:accent3>
        <a:srgbClr val="7FD3A8"/>
      </a:accent3>
      <a:accent4>
        <a:srgbClr val="4A5A50"/>
      </a:accent4>
      <a:accent5>
        <a:srgbClr val="BFD3C6"/>
      </a:accent5>
      <a:accent6>
        <a:srgbClr val="6B7B70"/>
      </a:accent6>
      <a:hlink>
        <a:srgbClr val="0563C1"/>
      </a:hlink>
      <a:folHlink>
        <a:srgbClr val="954F72"/>
      </a:folHlink>
    </a:clrScheme>
    <a:fontScheme name="FlyBot – Product over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FlyBot – Product overview</dc:title>
  <dc:subject/>
  <dc:creator/>
  <cp:lastModifiedBy/>
  <cp:revision>1</cp:revision>
  <dcterms:created xsi:type="dcterms:W3CDTF">2026-10-12T04:45:58Z</dcterms:created>
  <dcterms:modified xsi:type="dcterms:W3CDTF">2026-10-12T04:45:58Z</dcterms:modified>
</cp:coreProperties>
</file>