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Introducing FlyBot: insect traps watched by cameras, with an AI that counts the insects on each trap card and tells growers when density crosses a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growers check traps by walking to each one and counting by hand. It takes time, the figures are hard to compare, and outbreaks are often noticed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camera photographs the trap card on a schedule, the AI finds and counts every insect, FlyBot works out the new catches per day, then it alerts and sends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82-second tour of the main screens. It starts by itself when this slide is presented; click the video to pause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overview: catches today, flies per trap per day over 7 days against the week before, each trap's risk against its own threshold, a 14-day chart and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boxes each insect in the photo with its species and confidence. Users can confirm or correct the count; reviewed photos are used to retrain the AI. Photos the AI failed on are retried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trap kind when adding a camera. Sticky traps: daily catches are the rise over the day before. Lure traps: the day's average per photo drives alerts, reports, the overview and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page: live video, take a photo now, play back memory card recordings on a timeline, log trap card changes and see the camera's own detection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when catches reach each trap's own threshold, on a sudden surge, when a camera goes offline, when a trap card is due and when the AI keeps failing. Delivered in the app, as push notifications, by email and on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Analytics has trend charts, in-depth analysis by trap and by hour, and the history of every analyzed photo. Filter and export every match to PDF or Excel with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choose blocks, a period and filters per block, export to PDF, share with people or through a public link with an end date, and send them automatically every week or month by email and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assistant (the Assistant button at the top) is an agent: it calls FlyBot's own tools to get real figures before answering, compares weeks, reads alerts, reports and the farm logbook (with the effect of each treatment), can look at one photo (the "Ask the assistant about this photo" button), take a photo from a camera, email a report as a PDF and open the right screen. Answers stream in with photo, chart and comparison cards. A card change or a treatment is saved only when the user presses Confirm. Conversations are kept for 7 days. It follows the same camera access rules as the app and cannot change settings or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examples in the chat panel: asking for the latest photos brings the AI photos; asking about the last 24 hours brings a chart by hour; "Ask the assistant about this photo" has the AI look at it; saying "I replaced the card" prepares a card that is saved only when you press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farms and plots, place traps on the map and view the heat map. The logbook records each treatment and works out its effect on catches; it exports a VietGAP pesticide use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FlyBot installs on the phone like an app, with push notifications, in English and Vietnamese. Role-based access, camera and organization sharing, API and webhooks, an activity log and a capture pipeline monitor for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mount an EZVIZ camera on the trap, add it with its serial number and verification code and choose the trap kind, then set the alert threshold and channels. Contact contact@agrhub.com or visit https://ezviz.agrhub.com.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6331"/>
            <a:ext cx="10566400" cy="464344"/>
          </a:xfrm>
          <a:prstGeom prst="rect">
            <a:avLst/>
          </a:prstGeom>
          <a:noFill/>
          <a:ln/>
        </p:spPr>
        <p:txBody>
          <a:bodyPr wrap="square" lIns="0" tIns="0" rIns="0" bIns="0" rtlCol="0" anchor="t"/>
          <a:lstStyle>
            <a:lvl1pPr algn="l" indent="0" marL="0">
              <a:lnSpc>
                <a:spcPct val="115000"/>
              </a:lnSpc>
              <a:buNone/>
              <a:defRPr lang="en-US" sz="3190" dirty="0">
                <a:solidFill>
                  <a:srgbClr val="13261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190" dirty="0"/>
          </a:p>
        </p:txBody>
      </p:sp>
      <p:sp>
        <p:nvSpPr>
          <p:cNvPr id="3" name="Text Placeholder 2"/>
          <p:cNvSpPr/>
          <p:nvPr>
            <p:ph idx="101" type="body"/>
          </p:nvPr>
        </p:nvSpPr>
        <p:spPr>
          <a:xfrm>
            <a:off x="812800" y="1895475"/>
            <a:ext cx="10566400" cy="4149725"/>
          </a:xfrm>
          <a:prstGeom prst="rect">
            <a:avLst/>
          </a:prstGeom>
          <a:noFill/>
          <a:ln/>
        </p:spPr>
        <p:txBody>
          <a:bodyPr wrap="square" lIns="0" tIns="0" rIns="0" bIns="0" rtlCol="0" anchor="t"/>
          <a:lstStyle>
            <a:lvl1pPr algn="l" indent="0" marL="0">
              <a:lnSpc>
                <a:spcPct val="140000"/>
              </a:lnSpc>
              <a:buNone/>
              <a:defRPr lang="en-US" sz="1600" dirty="0">
                <a:solidFill>
                  <a:srgbClr val="13261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6331"/>
            <a:ext cx="10566400" cy="464344"/>
          </a:xfrm>
          <a:prstGeom prst="rect">
            <a:avLst/>
          </a:prstGeom>
          <a:noFill/>
          <a:ln/>
        </p:spPr>
        <p:txBody>
          <a:bodyPr wrap="square" lIns="0" tIns="0" rIns="0" bIns="0" rtlCol="0" anchor="t"/>
          <a:lstStyle>
            <a:lvl1pPr algn="l" indent="0" marL="0">
              <a:lnSpc>
                <a:spcPct val="115000"/>
              </a:lnSpc>
              <a:buNone/>
              <a:defRPr lang="en-US" sz="3190" dirty="0">
                <a:solidFill>
                  <a:srgbClr val="13261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190" dirty="0"/>
          </a:p>
        </p:txBody>
      </p:sp>
      <p:sp>
        <p:nvSpPr>
          <p:cNvPr id="3" name="Text Placeholder 2"/>
          <p:cNvSpPr/>
          <p:nvPr>
            <p:ph idx="101" type="body"/>
          </p:nvPr>
        </p:nvSpPr>
        <p:spPr>
          <a:xfrm>
            <a:off x="812800" y="1895475"/>
            <a:ext cx="10566400" cy="4149725"/>
          </a:xfrm>
          <a:prstGeom prst="rect">
            <a:avLst/>
          </a:prstGeom>
          <a:noFill/>
          <a:ln/>
        </p:spPr>
        <p:txBody>
          <a:bodyPr wrap="square" lIns="0" tIns="0" rIns="0" bIns="0" rtlCol="0" anchor="t"/>
          <a:lstStyle>
            <a:lvl1pPr algn="l" indent="0" marL="0">
              <a:lnSpc>
                <a:spcPct val="140000"/>
              </a:lnSpc>
              <a:buNone/>
              <a:defRPr lang="en-US" sz="1600" dirty="0">
                <a:solidFill>
                  <a:srgbClr val="13261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ezviz.agrhub.com" TargetMode="External"/><Relationship Id="rId1" Type="http://schemas.openxmlformats.org/officeDocument/2006/relationships/image" Target="../media/image-1-1.png"/><Relationship Id="rId3" Type="http://schemas.openxmlformats.org/officeDocument/2006/relationships/image" Target="../media/image-1-2.webp"/><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ezviz.agrhub.com/media/flybot-tour-en.mp4" TargetMode="External"/><Relationship Id="rId2" Type="http://schemas.openxmlformats.org/officeDocument/2006/relationships/image" Target="../media/image-4-1.webp"/><Relationship Id="rId3" Type="http://schemas.openxmlformats.org/officeDocument/2006/relationships/slideLayout" Target="../slideLayouts/slideLayout2.xml"/><Relationship Id="rId4" Type="http://schemas.openxmlformats.org/officeDocument/2006/relationships/notesSlide" Target="../notesSlides/notesSlide4.xml"/><Relationship Id="rId5" Type="http://schemas.openxmlformats.org/officeDocument/2006/relationships/hyperlink" Target="https://ezviz.agrhub.com/media/flybot-tour-en.mp4" TargetMode="External"/></Relationships>
</file>

<file path=ppt/slides/_rels/slide5.xml.rels><?xml version="1.0" encoding="UTF-8" standalone="yes"?>
<Relationships xmlns="http://schemas.openxmlformats.org/package/2006/relationships"><Relationship Id="rId1" Type="http://schemas.openxmlformats.org/officeDocument/2006/relationships/image" Target="../media/image-5-1.webp"/><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webp"/><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webp"/><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webp"/><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webp"/><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hyperlink" Target="https://ezviz.agrhub.com/manual?tab=assistant"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5" Type="http://schemas.openxmlformats.org/officeDocument/2006/relationships/hyperlink" Target="https://ezviz.agrhub.com/manual?tab=assistant" TargetMode="External"/><Relationship Id="rId1" Type="http://schemas.openxmlformats.org/officeDocument/2006/relationships/image" Target="../media/image-13-1.webp"/><Relationship Id="rId2" Type="http://schemas.openxmlformats.org/officeDocument/2006/relationships/image" Target="../media/image-13-2.webp"/><Relationship Id="rId3" Type="http://schemas.openxmlformats.org/officeDocument/2006/relationships/image" Target="../media/image-13-3.webp"/><Relationship Id="rId4" Type="http://schemas.openxmlformats.org/officeDocument/2006/relationships/image" Target="../media/image-13-4.webp"/><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webp"/><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webp"/><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ezviz.agrhub.com" TargetMode="External"/><Relationship Id="rId2" Type="http://schemas.openxmlformats.org/officeDocument/2006/relationships/hyperlink" Target="https://ezviz.agrhub.com/manual" TargetMode="External"/><Relationship Id="rId3" Type="http://schemas.openxmlformats.org/officeDocument/2006/relationships/hyperlink" Target="https://ezviz.agrhub.com/media/flybot-tour-en.mp4" TargetMode="External"/><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1D"/>
        </a:solidFill>
      </p:bgPr>
    </p:bg>
    <p:spTree>
      <p:nvGrpSpPr>
        <p:cNvPr id="1" name=""/>
        <p:cNvGrpSpPr/>
        <p:nvPr/>
      </p:nvGrpSpPr>
      <p:grpSpPr>
        <a:xfrm>
          <a:off x="0" y="0"/>
          <a:ext cx="0" cy="0"/>
          <a:chOff x="0" y="0"/>
          <a:chExt cx="0" cy="0"/>
        </a:xfrm>
      </p:grpSpPr>
      <p:pic>
        <p:nvPicPr>
          <p:cNvPr id="2" name="Image 0" descr="FlyBot logo">    </p:cNvPr>
          <p:cNvPicPr>
            <a:picLocks noChangeAspect="1"/>
          </p:cNvPicPr>
          <p:nvPr/>
        </p:nvPicPr>
        <p:blipFill>
          <a:blip r:embed="rId1"/>
          <a:srcRect l="0" r="0" t="0" b="0"/>
          <a:stretch/>
        </p:blipFill>
        <p:spPr>
          <a:xfrm>
            <a:off x="812800" y="1167309"/>
            <a:ext cx="711200" cy="711200"/>
          </a:xfrm>
          <a:prstGeom prst="rect">
            <a:avLst/>
          </a:prstGeom>
        </p:spPr>
      </p:pic>
      <p:sp>
        <p:nvSpPr>
          <p:cNvPr id="3" name="Text 0"/>
          <p:cNvSpPr/>
          <p:nvPr/>
        </p:nvSpPr>
        <p:spPr>
          <a:xfrm>
            <a:off x="1676400" y="1327348"/>
            <a:ext cx="111454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5F7F1"/>
                </a:solidFill>
                <a:latin typeface="Be Vietnam Pro" pitchFamily="34" charset="0"/>
                <a:ea typeface="Be Vietnam Pro" pitchFamily="34" charset="-122"/>
                <a:cs typeface="Be Vietnam Pro" pitchFamily="34" charset="-120"/>
              </a:rPr>
              <a:t>FlyBot</a:t>
            </a:r>
            <a:endParaRPr lang="en-US" sz="2200" dirty="0"/>
          </a:p>
        </p:txBody>
      </p:sp>
      <p:sp>
        <p:nvSpPr>
          <p:cNvPr id="4" name="Text 1"/>
          <p:cNvSpPr/>
          <p:nvPr>
            <p:ph type="title"/>
          </p:nvPr>
        </p:nvSpPr>
        <p:spPr>
          <a:xfrm>
            <a:off x="812800" y="2132509"/>
            <a:ext cx="4970780" cy="1617861"/>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5F7F1"/>
                </a:solidFill>
                <a:latin typeface="Be Vietnam Pro" pitchFamily="34" charset="0"/>
                <a:ea typeface="Be Vietnam Pro" pitchFamily="34" charset="-122"/>
                <a:cs typeface="Be Vietnam Pro" pitchFamily="34" charset="-120"/>
              </a:rPr>
              <a:t>Smart insect traps: the camera shoots, the AI counts</a:t>
            </a:r>
            <a:endParaRPr lang="en-US" sz="3800" dirty="0"/>
          </a:p>
        </p:txBody>
      </p:sp>
      <p:sp>
        <p:nvSpPr>
          <p:cNvPr id="5" name="Text 2"/>
          <p:cNvSpPr/>
          <p:nvPr/>
        </p:nvSpPr>
        <p:spPr>
          <a:xfrm>
            <a:off x="812800" y="3978970"/>
            <a:ext cx="497078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FD3C6"/>
                </a:solidFill>
                <a:latin typeface="Be Vietnam Pro" pitchFamily="34" charset="0"/>
                <a:ea typeface="Be Vietnam Pro" pitchFamily="34" charset="-122"/>
                <a:cs typeface="Be Vietnam Pro" pitchFamily="34" charset="-120"/>
              </a:rPr>
              <a:t>Follow fruit flies and other pests on every trap, every day, right on your phone.</a:t>
            </a:r>
            <a:endParaRPr lang="en-US" sz="1600" dirty="0"/>
          </a:p>
        </p:txBody>
      </p:sp>
      <p:sp>
        <p:nvSpPr>
          <p:cNvPr id="6" name="Text 3"/>
          <p:cNvSpPr/>
          <p:nvPr/>
        </p:nvSpPr>
        <p:spPr>
          <a:xfrm>
            <a:off x="812800" y="4822130"/>
            <a:ext cx="3683000" cy="365720"/>
          </a:xfrm>
          <a:prstGeom prst="roundRect">
            <a:avLst>
              <a:gd name="adj" fmla="val 50000"/>
            </a:avLst>
          </a:prstGeom>
          <a:solidFill>
            <a:srgbClr val="F2C230"/>
          </a:solidFill>
          <a:ln/>
        </p:spPr>
        <p:txBody>
          <a:bodyPr wrap="square" lIns="48169" tIns="22642" rIns="48169" bIns="0" rtlCol="0" anchor="t">
            <a:normAutofit/>
          </a:bodyPr>
          <a:lstStyle/>
          <a:p>
            <a:pPr algn="ctr"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Web · Phone · English and Vietnamese</a:t>
            </a:r>
            <a:endParaRPr lang="en-US" sz="1200" dirty="0"/>
          </a:p>
        </p:txBody>
      </p:sp>
      <p:sp>
        <p:nvSpPr>
          <p:cNvPr id="7" name="Text 4"/>
          <p:cNvSpPr/>
          <p:nvPr/>
        </p:nvSpPr>
        <p:spPr>
          <a:xfrm>
            <a:off x="812800" y="5441851"/>
            <a:ext cx="4970780" cy="274241"/>
          </a:xfrm>
          <a:prstGeom prst="rect">
            <a:avLst/>
          </a:prstGeom>
          <a:noFill/>
          <a:ln/>
        </p:spPr>
        <p:txBody>
          <a:bodyPr wrap="square" lIns="0" tIns="0" rIns="0" bIns="0" rtlCol="0" anchor="t">
            <a:normAutofit/>
          </a:bodyPr>
          <a:lstStyle/>
          <a:p>
            <a:pPr algn="l" indent="0" marL="0">
              <a:lnSpc>
                <a:spcPts val="1960"/>
              </a:lnSpc>
              <a:buNone/>
            </a:pPr>
            <a:r>
              <a:rPr lang="en-US" sz="1400" b="1" u="sng" dirty="0">
                <a:solidFill>
                  <a:srgbClr val="F2C230"/>
                </a:solidFill>
                <a:latin typeface="Be Vietnam Pro" pitchFamily="34" charset="0"/>
                <a:ea typeface="Be Vietnam Pro" pitchFamily="34" charset="-122"/>
                <a:cs typeface="Be Vietnam Pro" pitchFamily="34" charset="-120"/>
                <a:hlinkClick r:id="rId2" invalidUrl="" action="" tgtFrame="" tooltip="" history="1" highlightClick="0" endSnd="0">
                  <a:extLst>
                    <a:ext uri="{A12FA001-AC4F-418D-AE19-62706E023703}">
                      <ahyp:hlinkClr xmlns:ahyp="http://schemas.microsoft.com/office/drawing/2018/hyperlinkcolor" val="tx"/>
                    </a:ext>
                  </a:extLst>
                </a:hlinkClick>
              </a:rPr>
              <a:t>ezviz.agrhub.com</a:t>
            </a:r>
            <a:endParaRPr lang="en-US" sz="1400" dirty="0"/>
          </a:p>
        </p:txBody>
      </p:sp>
      <p:pic>
        <p:nvPicPr>
          <p:cNvPr id="8" name="Image 1" descr="FlyBot overview screen: catches today, flies per trap per day and the trap list">    </p:cNvPr>
          <p:cNvPicPr>
            <a:picLocks noChangeAspect="1"/>
          </p:cNvPicPr>
          <p:nvPr/>
        </p:nvPicPr>
        <p:blipFill>
          <a:blip r:embed="rId3"/>
          <a:srcRect l="-72" r="-72" t="0" b="0"/>
          <a:stretch/>
        </p:blipFill>
        <p:spPr>
          <a:xfrm>
            <a:off x="6051550" y="1768475"/>
            <a:ext cx="5321300" cy="3321050"/>
          </a:xfrm>
          <a:prstGeom prst="roundRect">
            <a:avLst>
              <a:gd name="adj" fmla="val 2868"/>
            </a:avLst>
          </a:prstGeom>
          <a:effectLst>
            <a:outerShdw sx="100000" sy="100000" kx="0" ky="0" algn="bl" rotWithShape="0" blurRad="406400" dist="203200" dir="5400000">
              <a:srgbClr val="000000">
                <a:alpha val="35000"/>
              </a:srgbClr>
            </a:outerShdw>
          </a:effectLst>
        </p:spPr>
      </p:pic>
      <p:sp>
        <p:nvSpPr>
          <p:cNvPr id="9" name="Shape 5"/>
          <p:cNvSpPr/>
          <p:nvPr/>
        </p:nvSpPr>
        <p:spPr>
          <a:xfrm>
            <a:off x="6048375" y="1765300"/>
            <a:ext cx="5327650" cy="3327400"/>
          </a:xfrm>
          <a:prstGeom prst="roundRect">
            <a:avLst>
              <a:gd name="adj" fmla="val 2958"/>
            </a:avLst>
          </a:prstGeom>
          <a:noFill/>
          <a:ln w="6350">
            <a:solidFill>
              <a:srgbClr val="2E4A3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Be Vietnam Pro" pitchFamily="34" charset="0"/>
                <a:ea typeface="Be Vietnam Pro" pitchFamily="34" charset="-122"/>
                <a:cs typeface="Be Vietnam Pro" pitchFamily="34" charset="-120"/>
              </a:rPr>
              <a:t>THE PROBLEM</a:t>
            </a:r>
            <a:endParaRPr lang="en-US" sz="1200" dirty="0"/>
          </a:p>
        </p:txBody>
      </p:sp>
      <p:sp>
        <p:nvSpPr>
          <p:cNvPr id="3" name="Text 1"/>
          <p:cNvSpPr/>
          <p:nvPr>
            <p:ph type="title"/>
          </p:nvPr>
        </p:nvSpPr>
        <p:spPr>
          <a:xfrm>
            <a:off x="812800" y="112772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Be Vietnam Pro" pitchFamily="34" charset="0"/>
                <a:ea typeface="Be Vietnam Pro" pitchFamily="34" charset="-122"/>
                <a:cs typeface="Be Vietnam Pro" pitchFamily="34" charset="-120"/>
              </a:rPr>
              <a:t>Checking traps by hand is slow and always behind the pests</a:t>
            </a:r>
            <a:endParaRPr lang="en-US" sz="3200" dirty="0"/>
          </a:p>
        </p:txBody>
      </p:sp>
      <p:sp>
        <p:nvSpPr>
          <p:cNvPr id="4" name="Shape 2"/>
          <p:cNvSpPr/>
          <p:nvPr/>
        </p:nvSpPr>
        <p:spPr>
          <a:xfrm>
            <a:off x="815975" y="2471936"/>
            <a:ext cx="3380284" cy="3366889"/>
          </a:xfrm>
          <a:prstGeom prst="roundRect">
            <a:avLst>
              <a:gd name="adj" fmla="val 3678"/>
            </a:avLst>
          </a:prstGeom>
          <a:solidFill>
            <a:srgbClr val="FFFFFF"/>
          </a:solidFill>
          <a:ln w="6350">
            <a:solidFill>
              <a:srgbClr val="DCE3DA"/>
            </a:solidFill>
            <a:prstDash val="solid"/>
          </a:ln>
        </p:spPr>
      </p:sp>
      <p:pic>
        <p:nvPicPr>
          <p:cNvPr id="5" name="Image 0" descr="Users">    </p:cNvPr>
          <p:cNvPicPr>
            <a:picLocks noChangeAspect="1"/>
          </p:cNvPicPr>
          <p:nvPr/>
        </p:nvPicPr>
        <p:blipFill>
          <a:blip r:embed="rId1"/>
          <a:srcRect l="0" r="0" t="0" b="0"/>
          <a:stretch/>
        </p:blipFill>
        <p:spPr>
          <a:xfrm>
            <a:off x="1123950" y="2779911"/>
            <a:ext cx="406400" cy="406400"/>
          </a:xfrm>
          <a:prstGeom prst="rect">
            <a:avLst/>
          </a:prstGeom>
        </p:spPr>
      </p:pic>
      <p:sp>
        <p:nvSpPr>
          <p:cNvPr id="6" name="Text 3"/>
          <p:cNvSpPr/>
          <p:nvPr/>
        </p:nvSpPr>
        <p:spPr>
          <a:xfrm>
            <a:off x="1123950" y="3338711"/>
            <a:ext cx="2847264"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61D"/>
                </a:solidFill>
                <a:latin typeface="Be Vietnam Pro" pitchFamily="34" charset="0"/>
                <a:ea typeface="Be Vietnam Pro" pitchFamily="34" charset="-122"/>
                <a:cs typeface="Be Vietnam Pro" pitchFamily="34" charset="-120"/>
              </a:rPr>
              <a:t>Walking every trap, counting by eye</a:t>
            </a:r>
            <a:endParaRPr lang="en-US" sz="2000" dirty="0"/>
          </a:p>
        </p:txBody>
      </p:sp>
      <p:sp>
        <p:nvSpPr>
          <p:cNvPr id="7" name="Text 4"/>
          <p:cNvSpPr/>
          <p:nvPr/>
        </p:nvSpPr>
        <p:spPr>
          <a:xfrm>
            <a:off x="1123950" y="4100711"/>
            <a:ext cx="2847264"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A50"/>
                </a:solidFill>
                <a:latin typeface="Be Vietnam Pro" pitchFamily="34" charset="0"/>
                <a:ea typeface="Be Vietnam Pro" pitchFamily="34" charset="-122"/>
                <a:cs typeface="Be Vietnam Pro" pitchFamily="34" charset="-120"/>
              </a:rPr>
              <a:t>Each round takes hours of labour, and the count depends on who does it.</a:t>
            </a:r>
            <a:endParaRPr lang="en-US" sz="1400" dirty="0"/>
          </a:p>
        </p:txBody>
      </p:sp>
      <p:sp>
        <p:nvSpPr>
          <p:cNvPr id="8" name="Shape 5"/>
          <p:cNvSpPr/>
          <p:nvPr/>
        </p:nvSpPr>
        <p:spPr>
          <a:xfrm>
            <a:off x="4405809" y="2471936"/>
            <a:ext cx="3380383" cy="3366889"/>
          </a:xfrm>
          <a:prstGeom prst="roundRect">
            <a:avLst>
              <a:gd name="adj" fmla="val 3678"/>
            </a:avLst>
          </a:prstGeom>
          <a:solidFill>
            <a:srgbClr val="FFFFFF"/>
          </a:solidFill>
          <a:ln w="6350">
            <a:solidFill>
              <a:srgbClr val="DCE3DA"/>
            </a:solidFill>
            <a:prstDash val="solid"/>
          </a:ln>
        </p:spPr>
      </p:sp>
      <p:pic>
        <p:nvPicPr>
          <p:cNvPr id="9" name="Image 1" descr="Chart">    </p:cNvPr>
          <p:cNvPicPr>
            <a:picLocks noChangeAspect="1"/>
          </p:cNvPicPr>
          <p:nvPr/>
        </p:nvPicPr>
        <p:blipFill>
          <a:blip r:embed="rId2"/>
          <a:srcRect l="0" r="0" t="0" b="0"/>
          <a:stretch/>
        </p:blipFill>
        <p:spPr>
          <a:xfrm>
            <a:off x="4713784" y="2779911"/>
            <a:ext cx="406400" cy="406400"/>
          </a:xfrm>
          <a:prstGeom prst="rect">
            <a:avLst/>
          </a:prstGeom>
        </p:spPr>
      </p:pic>
      <p:sp>
        <p:nvSpPr>
          <p:cNvPr id="10" name="Text 6"/>
          <p:cNvSpPr/>
          <p:nvPr/>
        </p:nvSpPr>
        <p:spPr>
          <a:xfrm>
            <a:off x="4713784" y="3338711"/>
            <a:ext cx="284736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61D"/>
                </a:solidFill>
                <a:latin typeface="Be Vietnam Pro" pitchFamily="34" charset="0"/>
                <a:ea typeface="Be Vietnam Pro" pitchFamily="34" charset="-122"/>
                <a:cs typeface="Be Vietnam Pro" pitchFamily="34" charset="-120"/>
              </a:rPr>
              <a:t>Scattered records</a:t>
            </a:r>
            <a:endParaRPr lang="en-US" sz="2000" dirty="0"/>
          </a:p>
        </p:txBody>
      </p:sp>
      <p:sp>
        <p:nvSpPr>
          <p:cNvPr id="11" name="Text 7"/>
          <p:cNvSpPr/>
          <p:nvPr/>
        </p:nvSpPr>
        <p:spPr>
          <a:xfrm>
            <a:off x="4713784" y="3795911"/>
            <a:ext cx="2847366"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A50"/>
                </a:solidFill>
                <a:latin typeface="Be Vietnam Pro" pitchFamily="34" charset="0"/>
                <a:ea typeface="Be Vietnam Pro" pitchFamily="34" charset="-122"/>
                <a:cs typeface="Be Vietnam Pro" pitchFamily="34" charset="-120"/>
              </a:rPr>
              <a:t>Notes on paper are hard to compare across traps, plots and weeks.</a:t>
            </a:r>
            <a:endParaRPr lang="en-US" sz="1400" dirty="0"/>
          </a:p>
        </p:txBody>
      </p:sp>
      <p:sp>
        <p:nvSpPr>
          <p:cNvPr id="12" name="Shape 8"/>
          <p:cNvSpPr/>
          <p:nvPr/>
        </p:nvSpPr>
        <p:spPr>
          <a:xfrm>
            <a:off x="7995741" y="2471936"/>
            <a:ext cx="3380284" cy="3366889"/>
          </a:xfrm>
          <a:prstGeom prst="roundRect">
            <a:avLst>
              <a:gd name="adj" fmla="val 3678"/>
            </a:avLst>
          </a:prstGeom>
          <a:solidFill>
            <a:srgbClr val="FFFFFF"/>
          </a:solidFill>
          <a:ln w="6350">
            <a:solidFill>
              <a:srgbClr val="DCE3DA"/>
            </a:solidFill>
            <a:prstDash val="solid"/>
          </a:ln>
        </p:spPr>
      </p:sp>
      <p:pic>
        <p:nvPicPr>
          <p:cNvPr id="13" name="Image 2" descr="Clock">    </p:cNvPr>
          <p:cNvPicPr>
            <a:picLocks noChangeAspect="1"/>
          </p:cNvPicPr>
          <p:nvPr/>
        </p:nvPicPr>
        <p:blipFill>
          <a:blip r:embed="rId3"/>
          <a:srcRect l="0" r="0" t="0" b="0"/>
          <a:stretch/>
        </p:blipFill>
        <p:spPr>
          <a:xfrm>
            <a:off x="8303716" y="2779911"/>
            <a:ext cx="406400" cy="406400"/>
          </a:xfrm>
          <a:prstGeom prst="rect">
            <a:avLst/>
          </a:prstGeom>
        </p:spPr>
      </p:pic>
      <p:sp>
        <p:nvSpPr>
          <p:cNvPr id="14" name="Text 9"/>
          <p:cNvSpPr/>
          <p:nvPr/>
        </p:nvSpPr>
        <p:spPr>
          <a:xfrm>
            <a:off x="8303716" y="3338711"/>
            <a:ext cx="28472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61D"/>
                </a:solidFill>
                <a:latin typeface="Be Vietnam Pro" pitchFamily="34" charset="0"/>
                <a:ea typeface="Be Vietnam Pro" pitchFamily="34" charset="-122"/>
                <a:cs typeface="Be Vietnam Pro" pitchFamily="34" charset="-120"/>
              </a:rPr>
              <a:t>Spotted too late</a:t>
            </a:r>
            <a:endParaRPr lang="en-US" sz="2000" dirty="0"/>
          </a:p>
        </p:txBody>
      </p:sp>
      <p:sp>
        <p:nvSpPr>
          <p:cNvPr id="15" name="Text 10"/>
          <p:cNvSpPr/>
          <p:nvPr/>
        </p:nvSpPr>
        <p:spPr>
          <a:xfrm>
            <a:off x="8303716" y="3795911"/>
            <a:ext cx="2847264"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A50"/>
                </a:solidFill>
                <a:latin typeface="Be Vietnam Pro" pitchFamily="34" charset="0"/>
                <a:ea typeface="Be Vietnam Pro" pitchFamily="34" charset="-122"/>
                <a:cs typeface="Be Vietnam Pro" pitchFamily="34" charset="-120"/>
              </a:rPr>
              <a:t>By the time numbers look high, the outbreak has started and costs more to treat.</a:t>
            </a:r>
            <a:endParaRPr lang="en-US" sz="14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Be Vietnam Pro" pitchFamily="34" charset="0"/>
                <a:ea typeface="Be Vietnam Pro" pitchFamily="34" charset="-122"/>
                <a:cs typeface="Be Vietnam Pro" pitchFamily="34" charset="-120"/>
              </a:rPr>
              <a:t>HOW IT WORKS</a:t>
            </a:r>
            <a:endParaRPr lang="en-US" sz="1200" dirty="0"/>
          </a:p>
        </p:txBody>
      </p:sp>
      <p:sp>
        <p:nvSpPr>
          <p:cNvPr id="3" name="Text 1"/>
          <p:cNvSpPr/>
          <p:nvPr>
            <p:ph type="title"/>
          </p:nvPr>
        </p:nvSpPr>
        <p:spPr>
          <a:xfrm>
            <a:off x="812800" y="112772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Be Vietnam Pro" pitchFamily="34" charset="0"/>
                <a:ea typeface="Be Vietnam Pro" pitchFamily="34" charset="-122"/>
                <a:cs typeface="Be Vietnam Pro" pitchFamily="34" charset="-120"/>
              </a:rPr>
              <a:t>From trap card to decision, with no counting by hand</a:t>
            </a:r>
            <a:endParaRPr lang="en-US" sz="3200" dirty="0"/>
          </a:p>
        </p:txBody>
      </p:sp>
      <p:sp>
        <p:nvSpPr>
          <p:cNvPr id="4" name="Shape 2"/>
          <p:cNvSpPr/>
          <p:nvPr/>
        </p:nvSpPr>
        <p:spPr>
          <a:xfrm>
            <a:off x="815975" y="2471936"/>
            <a:ext cx="2257425" cy="3366889"/>
          </a:xfrm>
          <a:prstGeom prst="roundRect">
            <a:avLst>
              <a:gd name="adj" fmla="val 5485"/>
            </a:avLst>
          </a:prstGeom>
          <a:solidFill>
            <a:srgbClr val="FFFFFF"/>
          </a:solidFill>
          <a:ln w="6350">
            <a:solidFill>
              <a:srgbClr val="DCE3DA"/>
            </a:solidFill>
            <a:prstDash val="solid"/>
          </a:ln>
        </p:spPr>
      </p:sp>
      <p:sp>
        <p:nvSpPr>
          <p:cNvPr id="5" name="Text 3"/>
          <p:cNvSpPr/>
          <p:nvPr/>
        </p:nvSpPr>
        <p:spPr>
          <a:xfrm>
            <a:off x="1073150" y="272911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Be Vietnam Pro" pitchFamily="34" charset="0"/>
                <a:ea typeface="Be Vietnam Pro" pitchFamily="34" charset="-122"/>
                <a:cs typeface="Be Vietnam Pro" pitchFamily="34" charset="-120"/>
              </a:rPr>
              <a:t>1</a:t>
            </a:r>
            <a:endParaRPr lang="en-US" sz="1200" dirty="0"/>
          </a:p>
        </p:txBody>
      </p:sp>
      <p:sp>
        <p:nvSpPr>
          <p:cNvPr id="6" name="Text 4"/>
          <p:cNvSpPr/>
          <p:nvPr/>
        </p:nvSpPr>
        <p:spPr>
          <a:xfrm>
            <a:off x="1073150" y="3211711"/>
            <a:ext cx="1795367" cy="848122"/>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Be Vietnam Pro" pitchFamily="34" charset="0"/>
                <a:ea typeface="Be Vietnam Pro" pitchFamily="34" charset="-122"/>
                <a:cs typeface="Be Vietnam Pro" pitchFamily="34" charset="-120"/>
              </a:rPr>
              <a:t>The camera shoots the trap</a:t>
            </a:r>
            <a:endParaRPr lang="en-US" sz="1800" dirty="0"/>
          </a:p>
        </p:txBody>
      </p:sp>
      <p:sp>
        <p:nvSpPr>
          <p:cNvPr id="7" name="Text 5"/>
          <p:cNvSpPr/>
          <p:nvPr/>
        </p:nvSpPr>
        <p:spPr>
          <a:xfrm>
            <a:off x="1073150" y="4161433"/>
            <a:ext cx="1795367" cy="12636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An EZVIZ camera takes photos on each trap's own schedule, daytime only if you like.</a:t>
            </a:r>
            <a:endParaRPr lang="en-US" sz="1300" dirty="0"/>
          </a:p>
        </p:txBody>
      </p:sp>
      <p:pic>
        <p:nvPicPr>
          <p:cNvPr id="8" name="Image 0" descr="arrow-right">    </p:cNvPr>
          <p:cNvPicPr>
            <a:picLocks noChangeAspect="1"/>
          </p:cNvPicPr>
          <p:nvPr/>
        </p:nvPicPr>
        <p:blipFill>
          <a:blip r:embed="rId1"/>
          <a:srcRect l="0" r="0" t="0" b="0"/>
          <a:stretch/>
        </p:blipFill>
        <p:spPr>
          <a:xfrm>
            <a:off x="3178175" y="4066480"/>
            <a:ext cx="304800" cy="177800"/>
          </a:xfrm>
          <a:prstGeom prst="rect">
            <a:avLst/>
          </a:prstGeom>
        </p:spPr>
      </p:pic>
      <p:sp>
        <p:nvSpPr>
          <p:cNvPr id="9" name="Shape 6"/>
          <p:cNvSpPr/>
          <p:nvPr/>
        </p:nvSpPr>
        <p:spPr>
          <a:xfrm>
            <a:off x="3587750" y="2471936"/>
            <a:ext cx="2257425" cy="3366889"/>
          </a:xfrm>
          <a:prstGeom prst="roundRect">
            <a:avLst>
              <a:gd name="adj" fmla="val 5485"/>
            </a:avLst>
          </a:prstGeom>
          <a:solidFill>
            <a:srgbClr val="FFFFFF"/>
          </a:solidFill>
          <a:ln w="6350">
            <a:solidFill>
              <a:srgbClr val="DCE3DA"/>
            </a:solidFill>
            <a:prstDash val="solid"/>
          </a:ln>
        </p:spPr>
      </p:sp>
      <p:sp>
        <p:nvSpPr>
          <p:cNvPr id="10" name="Text 7"/>
          <p:cNvSpPr/>
          <p:nvPr/>
        </p:nvSpPr>
        <p:spPr>
          <a:xfrm>
            <a:off x="3844925" y="272911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Be Vietnam Pro" pitchFamily="34" charset="0"/>
                <a:ea typeface="Be Vietnam Pro" pitchFamily="34" charset="-122"/>
                <a:cs typeface="Be Vietnam Pro" pitchFamily="34" charset="-120"/>
              </a:rPr>
              <a:t>2</a:t>
            </a:r>
            <a:endParaRPr lang="en-US" sz="1200" dirty="0"/>
          </a:p>
        </p:txBody>
      </p:sp>
      <p:sp>
        <p:nvSpPr>
          <p:cNvPr id="11" name="Text 8"/>
          <p:cNvSpPr/>
          <p:nvPr/>
        </p:nvSpPr>
        <p:spPr>
          <a:xfrm>
            <a:off x="3844925" y="3211711"/>
            <a:ext cx="1795367"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Be Vietnam Pro" pitchFamily="34" charset="0"/>
                <a:ea typeface="Be Vietnam Pro" pitchFamily="34" charset="-122"/>
                <a:cs typeface="Be Vietnam Pro" pitchFamily="34" charset="-120"/>
              </a:rPr>
              <a:t>The AI finds and counts</a:t>
            </a:r>
            <a:endParaRPr lang="en-US" sz="1800" dirty="0"/>
          </a:p>
        </p:txBody>
      </p:sp>
      <p:sp>
        <p:nvSpPr>
          <p:cNvPr id="12" name="Text 9"/>
          <p:cNvSpPr/>
          <p:nvPr/>
        </p:nvSpPr>
        <p:spPr>
          <a:xfrm>
            <a:off x="3844925" y="3887192"/>
            <a:ext cx="1795367"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It boxes every insect in the photo, with its species and confidence.</a:t>
            </a:r>
            <a:endParaRPr lang="en-US" sz="1300" dirty="0"/>
          </a:p>
        </p:txBody>
      </p:sp>
      <p:pic>
        <p:nvPicPr>
          <p:cNvPr id="13" name="Image 1" descr="arrow-right">    </p:cNvPr>
          <p:cNvPicPr>
            <a:picLocks noChangeAspect="1"/>
          </p:cNvPicPr>
          <p:nvPr/>
        </p:nvPicPr>
        <p:blipFill>
          <a:blip r:embed="rId2"/>
          <a:srcRect l="0" r="0" t="0" b="0"/>
          <a:stretch/>
        </p:blipFill>
        <p:spPr>
          <a:xfrm>
            <a:off x="5949950" y="4066480"/>
            <a:ext cx="304800" cy="177800"/>
          </a:xfrm>
          <a:prstGeom prst="rect">
            <a:avLst/>
          </a:prstGeom>
        </p:spPr>
      </p:pic>
      <p:sp>
        <p:nvSpPr>
          <p:cNvPr id="14" name="Shape 10"/>
          <p:cNvSpPr/>
          <p:nvPr/>
        </p:nvSpPr>
        <p:spPr>
          <a:xfrm>
            <a:off x="6359525" y="2471936"/>
            <a:ext cx="2257425" cy="3366889"/>
          </a:xfrm>
          <a:prstGeom prst="roundRect">
            <a:avLst>
              <a:gd name="adj" fmla="val 5485"/>
            </a:avLst>
          </a:prstGeom>
          <a:solidFill>
            <a:srgbClr val="FFFFFF"/>
          </a:solidFill>
          <a:ln w="6350">
            <a:solidFill>
              <a:srgbClr val="DCE3DA"/>
            </a:solidFill>
            <a:prstDash val="solid"/>
          </a:ln>
        </p:spPr>
      </p:sp>
      <p:sp>
        <p:nvSpPr>
          <p:cNvPr id="15" name="Text 11"/>
          <p:cNvSpPr/>
          <p:nvPr/>
        </p:nvSpPr>
        <p:spPr>
          <a:xfrm>
            <a:off x="6616700" y="272911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Be Vietnam Pro" pitchFamily="34" charset="0"/>
                <a:ea typeface="Be Vietnam Pro" pitchFamily="34" charset="-122"/>
                <a:cs typeface="Be Vietnam Pro" pitchFamily="34" charset="-120"/>
              </a:rPr>
              <a:t>3</a:t>
            </a:r>
            <a:endParaRPr lang="en-US" sz="1200" dirty="0"/>
          </a:p>
        </p:txBody>
      </p:sp>
      <p:sp>
        <p:nvSpPr>
          <p:cNvPr id="16" name="Text 12"/>
          <p:cNvSpPr/>
          <p:nvPr/>
        </p:nvSpPr>
        <p:spPr>
          <a:xfrm>
            <a:off x="6616700" y="3211711"/>
            <a:ext cx="17953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Be Vietnam Pro" pitchFamily="34" charset="0"/>
                <a:ea typeface="Be Vietnam Pro" pitchFamily="34" charset="-122"/>
                <a:cs typeface="Be Vietnam Pro" pitchFamily="34" charset="-120"/>
              </a:rPr>
              <a:t>Daily catches</a:t>
            </a:r>
            <a:endParaRPr lang="en-US" sz="1800" dirty="0"/>
          </a:p>
        </p:txBody>
      </p:sp>
      <p:sp>
        <p:nvSpPr>
          <p:cNvPr id="17" name="Text 13"/>
          <p:cNvSpPr/>
          <p:nvPr/>
        </p:nvSpPr>
        <p:spPr>
          <a:xfrm>
            <a:off x="6616700" y="3612952"/>
            <a:ext cx="1795367"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New insects per day and flies per trap per day, to compare.</a:t>
            </a:r>
            <a:endParaRPr lang="en-US" sz="1300" dirty="0"/>
          </a:p>
        </p:txBody>
      </p:sp>
      <p:pic>
        <p:nvPicPr>
          <p:cNvPr id="18" name="Image 2" descr="arrow-right">    </p:cNvPr>
          <p:cNvPicPr>
            <a:picLocks noChangeAspect="1"/>
          </p:cNvPicPr>
          <p:nvPr/>
        </p:nvPicPr>
        <p:blipFill>
          <a:blip r:embed="rId3"/>
          <a:srcRect l="0" r="0" t="0" b="0"/>
          <a:stretch/>
        </p:blipFill>
        <p:spPr>
          <a:xfrm>
            <a:off x="8721725" y="4066480"/>
            <a:ext cx="304800" cy="177800"/>
          </a:xfrm>
          <a:prstGeom prst="rect">
            <a:avLst/>
          </a:prstGeom>
        </p:spPr>
      </p:pic>
      <p:sp>
        <p:nvSpPr>
          <p:cNvPr id="19" name="Shape 14"/>
          <p:cNvSpPr/>
          <p:nvPr/>
        </p:nvSpPr>
        <p:spPr>
          <a:xfrm>
            <a:off x="9128125" y="2468761"/>
            <a:ext cx="2251075" cy="3373239"/>
          </a:xfrm>
          <a:prstGeom prst="roundRect">
            <a:avLst>
              <a:gd name="adj" fmla="val 5642"/>
            </a:avLst>
          </a:prstGeom>
          <a:solidFill>
            <a:srgbClr val="13261D"/>
          </a:solidFill>
          <a:ln/>
        </p:spPr>
      </p:sp>
      <p:sp>
        <p:nvSpPr>
          <p:cNvPr id="20" name="Text 15"/>
          <p:cNvSpPr/>
          <p:nvPr/>
        </p:nvSpPr>
        <p:spPr>
          <a:xfrm>
            <a:off x="9382125" y="27227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Be Vietnam Pro" pitchFamily="34" charset="0"/>
                <a:ea typeface="Be Vietnam Pro" pitchFamily="34" charset="-122"/>
                <a:cs typeface="Be Vietnam Pro" pitchFamily="34" charset="-120"/>
              </a:rPr>
              <a:t>4</a:t>
            </a:r>
            <a:endParaRPr lang="en-US" sz="1200" dirty="0"/>
          </a:p>
        </p:txBody>
      </p:sp>
      <p:sp>
        <p:nvSpPr>
          <p:cNvPr id="21" name="Text 16"/>
          <p:cNvSpPr/>
          <p:nvPr/>
        </p:nvSpPr>
        <p:spPr>
          <a:xfrm>
            <a:off x="9382125" y="3205361"/>
            <a:ext cx="1795367"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1"/>
                </a:solidFill>
                <a:latin typeface="Be Vietnam Pro" pitchFamily="34" charset="0"/>
                <a:ea typeface="Be Vietnam Pro" pitchFamily="34" charset="-122"/>
                <a:cs typeface="Be Vietnam Pro" pitchFamily="34" charset="-120"/>
              </a:rPr>
              <a:t>Alerts and reports</a:t>
            </a:r>
            <a:endParaRPr lang="en-US" sz="1800" dirty="0"/>
          </a:p>
        </p:txBody>
      </p:sp>
      <p:sp>
        <p:nvSpPr>
          <p:cNvPr id="22" name="Text 17"/>
          <p:cNvSpPr/>
          <p:nvPr/>
        </p:nvSpPr>
        <p:spPr>
          <a:xfrm>
            <a:off x="9382125" y="3880842"/>
            <a:ext cx="1795367"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An alert as soon as a threshold is reached; reports on a schedule.</a:t>
            </a:r>
            <a:endParaRPr lang="en-US" sz="1300" dirty="0"/>
          </a:p>
        </p:txBody>
      </p:sp>
      <p:sp>
        <p:nvSpPr>
          <p:cNvPr id="23"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1230809"/>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Be Vietnam Pro" pitchFamily="34" charset="0"/>
                <a:ea typeface="Be Vietnam Pro" pitchFamily="34" charset="-122"/>
                <a:cs typeface="Be Vietnam Pro" pitchFamily="34" charset="-120"/>
              </a:rPr>
              <a:t>PRODUCT TOUR</a:t>
            </a:r>
            <a:endParaRPr lang="en-US" sz="1200" dirty="0"/>
          </a:p>
        </p:txBody>
      </p:sp>
      <p:sp>
        <p:nvSpPr>
          <p:cNvPr id="3" name="Text 1"/>
          <p:cNvSpPr/>
          <p:nvPr>
            <p:ph type="title"/>
          </p:nvPr>
        </p:nvSpPr>
        <p:spPr>
          <a:xfrm>
            <a:off x="812800" y="1596529"/>
            <a:ext cx="2930144"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7F1"/>
                </a:solidFill>
                <a:latin typeface="Be Vietnam Pro" pitchFamily="34" charset="0"/>
                <a:ea typeface="Be Vietnam Pro" pitchFamily="34" charset="-122"/>
                <a:cs typeface="Be Vietnam Pro" pitchFamily="34" charset="-120"/>
              </a:rPr>
              <a:t>FlyBot in 82 seconds</a:t>
            </a:r>
            <a:endParaRPr lang="en-US" sz="3200" dirty="0"/>
          </a:p>
        </p:txBody>
      </p:sp>
      <p:sp>
        <p:nvSpPr>
          <p:cNvPr id="4" name="Text 2"/>
          <p:cNvSpPr/>
          <p:nvPr/>
        </p:nvSpPr>
        <p:spPr>
          <a:xfrm>
            <a:off x="812800" y="2683570"/>
            <a:ext cx="2930144" cy="13589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D3C6"/>
                </a:solidFill>
                <a:latin typeface="Be Vietnam Pro" pitchFamily="34" charset="0"/>
                <a:ea typeface="Be Vietnam Pro" pitchFamily="34" charset="-122"/>
                <a:cs typeface="Be Vietnam Pro" pitchFamily="34" charset="-120"/>
              </a:rPr>
              <a:t>A walk through the app: overview, AI detection, cameras, analytics, reports, the FlyBot assistant and the quick tour.</a:t>
            </a:r>
            <a:endParaRPr lang="en-US" sz="1400" dirty="0"/>
          </a:p>
        </p:txBody>
      </p:sp>
      <p:sp>
        <p:nvSpPr>
          <p:cNvPr id="5" name="Text 3"/>
          <p:cNvSpPr/>
          <p:nvPr/>
        </p:nvSpPr>
        <p:spPr>
          <a:xfrm>
            <a:off x="812800" y="4169470"/>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C230"/>
                </a:solidFill>
                <a:latin typeface="Be Vietnam Pro" pitchFamily="34" charset="0"/>
                <a:ea typeface="Be Vietnam Pro" pitchFamily="34" charset="-122"/>
                <a:cs typeface="Be Vietnam Pro" pitchFamily="34" charset="-120"/>
              </a:rPr>
              <a:t>▶ </a:t>
            </a:r>
            <a:r>
              <a:rPr lang="en-US" sz="1400" b="1" u="sng" dirty="0">
                <a:solidFill>
                  <a:srgbClr val="F2C230"/>
                </a:solidFill>
                <a:latin typeface="Be Vietnam Pro" pitchFamily="34" charset="0"/>
                <a:ea typeface="Be Vietnam Pro" pitchFamily="34" charset="-122"/>
                <a:cs typeface="Be Vietnam Pro" pitchFamily="34" charset="-120"/>
                <a:hlinkClick r:id="rId1" invalidUrl="" action="" tgtFrame="" tooltip="" history="1" highlightClick="0" endSnd="0">
                  <a:extLst>
                    <a:ext uri="{A12FA001-AC4F-418D-AE19-62706E023703}">
                      <ahyp:hlinkClr xmlns:ahyp="http://schemas.microsoft.com/office/drawing/2018/hyperlinkcolor" val="tx"/>
                    </a:ext>
                  </a:extLst>
                </a:hlinkClick>
              </a:rPr>
              <a:t>Watch the video online</a:t>
            </a:r>
            <a:endParaRPr lang="en-US" sz="1400" dirty="0"/>
          </a:p>
        </p:txBody>
      </p:sp>
      <p:sp>
        <p:nvSpPr>
          <p:cNvPr id="6" name="Text 4"/>
          <p:cNvSpPr/>
          <p:nvPr/>
        </p:nvSpPr>
        <p:spPr>
          <a:xfrm>
            <a:off x="812800" y="4570710"/>
            <a:ext cx="293014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Be Vietnam Pro" pitchFamily="34" charset="0"/>
                <a:ea typeface="Be Vietnam Pro" pitchFamily="34" charset="-122"/>
                <a:cs typeface="Be Vietnam Pro" pitchFamily="34" charset="-120"/>
              </a:rPr>
              <a:t>It plays by itself when presented. In the PDF or PowerPoint file, click the video or the link above to watch the latest version on the website.</a:t>
            </a:r>
            <a:endParaRPr lang="en-US" sz="1200" dirty="0"/>
          </a:p>
        </p:txBody>
      </p:sp>
      <p:sp>
        <p:nvSpPr>
          <p:cNvPr id="7" name="Shape 5"/>
          <p:cNvSpPr/>
          <p:nvPr/>
        </p:nvSpPr>
        <p:spPr>
          <a:xfrm>
            <a:off x="4064000" y="1270000"/>
            <a:ext cx="7315200" cy="4114800"/>
          </a:xfrm>
          <a:prstGeom prst="roundRect">
            <a:avLst>
              <a:gd name="adj" fmla="val 2469"/>
            </a:avLst>
          </a:prstGeom>
          <a:solidFill>
            <a:srgbClr val="0B1712"/>
          </a:solidFill>
          <a:ln/>
          <a:effectLst>
            <a:outerShdw sx="100000" sy="100000" kx="0" ky="0" algn="bl" rotWithShape="0" blurRad="406400" dist="203200" dir="5400000">
              <a:srgbClr val="000000">
                <a:alpha val="35000"/>
              </a:srgbClr>
            </a:outerShdw>
          </a:effectLst>
        </p:spPr>
      </p:sp>
      <p:pic>
        <p:nvPicPr>
          <p:cNvPr id="8" name="Image 0" descr="FlyBot product tour: a walk through the main screens of the app">
            <a:hlinkClick r:id="rId5"/>
          </p:cNvPr>
          <p:cNvPicPr>
            <a:picLocks noChangeAspect="1"/>
          </p:cNvPicPr>
          <p:nvPr/>
        </p:nvPicPr>
        <p:blipFill>
          <a:blip r:embed="rId2"/>
          <a:srcRect l="-68" r="-68" t="0" b="0"/>
          <a:stretch/>
        </p:blipFill>
        <p:spPr>
          <a:xfrm>
            <a:off x="4070350" y="1276350"/>
            <a:ext cx="7302500" cy="4102100"/>
          </a:xfrm>
          <a:prstGeom prst="roundRect">
            <a:avLst>
              <a:gd name="adj" fmla="val 2322"/>
            </a:avLst>
          </a:prstGeom>
        </p:spPr>
      </p:pic>
      <p:sp>
        <p:nvSpPr>
          <p:cNvPr id="11" name="Play video">
            <a:hlinkClick r:id="rId5"/>
          </p:cNvPr>
          <p:cNvSpPr/>
          <p:nvPr/>
        </p:nvSpPr>
        <p:spPr>
          <a:xfrm>
            <a:off x="7352411" y="2958211"/>
            <a:ext cx="738378" cy="738378"/>
          </a:xfrm>
          <a:prstGeom prst="ellipse">
            <a:avLst/>
          </a:prstGeom>
          <a:solidFill>
            <a:srgbClr val="F2C230">
              <a:alpha val="92000"/>
            </a:srgbClr>
          </a:solidFill>
          <a:ln>
            <a:noFill/>
          </a:ln>
        </p:spPr>
      </p:sp>
      <p:sp>
        <p:nvSpPr>
          <p:cNvPr id="12" name="Play icon">
            <a:hlinkClick r:id="rId5"/>
          </p:cNvPr>
          <p:cNvSpPr/>
          <p:nvPr/>
        </p:nvSpPr>
        <p:spPr>
          <a:xfrm rot="5400000">
            <a:off x="7591350" y="3172341"/>
            <a:ext cx="310119" cy="310119"/>
          </a:xfrm>
          <a:prstGeom prst="triangle">
            <a:avLst/>
          </a:prstGeom>
          <a:solidFill>
            <a:srgbClr val="13261D">
              <a:alpha val="100000"/>
            </a:srgbClr>
          </a:solidFill>
          <a:ln>
            <a:noFill/>
          </a:ln>
        </p:spPr>
      </p:sp>
      <p:sp>
        <p:nvSpPr>
          <p:cNvPr id="9" name="Shape 6"/>
          <p:cNvSpPr/>
          <p:nvPr/>
        </p:nvSpPr>
        <p:spPr>
          <a:xfrm>
            <a:off x="4067175" y="1273175"/>
            <a:ext cx="7308850" cy="4108450"/>
          </a:xfrm>
          <a:prstGeom prst="roundRect">
            <a:avLst>
              <a:gd name="adj" fmla="val 2396"/>
            </a:avLst>
          </a:prstGeom>
          <a:noFill/>
          <a:ln w="6350">
            <a:solidFill>
              <a:srgbClr val="2E4A3B"/>
            </a:solidFill>
            <a:prstDash val="solid"/>
          </a:ln>
        </p:spPr>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Be Vietnam Pro" pitchFamily="34" charset="0"/>
                <a:ea typeface="Be Vietnam Pro" pitchFamily="34" charset="-122"/>
                <a:cs typeface="Be Vietnam Pro" pitchFamily="34" charset="-120"/>
              </a:rPr>
              <a:t>FlyBot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OVERVIEW</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The whole farm on one screen</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Overview screen: catches today, flies per trap per day, cameras online and risk level, with the list of traps">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Catches today</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New insects, not the running total on the sticky card.</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Flies per trap per day</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The standard figure to compare traps and weeks.</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Risk for every trap</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Against each trap's own threshold, with its latest AI photo.</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AI DETECTION</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Every insect boxed and named</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Sticky card photo with a detection box around every fruit fly and moth, and counts by species">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Boxes and species</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Each insect gets a box, a species and a confidence; counts by species.</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People review</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Confirm the result or correct the count right on the photo.</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An AI that improves</a:t>
            </a:r>
            <a:endParaRPr lang="en-US" sz="1600" dirty="0"/>
          </a:p>
        </p:txBody>
      </p:sp>
      <p:sp>
        <p:nvSpPr>
          <p:cNvPr id="12" name="Text 9"/>
          <p:cNvSpPr/>
          <p:nvPr/>
        </p:nvSpPr>
        <p:spPr>
          <a:xfrm>
            <a:off x="7569200" y="4308475"/>
            <a:ext cx="45720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Reviewed photos are sent to retrain the model.</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Be Vietnam Pro" pitchFamily="34" charset="0"/>
                <a:ea typeface="Be Vietnam Pro" pitchFamily="34" charset="-122"/>
                <a:cs typeface="Be Vietnam Pro" pitchFamily="34" charset="-120"/>
              </a:rPr>
              <a:t>TWO KINDS OF TRAP</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7F1"/>
                </a:solidFill>
                <a:latin typeface="Be Vietnam Pro" pitchFamily="34" charset="0"/>
                <a:ea typeface="Be Vietnam Pro" pitchFamily="34" charset="-122"/>
                <a:cs typeface="Be Vietnam Pro" pitchFamily="34" charset="-120"/>
              </a:rPr>
              <a:t>Each kind of trap is read its own way</a:t>
            </a:r>
            <a:endParaRPr lang="en-US" sz="3200" dirty="0"/>
          </a:p>
        </p:txBody>
      </p:sp>
      <p:sp>
        <p:nvSpPr>
          <p:cNvPr id="4" name="Shape 2"/>
          <p:cNvSpPr/>
          <p:nvPr/>
        </p:nvSpPr>
        <p:spPr>
          <a:xfrm>
            <a:off x="815975" y="2004616"/>
            <a:ext cx="5124450" cy="3834209"/>
          </a:xfrm>
          <a:prstGeom prst="roundRect">
            <a:avLst>
              <a:gd name="adj" fmla="val 3229"/>
            </a:avLst>
          </a:prstGeom>
          <a:solidFill>
            <a:srgbClr val="1E3A2C"/>
          </a:solidFill>
          <a:ln w="6350">
            <a:solidFill>
              <a:srgbClr val="2E4A3B"/>
            </a:solidFill>
            <a:prstDash val="solid"/>
          </a:ln>
        </p:spPr>
      </p:sp>
      <p:sp>
        <p:nvSpPr>
          <p:cNvPr id="5" name="Text 3"/>
          <p:cNvSpPr/>
          <p:nvPr/>
        </p:nvSpPr>
        <p:spPr>
          <a:xfrm>
            <a:off x="1174750" y="2363391"/>
            <a:ext cx="1524000" cy="314920"/>
          </a:xfrm>
          <a:prstGeom prst="roundRect">
            <a:avLst>
              <a:gd name="adj" fmla="val 50000"/>
            </a:avLst>
          </a:prstGeom>
          <a:solidFill>
            <a:srgbClr val="F2C230"/>
          </a:solidFill>
          <a:ln/>
        </p:spPr>
        <p:txBody>
          <a:bodyPr wrap="square" lIns="55481" tIns="4681" rIns="55481" bIns="0" rtlCol="0" anchor="t">
            <a:normAutofit/>
          </a:bodyPr>
          <a:lstStyle/>
          <a:p>
            <a:pPr algn="ctr"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Sticky trap</a:t>
            </a:r>
            <a:endParaRPr lang="en-US" sz="1200" dirty="0"/>
          </a:p>
        </p:txBody>
      </p:sp>
      <p:sp>
        <p:nvSpPr>
          <p:cNvPr id="6" name="Text 4"/>
          <p:cNvSpPr/>
          <p:nvPr/>
        </p:nvSpPr>
        <p:spPr>
          <a:xfrm>
            <a:off x="1174750" y="2856111"/>
            <a:ext cx="4539107"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5F7F1"/>
                </a:solidFill>
                <a:latin typeface="Be Vietnam Pro" pitchFamily="34" charset="0"/>
                <a:ea typeface="Be Vietnam Pro" pitchFamily="34" charset="-122"/>
                <a:cs typeface="Be Vietnam Pro" pitchFamily="34" charset="-120"/>
              </a:rPr>
              <a:t>Catches = the rise each day</a:t>
            </a:r>
            <a:endParaRPr lang="en-US" sz="2000" dirty="0"/>
          </a:p>
        </p:txBody>
      </p:sp>
      <p:sp>
        <p:nvSpPr>
          <p:cNvPr id="7" name="Text 5"/>
          <p:cNvSpPr/>
          <p:nvPr/>
        </p:nvSpPr>
        <p:spPr>
          <a:xfrm>
            <a:off x="1174750" y="3351411"/>
            <a:ext cx="4539107"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D3C6"/>
                </a:solidFill>
                <a:latin typeface="Be Vietnam Pro" pitchFamily="34" charset="0"/>
                <a:ea typeface="Be Vietnam Pro" pitchFamily="34" charset="-122"/>
                <a:cs typeface="Be Vietnam Pro" pitchFamily="34" charset="-120"/>
              </a:rPr>
              <a:t>The glue card keeps every insect it caught. FlyBot counts the new ones since yesterday, skips card-change days, and reminds you when a card is due.</a:t>
            </a:r>
            <a:endParaRPr lang="en-US" sz="1400" dirty="0"/>
          </a:p>
        </p:txBody>
      </p:sp>
      <p:sp>
        <p:nvSpPr>
          <p:cNvPr id="8" name="Shape 6"/>
          <p:cNvSpPr/>
          <p:nvPr/>
        </p:nvSpPr>
        <p:spPr>
          <a:xfrm>
            <a:off x="6251575" y="2004616"/>
            <a:ext cx="5124450" cy="3834209"/>
          </a:xfrm>
          <a:prstGeom prst="roundRect">
            <a:avLst>
              <a:gd name="adj" fmla="val 3229"/>
            </a:avLst>
          </a:prstGeom>
          <a:solidFill>
            <a:srgbClr val="1E3A2C"/>
          </a:solidFill>
          <a:ln w="6350">
            <a:solidFill>
              <a:srgbClr val="2E4A3B"/>
            </a:solidFill>
            <a:prstDash val="solid"/>
          </a:ln>
        </p:spPr>
      </p:sp>
      <p:sp>
        <p:nvSpPr>
          <p:cNvPr id="9" name="Text 7"/>
          <p:cNvSpPr/>
          <p:nvPr/>
        </p:nvSpPr>
        <p:spPr>
          <a:xfrm>
            <a:off x="6610350" y="2363391"/>
            <a:ext cx="1397000" cy="314920"/>
          </a:xfrm>
          <a:prstGeom prst="roundRect">
            <a:avLst>
              <a:gd name="adj" fmla="val 50000"/>
            </a:avLst>
          </a:prstGeom>
          <a:solidFill>
            <a:srgbClr val="7FD3A8"/>
          </a:solidFill>
          <a:ln/>
        </p:spPr>
        <p:txBody>
          <a:bodyPr wrap="square" lIns="55481" tIns="4681" rIns="55481" bIns="0" rtlCol="0" anchor="t">
            <a:normAutofit/>
          </a:bodyPr>
          <a:lstStyle/>
          <a:p>
            <a:pPr algn="ctr"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Lure trap</a:t>
            </a:r>
            <a:endParaRPr lang="en-US" sz="1200" dirty="0"/>
          </a:p>
        </p:txBody>
      </p:sp>
      <p:sp>
        <p:nvSpPr>
          <p:cNvPr id="10" name="Text 8"/>
          <p:cNvSpPr/>
          <p:nvPr/>
        </p:nvSpPr>
        <p:spPr>
          <a:xfrm>
            <a:off x="6610350" y="2856111"/>
            <a:ext cx="4539107"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5F7F1"/>
                </a:solidFill>
                <a:latin typeface="Be Vietnam Pro" pitchFamily="34" charset="0"/>
                <a:ea typeface="Be Vietnam Pro" pitchFamily="34" charset="-122"/>
                <a:cs typeface="Be Vietnam Pro" pitchFamily="34" charset="-120"/>
              </a:rPr>
              <a:t>Judged by the day's average</a:t>
            </a:r>
            <a:endParaRPr lang="en-US" sz="2000" dirty="0"/>
          </a:p>
        </p:txBody>
      </p:sp>
      <p:sp>
        <p:nvSpPr>
          <p:cNvPr id="11" name="Text 9"/>
          <p:cNvSpPr/>
          <p:nvPr/>
        </p:nvSpPr>
        <p:spPr>
          <a:xfrm>
            <a:off x="6610350" y="3351411"/>
            <a:ext cx="4539107"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D3C6"/>
                </a:solidFill>
                <a:latin typeface="Be Vietnam Pro" pitchFamily="34" charset="0"/>
                <a:ea typeface="Be Vietnam Pro" pitchFamily="34" charset="-122"/>
                <a:cs typeface="Be Vietnam Pro" pitchFamily="34" charset="-120"/>
              </a:rPr>
              <a:t>Flies come and go, so FlyBot uses the average per photo over the day. One crowded photo no longer raises a false alarm.</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Be Vietnam Pro" pitchFamily="34" charset="0"/>
                <a:ea typeface="Be Vietnam Pro" pitchFamily="34" charset="-122"/>
                <a:cs typeface="Be Vietnam Pro" pitchFamily="34" charset="-120"/>
              </a:rPr>
              <a:t>FlyBot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CAMERAS</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Watch live, play back and maintain traps</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Camera page: recordings on a timeline, the 24-hour bar and the trap card change history">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Live and snap now</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Live video from the camera; take and analyze a photo when you need one.</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Timeline playback</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Memory card recordings laid out by hour, day by day.</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Trap maintenance</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Log card changes and get a reminder when one is due.</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ALERTS</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Know the moment you need to go out</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Notification list: sudden surge, pest threshold reached, camera offline, trap card due">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At the right time</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Trap threshold reached, sudden surge, camera offline, card due.</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On the right channel</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In the app, push, email, Telegram; a 6:30 morning brief if turned on.</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Never noisy</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Pick the alert types, quiet hours and a cool-down between alerts.</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ANALYTICS AND HISTORY</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Every photo, filtered and exported</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Detection history: table of photos with counts, alert status and species, and the export menu with PDF and Excel with photos">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In-depth analysis</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Compare traps, temperature against catches, the busiest hours.</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Filters that fit</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By camera, period, alert level and review status.</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Export with photos</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PDF and Excel with boxed photos, one sheet per camera.</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REPORTS</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Reports that build and send themselves</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Season report: key figures, flies per day and insect species, with Export PDF, Email and Share buttons">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Pick the blocks</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Figures, charts, tables; 7 days to 12 months, against the period before.</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On a schedule</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Weekly or monthly, with the PDF, by email and Telegram.</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Sharing that ends</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Share with colleagues or a public link that expires.</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Be Vietnam Pro" pitchFamily="34" charset="0"/>
                <a:ea typeface="Be Vietnam Pro" pitchFamily="34" charset="-122"/>
                <a:cs typeface="Be Vietnam Pro" pitchFamily="34" charset="-120"/>
              </a:rPr>
              <a:t>AI ASSISTANT</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7F1"/>
                </a:solidFill>
                <a:latin typeface="Be Vietnam Pro" pitchFamily="34" charset="0"/>
                <a:ea typeface="Be Vietnam Pro" pitchFamily="34" charset="-122"/>
                <a:cs typeface="Be Vietnam Pro" pitchFamily="34" charset="-120"/>
              </a:rPr>
              <a:t>Ask in plain words; it looks up and acts</a:t>
            </a:r>
            <a:endParaRPr lang="en-US" sz="3200" dirty="0"/>
          </a:p>
        </p:txBody>
      </p:sp>
      <p:sp>
        <p:nvSpPr>
          <p:cNvPr id="4" name="Shape 2"/>
          <p:cNvSpPr/>
          <p:nvPr/>
        </p:nvSpPr>
        <p:spPr>
          <a:xfrm>
            <a:off x="815975" y="1953816"/>
            <a:ext cx="3181350" cy="3281759"/>
          </a:xfrm>
          <a:prstGeom prst="roundRect">
            <a:avLst>
              <a:gd name="adj" fmla="val 3892"/>
            </a:avLst>
          </a:prstGeom>
          <a:solidFill>
            <a:srgbClr val="1E3A2C"/>
          </a:solidFill>
          <a:ln w="6350">
            <a:solidFill>
              <a:srgbClr val="2E4A3B"/>
            </a:solidFill>
            <a:prstDash val="solid"/>
          </a:ln>
        </p:spPr>
      </p:sp>
      <p:pic>
        <p:nvPicPr>
          <p:cNvPr id="5" name="Image 0" descr="Chat">    </p:cNvPr>
          <p:cNvPicPr>
            <a:picLocks noChangeAspect="1"/>
          </p:cNvPicPr>
          <p:nvPr/>
        </p:nvPicPr>
        <p:blipFill>
          <a:blip r:embed="rId1"/>
          <a:srcRect l="0" r="0" t="0" b="0"/>
          <a:stretch/>
        </p:blipFill>
        <p:spPr>
          <a:xfrm>
            <a:off x="1073150" y="2210991"/>
            <a:ext cx="355600" cy="355600"/>
          </a:xfrm>
          <a:prstGeom prst="rect">
            <a:avLst/>
          </a:prstGeom>
        </p:spPr>
      </p:pic>
      <p:sp>
        <p:nvSpPr>
          <p:cNvPr id="6" name="Text 3"/>
          <p:cNvSpPr/>
          <p:nvPr/>
        </p:nvSpPr>
        <p:spPr>
          <a:xfrm>
            <a:off x="1073150" y="269359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1"/>
                </a:solidFill>
                <a:latin typeface="Be Vietnam Pro" pitchFamily="34" charset="0"/>
                <a:ea typeface="Be Vietnam Pro" pitchFamily="34" charset="-122"/>
                <a:cs typeface="Be Vietnam Pro" pitchFamily="34" charset="-120"/>
              </a:rPr>
              <a:t>You ask</a:t>
            </a:r>
            <a:endParaRPr lang="en-US" sz="1800" dirty="0"/>
          </a:p>
        </p:txBody>
      </p:sp>
      <p:sp>
        <p:nvSpPr>
          <p:cNvPr id="7" name="Text 4"/>
          <p:cNvSpPr/>
          <p:nvPr/>
        </p:nvSpPr>
        <p:spPr>
          <a:xfrm>
            <a:off x="1073150" y="3094831"/>
            <a:ext cx="2747010"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"Which trap is worst?"</a:t>
            </a:r>
            <a:endParaRPr lang="en-US" sz="1300" dirty="0"/>
          </a:p>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"Did last week's spray work?"</a:t>
            </a:r>
            <a:endParaRPr lang="en-US" sz="1300" dirty="0"/>
          </a:p>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"I replaced the card on trap A1."</a:t>
            </a:r>
            <a:endParaRPr lang="en-US" sz="1300" dirty="0"/>
          </a:p>
        </p:txBody>
      </p:sp>
      <p:pic>
        <p:nvPicPr>
          <p:cNvPr id="8" name="Image 1" descr="arrow-right">    </p:cNvPr>
          <p:cNvPicPr>
            <a:picLocks noChangeAspect="1"/>
          </p:cNvPicPr>
          <p:nvPr/>
        </p:nvPicPr>
        <p:blipFill>
          <a:blip r:embed="rId2"/>
          <a:srcRect l="0" r="0" t="0" b="0"/>
          <a:stretch/>
        </p:blipFill>
        <p:spPr>
          <a:xfrm>
            <a:off x="4102100" y="3505795"/>
            <a:ext cx="304800" cy="177800"/>
          </a:xfrm>
          <a:prstGeom prst="rect">
            <a:avLst/>
          </a:prstGeom>
        </p:spPr>
      </p:pic>
      <p:sp>
        <p:nvSpPr>
          <p:cNvPr id="9" name="Shape 5"/>
          <p:cNvSpPr/>
          <p:nvPr/>
        </p:nvSpPr>
        <p:spPr>
          <a:xfrm>
            <a:off x="4511675" y="1953816"/>
            <a:ext cx="3181350" cy="3281759"/>
          </a:xfrm>
          <a:prstGeom prst="roundRect">
            <a:avLst>
              <a:gd name="adj" fmla="val 3892"/>
            </a:avLst>
          </a:prstGeom>
          <a:solidFill>
            <a:srgbClr val="1E3A2C"/>
          </a:solidFill>
          <a:ln w="6350">
            <a:solidFill>
              <a:srgbClr val="2E4A3B"/>
            </a:solidFill>
            <a:prstDash val="solid"/>
          </a:ln>
        </p:spPr>
      </p:sp>
      <p:pic>
        <p:nvPicPr>
          <p:cNvPr id="10" name="Image 2" descr="Tool">    </p:cNvPr>
          <p:cNvPicPr>
            <a:picLocks noChangeAspect="1"/>
          </p:cNvPicPr>
          <p:nvPr/>
        </p:nvPicPr>
        <p:blipFill>
          <a:blip r:embed="rId3"/>
          <a:srcRect l="0" r="0" t="0" b="0"/>
          <a:stretch/>
        </p:blipFill>
        <p:spPr>
          <a:xfrm>
            <a:off x="4768850" y="2210991"/>
            <a:ext cx="355600" cy="355600"/>
          </a:xfrm>
          <a:prstGeom prst="rect">
            <a:avLst/>
          </a:prstGeom>
        </p:spPr>
      </p:pic>
      <p:sp>
        <p:nvSpPr>
          <p:cNvPr id="11" name="Text 6"/>
          <p:cNvSpPr/>
          <p:nvPr/>
        </p:nvSpPr>
        <p:spPr>
          <a:xfrm>
            <a:off x="4768850" y="269359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1"/>
                </a:solidFill>
                <a:latin typeface="Be Vietnam Pro" pitchFamily="34" charset="0"/>
                <a:ea typeface="Be Vietnam Pro" pitchFamily="34" charset="-122"/>
                <a:cs typeface="Be Vietnam Pro" pitchFamily="34" charset="-120"/>
              </a:rPr>
              <a:t>It picks its tools</a:t>
            </a:r>
            <a:endParaRPr lang="en-US" sz="1800" dirty="0"/>
          </a:p>
        </p:txBody>
      </p:sp>
      <p:sp>
        <p:nvSpPr>
          <p:cNvPr id="12" name="Text 7"/>
          <p:cNvSpPr/>
          <p:nvPr/>
        </p:nvSpPr>
        <p:spPr>
          <a:xfrm>
            <a:off x="4768850" y="3094831"/>
            <a:ext cx="2747010"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Trap figures, week-on-week, alerts, reports, logbook; looks at a photo; takes a photo, emails a report.</a:t>
            </a:r>
            <a:endParaRPr lang="en-US" sz="1300" dirty="0"/>
          </a:p>
        </p:txBody>
      </p:sp>
      <p:pic>
        <p:nvPicPr>
          <p:cNvPr id="13" name="Image 3" descr="arrow-right">    </p:cNvPr>
          <p:cNvPicPr>
            <a:picLocks noChangeAspect="1"/>
          </p:cNvPicPr>
          <p:nvPr/>
        </p:nvPicPr>
        <p:blipFill>
          <a:blip r:embed="rId4"/>
          <a:srcRect l="0" r="0" t="0" b="0"/>
          <a:stretch/>
        </p:blipFill>
        <p:spPr>
          <a:xfrm>
            <a:off x="7797800" y="3505795"/>
            <a:ext cx="304800" cy="177800"/>
          </a:xfrm>
          <a:prstGeom prst="rect">
            <a:avLst/>
          </a:prstGeom>
        </p:spPr>
      </p:pic>
      <p:sp>
        <p:nvSpPr>
          <p:cNvPr id="14" name="Shape 8"/>
          <p:cNvSpPr/>
          <p:nvPr/>
        </p:nvSpPr>
        <p:spPr>
          <a:xfrm>
            <a:off x="8204200" y="1950641"/>
            <a:ext cx="3175000" cy="3288109"/>
          </a:xfrm>
          <a:prstGeom prst="roundRect">
            <a:avLst>
              <a:gd name="adj" fmla="val 4000"/>
            </a:avLst>
          </a:prstGeom>
          <a:solidFill>
            <a:srgbClr val="F5F7F1"/>
          </a:solidFill>
          <a:ln/>
        </p:spPr>
      </p:sp>
      <p:pic>
        <p:nvPicPr>
          <p:cNvPr id="15" name="Image 4" descr="CheckCircle">    </p:cNvPr>
          <p:cNvPicPr>
            <a:picLocks noChangeAspect="1"/>
          </p:cNvPicPr>
          <p:nvPr/>
        </p:nvPicPr>
        <p:blipFill>
          <a:blip r:embed="rId5"/>
          <a:srcRect l="0" r="0" t="0" b="0"/>
          <a:stretch/>
        </p:blipFill>
        <p:spPr>
          <a:xfrm>
            <a:off x="8458200" y="2204641"/>
            <a:ext cx="355600" cy="355600"/>
          </a:xfrm>
          <a:prstGeom prst="rect">
            <a:avLst/>
          </a:prstGeom>
        </p:spPr>
      </p:pic>
      <p:sp>
        <p:nvSpPr>
          <p:cNvPr id="16" name="Text 9"/>
          <p:cNvSpPr/>
          <p:nvPr/>
        </p:nvSpPr>
        <p:spPr>
          <a:xfrm>
            <a:off x="8458200" y="268724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Be Vietnam Pro" pitchFamily="34" charset="0"/>
                <a:ea typeface="Be Vietnam Pro" pitchFamily="34" charset="-122"/>
                <a:cs typeface="Be Vietnam Pro" pitchFamily="34" charset="-120"/>
              </a:rPr>
              <a:t>Answers and guides</a:t>
            </a:r>
            <a:endParaRPr lang="en-US" sz="1800" dirty="0"/>
          </a:p>
        </p:txBody>
      </p:sp>
      <p:sp>
        <p:nvSpPr>
          <p:cNvPr id="17" name="Text 10"/>
          <p:cNvSpPr/>
          <p:nvPr/>
        </p:nvSpPr>
        <p:spPr>
          <a:xfrm>
            <a:off x="8458200" y="3088481"/>
            <a:ext cx="2747010"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Streams its answer with photos and charts, opens the right screen. Changes are saved only on your Confirm.</a:t>
            </a:r>
            <a:endParaRPr lang="en-US" sz="1300" dirty="0"/>
          </a:p>
        </p:txBody>
      </p:sp>
      <p:sp>
        <p:nvSpPr>
          <p:cNvPr id="18" name="Text 11"/>
          <p:cNvSpPr/>
          <p:nvPr/>
        </p:nvSpPr>
        <p:spPr>
          <a:xfrm>
            <a:off x="812800" y="5594350"/>
            <a:ext cx="1088339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The assistant only sees the cameras you may see, and never changes settings or accounts.</a:t>
            </a:r>
            <a:endParaRPr lang="en-US" sz="1300" dirty="0"/>
          </a:p>
        </p:txBody>
      </p:sp>
      <p:sp>
        <p:nvSpPr>
          <p:cNvPr id="19"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Be Vietnam Pro" pitchFamily="34" charset="0"/>
                <a:ea typeface="Be Vietnam Pro" pitchFamily="34" charset="-122"/>
                <a:cs typeface="Be Vietnam Pro" pitchFamily="34" charset="-120"/>
              </a:rPr>
              <a:t>FlyBot · 12 · Full guide: </a:t>
            </a:r>
            <a:r>
              <a:rPr lang="en-US" sz="1200" u="sng" dirty="0">
                <a:solidFill>
                  <a:srgbClr val="8FA898"/>
                </a:solidFill>
                <a:latin typeface="Be Vietnam Pro" pitchFamily="34" charset="0"/>
                <a:ea typeface="Be Vietnam Pro" pitchFamily="34" charset="-122"/>
                <a:cs typeface="Be Vietnam Pro" pitchFamily="34" charset="-120"/>
                <a:hlinkClick r:id="rId6" invalidUrl="" action="" tgtFrame="" tooltip="" history="1" highlightClick="0" endSnd="0">
                  <a:extLst>
                    <a:ext uri="{A12FA001-AC4F-418D-AE19-62706E023703}">
                      <ahyp:hlinkClr xmlns:ahyp="http://schemas.microsoft.com/office/drawing/2018/hyperlinkcolor" val="tx"/>
                    </a:ext>
                  </a:extLst>
                </a:hlinkClick>
              </a:rPr>
              <a:t>ezviz.agrhub.com/manual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Be Vietnam Pro" pitchFamily="34" charset="0"/>
                <a:ea typeface="Be Vietnam Pro" pitchFamily="34" charset="-122"/>
                <a:cs typeface="Be Vietnam Pro" pitchFamily="34" charset="-120"/>
              </a:rPr>
              <a:t>THE ASSISTANT IN THE APP</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Be Vietnam Pro" pitchFamily="34" charset="0"/>
                <a:ea typeface="Be Vietnam Pro" pitchFamily="34" charset="-122"/>
                <a:cs typeface="Be Vietnam Pro" pitchFamily="34" charset="-120"/>
              </a:rPr>
              <a:t>Answers with photos, charts and buttons</a:t>
            </a:r>
            <a:endParaRPr lang="en-US" sz="3200" dirty="0"/>
          </a:p>
        </p:txBody>
      </p:sp>
      <p:sp>
        <p:nvSpPr>
          <p:cNvPr id="4" name="Text 2"/>
          <p:cNvSpPr/>
          <p:nvPr/>
        </p:nvSpPr>
        <p:spPr>
          <a:xfrm>
            <a:off x="8128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Latest AI photos</a:t>
            </a:r>
            <a:endParaRPr lang="en-US" sz="1200" dirty="0"/>
          </a:p>
        </p:txBody>
      </p:sp>
      <p:sp>
        <p:nvSpPr>
          <p:cNvPr id="5" name="Shape 3"/>
          <p:cNvSpPr/>
          <p:nvPr/>
        </p:nvSpPr>
        <p:spPr>
          <a:xfrm>
            <a:off x="812800" y="2138561"/>
            <a:ext cx="2489200" cy="368300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6" name="Image 0" descr="The assistant answers with the 4 latest trap photos and their counts">    </p:cNvPr>
          <p:cNvPicPr>
            <a:picLocks noChangeAspect="1"/>
          </p:cNvPicPr>
          <p:nvPr/>
        </p:nvPicPr>
        <p:blipFill>
          <a:blip r:embed="rId1"/>
          <a:srcRect l="0" r="0" t="-79" b="-79"/>
          <a:stretch/>
        </p:blipFill>
        <p:spPr>
          <a:xfrm>
            <a:off x="819150" y="2144911"/>
            <a:ext cx="2476500" cy="3670300"/>
          </a:xfrm>
          <a:prstGeom prst="roundRect">
            <a:avLst>
              <a:gd name="adj" fmla="val 3846"/>
            </a:avLst>
          </a:prstGeom>
        </p:spPr>
      </p:pic>
      <p:sp>
        <p:nvSpPr>
          <p:cNvPr id="7" name="Shape 4"/>
          <p:cNvSpPr/>
          <p:nvPr/>
        </p:nvSpPr>
        <p:spPr>
          <a:xfrm>
            <a:off x="815975" y="2141736"/>
            <a:ext cx="2482850" cy="3676650"/>
          </a:xfrm>
          <a:prstGeom prst="roundRect">
            <a:avLst>
              <a:gd name="adj" fmla="val 3964"/>
            </a:avLst>
          </a:prstGeom>
          <a:noFill/>
          <a:ln w="6350">
            <a:solidFill>
              <a:srgbClr val="DCE3DA"/>
            </a:solidFill>
            <a:prstDash val="solid"/>
          </a:ln>
        </p:spPr>
      </p:sp>
      <p:sp>
        <p:nvSpPr>
          <p:cNvPr id="8" name="Text 5"/>
          <p:cNvSpPr/>
          <p:nvPr/>
        </p:nvSpPr>
        <p:spPr>
          <a:xfrm>
            <a:off x="35052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Charts in the chat</a:t>
            </a:r>
            <a:endParaRPr lang="en-US" sz="1200" dirty="0"/>
          </a:p>
        </p:txBody>
      </p:sp>
      <p:sp>
        <p:nvSpPr>
          <p:cNvPr id="9" name="Shape 6"/>
          <p:cNvSpPr/>
          <p:nvPr/>
        </p:nvSpPr>
        <p:spPr>
          <a:xfrm>
            <a:off x="3505200" y="2138561"/>
            <a:ext cx="2489200" cy="279400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10" name="Image 1" descr="The assistant answers about the last 24 hours with a catches-by-hour chart">    </p:cNvPr>
          <p:cNvPicPr>
            <a:picLocks noChangeAspect="1"/>
          </p:cNvPicPr>
          <p:nvPr/>
        </p:nvPicPr>
        <p:blipFill>
          <a:blip r:embed="rId2"/>
          <a:srcRect l="0" r="0" t="-61" b="-61"/>
          <a:stretch/>
        </p:blipFill>
        <p:spPr>
          <a:xfrm>
            <a:off x="3511550" y="2144911"/>
            <a:ext cx="2476500" cy="2781300"/>
          </a:xfrm>
          <a:prstGeom prst="roundRect">
            <a:avLst>
              <a:gd name="adj" fmla="val 3846"/>
            </a:avLst>
          </a:prstGeom>
        </p:spPr>
      </p:pic>
      <p:sp>
        <p:nvSpPr>
          <p:cNvPr id="11" name="Shape 7"/>
          <p:cNvSpPr/>
          <p:nvPr/>
        </p:nvSpPr>
        <p:spPr>
          <a:xfrm>
            <a:off x="3508375" y="2141736"/>
            <a:ext cx="2482850" cy="2787650"/>
          </a:xfrm>
          <a:prstGeom prst="roundRect">
            <a:avLst>
              <a:gd name="adj" fmla="val 3964"/>
            </a:avLst>
          </a:prstGeom>
          <a:noFill/>
          <a:ln w="6350">
            <a:solidFill>
              <a:srgbClr val="DCE3DA"/>
            </a:solidFill>
            <a:prstDash val="solid"/>
          </a:ln>
        </p:spPr>
      </p:sp>
      <p:sp>
        <p:nvSpPr>
          <p:cNvPr id="12" name="Text 8"/>
          <p:cNvSpPr/>
          <p:nvPr/>
        </p:nvSpPr>
        <p:spPr>
          <a:xfrm>
            <a:off x="61976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Ask about a photo</a:t>
            </a:r>
            <a:endParaRPr lang="en-US" sz="1200" dirty="0"/>
          </a:p>
        </p:txBody>
      </p:sp>
      <p:sp>
        <p:nvSpPr>
          <p:cNvPr id="13" name="Shape 9"/>
          <p:cNvSpPr/>
          <p:nvPr/>
        </p:nvSpPr>
        <p:spPr>
          <a:xfrm>
            <a:off x="6197600" y="2138561"/>
            <a:ext cx="2489200" cy="344805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14" name="Image 2" descr="The assistant looks at a trap photo and comments on the count and the image quality">    </p:cNvPr>
          <p:cNvPicPr>
            <a:picLocks noChangeAspect="1"/>
          </p:cNvPicPr>
          <p:nvPr/>
        </p:nvPicPr>
        <p:blipFill>
          <a:blip r:embed="rId3"/>
          <a:srcRect l="0" r="0" t="-106" b="-106"/>
          <a:stretch/>
        </p:blipFill>
        <p:spPr>
          <a:xfrm>
            <a:off x="6203950" y="2144911"/>
            <a:ext cx="2476500" cy="3435350"/>
          </a:xfrm>
          <a:prstGeom prst="roundRect">
            <a:avLst>
              <a:gd name="adj" fmla="val 3846"/>
            </a:avLst>
          </a:prstGeom>
        </p:spPr>
      </p:pic>
      <p:sp>
        <p:nvSpPr>
          <p:cNvPr id="15" name="Shape 10"/>
          <p:cNvSpPr/>
          <p:nvPr/>
        </p:nvSpPr>
        <p:spPr>
          <a:xfrm>
            <a:off x="6200775" y="2141736"/>
            <a:ext cx="2482850" cy="3441700"/>
          </a:xfrm>
          <a:prstGeom prst="roundRect">
            <a:avLst>
              <a:gd name="adj" fmla="val 3964"/>
            </a:avLst>
          </a:prstGeom>
          <a:noFill/>
          <a:ln w="6350">
            <a:solidFill>
              <a:srgbClr val="DCE3DA"/>
            </a:solidFill>
            <a:prstDash val="solid"/>
          </a:ln>
        </p:spPr>
      </p:sp>
      <p:sp>
        <p:nvSpPr>
          <p:cNvPr id="16" name="Text 11"/>
          <p:cNvSpPr/>
          <p:nvPr/>
        </p:nvSpPr>
        <p:spPr>
          <a:xfrm>
            <a:off x="88900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Be Vietnam Pro" pitchFamily="34" charset="0"/>
                <a:ea typeface="Be Vietnam Pro" pitchFamily="34" charset="-122"/>
                <a:cs typeface="Be Vietnam Pro" pitchFamily="34" charset="-120"/>
              </a:rPr>
              <a:t>Saved on your Confirm</a:t>
            </a:r>
            <a:endParaRPr lang="en-US" sz="1200" dirty="0"/>
          </a:p>
        </p:txBody>
      </p:sp>
      <p:sp>
        <p:nvSpPr>
          <p:cNvPr id="17" name="Shape 12"/>
          <p:cNvSpPr/>
          <p:nvPr/>
        </p:nvSpPr>
        <p:spPr>
          <a:xfrm>
            <a:off x="8890000" y="2138561"/>
            <a:ext cx="2489200" cy="2152650"/>
          </a:xfrm>
          <a:prstGeom prst="roundRect">
            <a:avLst>
              <a:gd name="adj" fmla="val 4720"/>
            </a:avLst>
          </a:prstGeom>
          <a:solidFill>
            <a:srgbClr val="FFFFFF"/>
          </a:solidFill>
          <a:ln/>
          <a:effectLst>
            <a:outerShdw sx="100000" sy="100000" kx="0" ky="0" algn="bl" rotWithShape="0" blurRad="203200" dist="101600" dir="5400000">
              <a:srgbClr val="13261D">
                <a:alpha val="10000"/>
              </a:srgbClr>
            </a:outerShdw>
          </a:effectLst>
        </p:spPr>
      </p:sp>
      <p:pic>
        <p:nvPicPr>
          <p:cNvPr id="18" name="Image 3" descr="A sticky card change card with Confirm and Cancel buttons">    </p:cNvPr>
          <p:cNvPicPr>
            <a:picLocks noChangeAspect="1"/>
          </p:cNvPicPr>
          <p:nvPr/>
        </p:nvPicPr>
        <p:blipFill>
          <a:blip r:embed="rId4"/>
          <a:srcRect l="0" r="0" t="-8" b="-8"/>
          <a:stretch/>
        </p:blipFill>
        <p:spPr>
          <a:xfrm>
            <a:off x="8896350" y="2144911"/>
            <a:ext cx="2476500" cy="2139950"/>
          </a:xfrm>
          <a:prstGeom prst="roundRect">
            <a:avLst>
              <a:gd name="adj" fmla="val 4451"/>
            </a:avLst>
          </a:prstGeom>
        </p:spPr>
      </p:pic>
      <p:sp>
        <p:nvSpPr>
          <p:cNvPr id="19" name="Shape 13"/>
          <p:cNvSpPr/>
          <p:nvPr/>
        </p:nvSpPr>
        <p:spPr>
          <a:xfrm>
            <a:off x="8893175" y="2141736"/>
            <a:ext cx="2482850" cy="2146300"/>
          </a:xfrm>
          <a:prstGeom prst="roundRect">
            <a:avLst>
              <a:gd name="adj" fmla="val 4586"/>
            </a:avLst>
          </a:prstGeom>
          <a:noFill/>
          <a:ln w="6350">
            <a:solidFill>
              <a:srgbClr val="DCE3DA"/>
            </a:solidFill>
            <a:prstDash val="solid"/>
          </a:ln>
        </p:spPr>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13 · Full guide: </a:t>
            </a:r>
            <a:r>
              <a:rPr lang="en-US" sz="1200" u="sng" dirty="0">
                <a:solidFill>
                  <a:srgbClr val="6B7B70"/>
                </a:solidFill>
                <a:latin typeface="Be Vietnam Pro" pitchFamily="34" charset="0"/>
                <a:ea typeface="Be Vietnam Pro" pitchFamily="34" charset="-122"/>
                <a:cs typeface="Be Vietnam Pro" pitchFamily="34" charset="-120"/>
                <a:hlinkClick r:id="rId5" invalidUrl="" action="" tgtFrame="" tooltip="" history="1" highlightClick="0" endSnd="0">
                  <a:extLst>
                    <a:ext uri="{A12FA001-AC4F-418D-AE19-62706E023703}">
                      <ahyp:hlinkClr xmlns:ahyp="http://schemas.microsoft.com/office/drawing/2018/hyperlinkcolor" val="tx"/>
                    </a:ext>
                  </a:extLst>
                </a:hlinkClick>
              </a:rPr>
              <a:t>ezviz.agrhub.com/manual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Be Vietnam Pro" pitchFamily="34" charset="0"/>
                <a:ea typeface="Be Vietnam Pro" pitchFamily="34" charset="-122"/>
                <a:cs typeface="Be Vietnam Pro" pitchFamily="34" charset="-120"/>
              </a:rPr>
              <a:t>FARMS, MAP AND LOGBOOK</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Be Vietnam Pro" pitchFamily="34" charset="0"/>
                <a:ea typeface="Be Vietnam Pro" pitchFamily="34" charset="-122"/>
                <a:cs typeface="Be Vietnam Pro" pitchFamily="34" charset="-120"/>
              </a:rPr>
              <a:t>See which treatments really work</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Farm logbook: sprays and orchard sanitation with their measured effect on catches, and the VietGAP export button">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Farms, plots and map</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Traps belong to plots; a heat map shows the pest hot spots.</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Treatment log</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Every spray or bait, with its measured effect on catches.</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VietGAP record</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Export the pesticide use record in the VietGAP layout.</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1"/>
        </a:solidFill>
      </p:bgPr>
    </p:bg>
    <p:spTree>
      <p:nvGrpSpPr>
        <p:cNvPr id="1" name=""/>
        <p:cNvGrpSpPr/>
        <p:nvPr/>
      </p:nvGrpSpPr>
      <p:grpSpPr>
        <a:xfrm>
          <a:off x="0" y="0"/>
          <a:ext cx="0" cy="0"/>
          <a:chOff x="0" y="0"/>
          <a:chExt cx="0" cy="0"/>
        </a:xfrm>
      </p:grpSpPr>
      <p:sp>
        <p:nvSpPr>
          <p:cNvPr id="2" name="Shape 0"/>
          <p:cNvSpPr/>
          <p:nvPr/>
        </p:nvSpPr>
        <p:spPr>
          <a:xfrm>
            <a:off x="812800" y="838200"/>
            <a:ext cx="2298700" cy="4978400"/>
          </a:xfrm>
          <a:prstGeom prst="roundRect">
            <a:avLst>
              <a:gd name="adj" fmla="val 8840"/>
            </a:avLst>
          </a:prstGeom>
          <a:solidFill>
            <a:srgbClr val="FFFFFF"/>
          </a:solidFill>
          <a:ln/>
          <a:effectLst>
            <a:outerShdw sx="100000" sy="100000" kx="0" ky="0" algn="bl" rotWithShape="0" blurRad="304800" dist="152400" dir="5400000">
              <a:srgbClr val="13261D">
                <a:alpha val="12000"/>
              </a:srgbClr>
            </a:outerShdw>
          </a:effectLst>
        </p:spPr>
      </p:sp>
      <p:pic>
        <p:nvPicPr>
          <p:cNvPr id="3" name="Image 0" descr="FlyBot on a phone: the overview screen with the bottom navigation bar">    </p:cNvPr>
          <p:cNvPicPr>
            <a:picLocks noChangeAspect="1"/>
          </p:cNvPicPr>
          <p:nvPr/>
        </p:nvPicPr>
        <p:blipFill>
          <a:blip r:embed="rId1"/>
          <a:srcRect l="0" r="0" t="-188" b="-188"/>
          <a:stretch/>
        </p:blipFill>
        <p:spPr>
          <a:xfrm>
            <a:off x="819150" y="844550"/>
            <a:ext cx="2286000" cy="4965700"/>
          </a:xfrm>
          <a:prstGeom prst="roundRect">
            <a:avLst>
              <a:gd name="adj" fmla="val 8611"/>
            </a:avLst>
          </a:prstGeom>
        </p:spPr>
      </p:pic>
      <p:sp>
        <p:nvSpPr>
          <p:cNvPr id="4" name="Shape 1"/>
          <p:cNvSpPr/>
          <p:nvPr/>
        </p:nvSpPr>
        <p:spPr>
          <a:xfrm>
            <a:off x="815975" y="841375"/>
            <a:ext cx="2292350" cy="4972050"/>
          </a:xfrm>
          <a:prstGeom prst="roundRect">
            <a:avLst>
              <a:gd name="adj" fmla="val 8726"/>
            </a:avLst>
          </a:prstGeom>
          <a:noFill/>
          <a:ln w="6350">
            <a:solidFill>
              <a:srgbClr val="DCE3DA"/>
            </a:solidFill>
            <a:prstDash val="solid"/>
          </a:ln>
        </p:spPr>
      </p:sp>
      <p:sp>
        <p:nvSpPr>
          <p:cNvPr id="5" name="Text 2"/>
          <p:cNvSpPr/>
          <p:nvPr/>
        </p:nvSpPr>
        <p:spPr>
          <a:xfrm>
            <a:off x="3721100" y="1750120"/>
            <a:ext cx="788784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Be Vietnam Pro" pitchFamily="34" charset="0"/>
                <a:ea typeface="Be Vietnam Pro" pitchFamily="34" charset="-122"/>
                <a:cs typeface="Be Vietnam Pro" pitchFamily="34" charset="-120"/>
              </a:rPr>
              <a:t>PHONE AND TEAM</a:t>
            </a:r>
            <a:endParaRPr lang="en-US" sz="1200" dirty="0"/>
          </a:p>
        </p:txBody>
      </p:sp>
      <p:sp>
        <p:nvSpPr>
          <p:cNvPr id="6" name="Text 3"/>
          <p:cNvSpPr/>
          <p:nvPr>
            <p:ph type="title"/>
          </p:nvPr>
        </p:nvSpPr>
        <p:spPr>
          <a:xfrm>
            <a:off x="3721100" y="2065040"/>
            <a:ext cx="7887843"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Be Vietnam Pro" pitchFamily="34" charset="0"/>
                <a:ea typeface="Be Vietnam Pro" pitchFamily="34" charset="-122"/>
                <a:cs typeface="Be Vietnam Pro" pitchFamily="34" charset="-120"/>
              </a:rPr>
              <a:t>The whole team on board, each with the right access</a:t>
            </a:r>
            <a:endParaRPr lang="en-US" sz="3200" dirty="0"/>
          </a:p>
        </p:txBody>
      </p:sp>
      <p:sp>
        <p:nvSpPr>
          <p:cNvPr id="7" name="Text 4"/>
          <p:cNvSpPr/>
          <p:nvPr/>
        </p:nvSpPr>
        <p:spPr>
          <a:xfrm>
            <a:off x="3721100" y="3304480"/>
            <a:ext cx="39439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Installs like an app</a:t>
            </a:r>
            <a:endParaRPr lang="en-US" sz="1600" dirty="0"/>
          </a:p>
        </p:txBody>
      </p:sp>
      <p:sp>
        <p:nvSpPr>
          <p:cNvPr id="8" name="Text 5"/>
          <p:cNvSpPr/>
          <p:nvPr/>
        </p:nvSpPr>
        <p:spPr>
          <a:xfrm>
            <a:off x="3721100" y="3609280"/>
            <a:ext cx="394392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Works on the phone with push notifications, in English and Vietnamese.</a:t>
            </a:r>
            <a:endParaRPr lang="en-US" sz="1300" dirty="0"/>
          </a:p>
        </p:txBody>
      </p:sp>
      <p:sp>
        <p:nvSpPr>
          <p:cNvPr id="9" name="Text 6"/>
          <p:cNvSpPr/>
          <p:nvPr/>
        </p:nvSpPr>
        <p:spPr>
          <a:xfrm>
            <a:off x="7550150" y="3304480"/>
            <a:ext cx="39439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Roles</a:t>
            </a:r>
            <a:endParaRPr lang="en-US" sz="1600" dirty="0"/>
          </a:p>
        </p:txBody>
      </p:sp>
      <p:sp>
        <p:nvSpPr>
          <p:cNvPr id="10" name="Text 7"/>
          <p:cNvSpPr/>
          <p:nvPr/>
        </p:nvSpPr>
        <p:spPr>
          <a:xfrm>
            <a:off x="7550150" y="3609280"/>
            <a:ext cx="394392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Admin, manager, viewer; share single cameras or a whole organization.</a:t>
            </a:r>
            <a:endParaRPr lang="en-US" sz="1300" dirty="0"/>
          </a:p>
        </p:txBody>
      </p:sp>
      <p:sp>
        <p:nvSpPr>
          <p:cNvPr id="11" name="Text 8"/>
          <p:cNvSpPr/>
          <p:nvPr/>
        </p:nvSpPr>
        <p:spPr>
          <a:xfrm>
            <a:off x="3721100" y="4104580"/>
            <a:ext cx="39439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Connects to your systems</a:t>
            </a:r>
            <a:endParaRPr lang="en-US" sz="1600" dirty="0"/>
          </a:p>
        </p:txBody>
      </p:sp>
      <p:sp>
        <p:nvSpPr>
          <p:cNvPr id="12" name="Text 9"/>
          <p:cNvSpPr/>
          <p:nvPr/>
        </p:nvSpPr>
        <p:spPr>
          <a:xfrm>
            <a:off x="3721100" y="4409380"/>
            <a:ext cx="394392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API keys and webhooks to bring the data into your own software.</a:t>
            </a:r>
            <a:endParaRPr lang="en-US" sz="1300" dirty="0"/>
          </a:p>
        </p:txBody>
      </p:sp>
      <p:sp>
        <p:nvSpPr>
          <p:cNvPr id="13" name="Text 10"/>
          <p:cNvSpPr/>
          <p:nvPr/>
        </p:nvSpPr>
        <p:spPr>
          <a:xfrm>
            <a:off x="7550150" y="4104580"/>
            <a:ext cx="39439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Be Vietnam Pro" pitchFamily="34" charset="0"/>
                <a:ea typeface="Be Vietnam Pro" pitchFamily="34" charset="-122"/>
                <a:cs typeface="Be Vietnam Pro" pitchFamily="34" charset="-120"/>
              </a:rPr>
              <a:t>Operations in view</a:t>
            </a:r>
            <a:endParaRPr lang="en-US" sz="1600" dirty="0"/>
          </a:p>
        </p:txBody>
      </p:sp>
      <p:sp>
        <p:nvSpPr>
          <p:cNvPr id="14" name="Text 11"/>
          <p:cNvSpPr/>
          <p:nvPr/>
        </p:nvSpPr>
        <p:spPr>
          <a:xfrm>
            <a:off x="7550150" y="4409380"/>
            <a:ext cx="394392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Be Vietnam Pro" pitchFamily="34" charset="0"/>
                <a:ea typeface="Be Vietnam Pro" pitchFamily="34" charset="-122"/>
                <a:cs typeface="Be Vietnam Pro" pitchFamily="34" charset="-120"/>
              </a:rPr>
              <a:t>An activity log and a capture pipeline monitor for admins.</a:t>
            </a:r>
            <a:endParaRPr lang="en-US"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Be Vietnam Pro" pitchFamily="34" charset="0"/>
                <a:ea typeface="Be Vietnam Pro" pitchFamily="34" charset="-122"/>
                <a:cs typeface="Be Vietnam Pro" pitchFamily="34" charset="-120"/>
              </a:rPr>
              <a:t>FlyBot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Be Vietnam Pro" pitchFamily="34" charset="0"/>
                <a:ea typeface="Be Vietnam Pro" pitchFamily="34" charset="-122"/>
                <a:cs typeface="Be Vietnam Pro" pitchFamily="34" charset="-120"/>
              </a:rPr>
              <a:t>GET STARTED</a:t>
            </a:r>
            <a:endParaRPr lang="en-US" sz="1200" dirty="0"/>
          </a:p>
        </p:txBody>
      </p:sp>
      <p:sp>
        <p:nvSpPr>
          <p:cNvPr id="3" name="Text 1"/>
          <p:cNvSpPr/>
          <p:nvPr>
            <p:ph type="title"/>
          </p:nvPr>
        </p:nvSpPr>
        <p:spPr>
          <a:xfrm>
            <a:off x="812800" y="1127720"/>
            <a:ext cx="10883392" cy="537369"/>
          </a:xfrm>
          <a:prstGeom prst="rect">
            <a:avLst/>
          </a:prstGeom>
          <a:noFill/>
          <a:ln/>
        </p:spPr>
        <p:txBody>
          <a:bodyPr wrap="square" lIns="0" tIns="0" rIns="0" bIns="0" rtlCol="0" anchor="t">
            <a:normAutofit/>
          </a:bodyPr>
          <a:lstStyle/>
          <a:p>
            <a:pPr algn="l" indent="0" marL="0">
              <a:lnSpc>
                <a:spcPts val="4032"/>
              </a:lnSpc>
              <a:buNone/>
            </a:pPr>
            <a:r>
              <a:rPr lang="en-US" sz="3600" b="1" i="0" dirty="0">
                <a:solidFill>
                  <a:srgbClr val="F5F7F1"/>
                </a:solidFill>
                <a:latin typeface="Be Vietnam Pro" pitchFamily="34" charset="0"/>
                <a:ea typeface="Be Vietnam Pro" pitchFamily="34" charset="-122"/>
                <a:cs typeface="Be Vietnam Pro" pitchFamily="34" charset="-120"/>
              </a:rPr>
              <a:t>Three steps to your first self-reporting trap</a:t>
            </a:r>
            <a:endParaRPr lang="en-US" sz="3600" dirty="0"/>
          </a:p>
        </p:txBody>
      </p:sp>
      <p:sp>
        <p:nvSpPr>
          <p:cNvPr id="4" name="Shape 2"/>
          <p:cNvSpPr/>
          <p:nvPr/>
        </p:nvSpPr>
        <p:spPr>
          <a:xfrm>
            <a:off x="812800" y="2058789"/>
            <a:ext cx="3386634" cy="0"/>
          </a:xfrm>
          <a:prstGeom prst="line">
            <a:avLst/>
          </a:prstGeom>
          <a:noFill/>
          <a:ln w="25400">
            <a:solidFill>
              <a:srgbClr val="F2C230"/>
            </a:solidFill>
            <a:prstDash val="solid"/>
          </a:ln>
        </p:spPr>
      </p:sp>
      <p:sp>
        <p:nvSpPr>
          <p:cNvPr id="5" name="Text 3"/>
          <p:cNvSpPr/>
          <p:nvPr/>
        </p:nvSpPr>
        <p:spPr>
          <a:xfrm>
            <a:off x="812800" y="2274689"/>
            <a:ext cx="3488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230"/>
                </a:solidFill>
                <a:latin typeface="Be Vietnam Pro" pitchFamily="34" charset="0"/>
                <a:ea typeface="Be Vietnam Pro" pitchFamily="34" charset="-122"/>
                <a:cs typeface="Be Vietnam Pro" pitchFamily="34" charset="-120"/>
              </a:rPr>
              <a:t>01</a:t>
            </a:r>
            <a:endParaRPr lang="en-US" sz="2200" dirty="0"/>
          </a:p>
        </p:txBody>
      </p:sp>
      <p:sp>
        <p:nvSpPr>
          <p:cNvPr id="6" name="Text 4"/>
          <p:cNvSpPr/>
          <p:nvPr/>
        </p:nvSpPr>
        <p:spPr>
          <a:xfrm>
            <a:off x="812800" y="2792809"/>
            <a:ext cx="3488233"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7F1"/>
                </a:solidFill>
                <a:latin typeface="Be Vietnam Pro" pitchFamily="34" charset="0"/>
                <a:ea typeface="Be Vietnam Pro" pitchFamily="34" charset="-122"/>
                <a:cs typeface="Be Vietnam Pro" pitchFamily="34" charset="-120"/>
              </a:rPr>
              <a:t>Mount a camera on the trap</a:t>
            </a:r>
            <a:endParaRPr lang="en-US" sz="1800" dirty="0"/>
          </a:p>
        </p:txBody>
      </p:sp>
      <p:sp>
        <p:nvSpPr>
          <p:cNvPr id="7" name="Text 5"/>
          <p:cNvSpPr/>
          <p:nvPr/>
        </p:nvSpPr>
        <p:spPr>
          <a:xfrm>
            <a:off x="812800" y="3205559"/>
            <a:ext cx="348823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An EZVIZ camera facing the sticky card or the lure trap.</a:t>
            </a:r>
            <a:endParaRPr lang="en-US" sz="1300" dirty="0"/>
          </a:p>
        </p:txBody>
      </p:sp>
      <p:sp>
        <p:nvSpPr>
          <p:cNvPr id="8" name="Shape 6"/>
          <p:cNvSpPr/>
          <p:nvPr/>
        </p:nvSpPr>
        <p:spPr>
          <a:xfrm>
            <a:off x="4402634" y="2058789"/>
            <a:ext cx="3386733" cy="0"/>
          </a:xfrm>
          <a:prstGeom prst="line">
            <a:avLst/>
          </a:prstGeom>
          <a:noFill/>
          <a:ln w="25400">
            <a:solidFill>
              <a:srgbClr val="F2C230"/>
            </a:solidFill>
            <a:prstDash val="solid"/>
          </a:ln>
        </p:spPr>
      </p:sp>
      <p:sp>
        <p:nvSpPr>
          <p:cNvPr id="9" name="Text 7"/>
          <p:cNvSpPr/>
          <p:nvPr/>
        </p:nvSpPr>
        <p:spPr>
          <a:xfrm>
            <a:off x="4402634" y="2274689"/>
            <a:ext cx="348833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230"/>
                </a:solidFill>
                <a:latin typeface="Be Vietnam Pro" pitchFamily="34" charset="0"/>
                <a:ea typeface="Be Vietnam Pro" pitchFamily="34" charset="-122"/>
                <a:cs typeface="Be Vietnam Pro" pitchFamily="34" charset="-120"/>
              </a:rPr>
              <a:t>02</a:t>
            </a:r>
            <a:endParaRPr lang="en-US" sz="2200" dirty="0"/>
          </a:p>
        </p:txBody>
      </p:sp>
      <p:sp>
        <p:nvSpPr>
          <p:cNvPr id="10" name="Text 8"/>
          <p:cNvSpPr/>
          <p:nvPr/>
        </p:nvSpPr>
        <p:spPr>
          <a:xfrm>
            <a:off x="4402634" y="2792809"/>
            <a:ext cx="3488335"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7F1"/>
                </a:solidFill>
                <a:latin typeface="Be Vietnam Pro" pitchFamily="34" charset="0"/>
                <a:ea typeface="Be Vietnam Pro" pitchFamily="34" charset="-122"/>
                <a:cs typeface="Be Vietnam Pro" pitchFamily="34" charset="-120"/>
              </a:rPr>
              <a:t>Add it to FlyBot</a:t>
            </a:r>
            <a:endParaRPr lang="en-US" sz="1800" dirty="0"/>
          </a:p>
        </p:txBody>
      </p:sp>
      <p:sp>
        <p:nvSpPr>
          <p:cNvPr id="11" name="Text 9"/>
          <p:cNvSpPr/>
          <p:nvPr/>
        </p:nvSpPr>
        <p:spPr>
          <a:xfrm>
            <a:off x="4402634" y="3205559"/>
            <a:ext cx="34883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Enter the serial number and verification code, pick the trap kind and schedule.</a:t>
            </a:r>
            <a:endParaRPr lang="en-US" sz="1300" dirty="0"/>
          </a:p>
        </p:txBody>
      </p:sp>
      <p:sp>
        <p:nvSpPr>
          <p:cNvPr id="12" name="Shape 10"/>
          <p:cNvSpPr/>
          <p:nvPr/>
        </p:nvSpPr>
        <p:spPr>
          <a:xfrm>
            <a:off x="7992566" y="2058789"/>
            <a:ext cx="3386634" cy="0"/>
          </a:xfrm>
          <a:prstGeom prst="line">
            <a:avLst/>
          </a:prstGeom>
          <a:noFill/>
          <a:ln w="25400">
            <a:solidFill>
              <a:srgbClr val="F2C230"/>
            </a:solidFill>
            <a:prstDash val="solid"/>
          </a:ln>
        </p:spPr>
      </p:sp>
      <p:sp>
        <p:nvSpPr>
          <p:cNvPr id="13" name="Text 11"/>
          <p:cNvSpPr/>
          <p:nvPr/>
        </p:nvSpPr>
        <p:spPr>
          <a:xfrm>
            <a:off x="7992566" y="2274689"/>
            <a:ext cx="3488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230"/>
                </a:solidFill>
                <a:latin typeface="Be Vietnam Pro" pitchFamily="34" charset="0"/>
                <a:ea typeface="Be Vietnam Pro" pitchFamily="34" charset="-122"/>
                <a:cs typeface="Be Vietnam Pro" pitchFamily="34" charset="-120"/>
              </a:rPr>
              <a:t>03</a:t>
            </a:r>
            <a:endParaRPr lang="en-US" sz="2200" dirty="0"/>
          </a:p>
        </p:txBody>
      </p:sp>
      <p:sp>
        <p:nvSpPr>
          <p:cNvPr id="14" name="Text 12"/>
          <p:cNvSpPr/>
          <p:nvPr/>
        </p:nvSpPr>
        <p:spPr>
          <a:xfrm>
            <a:off x="7992566" y="2792809"/>
            <a:ext cx="3488233"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7F1"/>
                </a:solidFill>
                <a:latin typeface="Be Vietnam Pro" pitchFamily="34" charset="0"/>
                <a:ea typeface="Be Vietnam Pro" pitchFamily="34" charset="-122"/>
                <a:cs typeface="Be Vietnam Pro" pitchFamily="34" charset="-120"/>
              </a:rPr>
              <a:t>Set thresholds and channels</a:t>
            </a:r>
            <a:endParaRPr lang="en-US" sz="1800" dirty="0"/>
          </a:p>
        </p:txBody>
      </p:sp>
      <p:sp>
        <p:nvSpPr>
          <p:cNvPr id="15" name="Text 13"/>
          <p:cNvSpPr/>
          <p:nvPr/>
        </p:nvSpPr>
        <p:spPr>
          <a:xfrm>
            <a:off x="7992566" y="3205559"/>
            <a:ext cx="348823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Be Vietnam Pro" pitchFamily="34" charset="0"/>
                <a:ea typeface="Be Vietnam Pro" pitchFamily="34" charset="-122"/>
                <a:cs typeface="Be Vietnam Pro" pitchFamily="34" charset="-120"/>
              </a:rPr>
              <a:t>A threshold per trap; alerts by phone, email and Telegram.</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Be Vietnam Pro" pitchFamily="34" charset="0"/>
                <a:ea typeface="Be Vietnam Pro" pitchFamily="34" charset="-122"/>
                <a:cs typeface="Be Vietnam Pro" pitchFamily="34" charset="-120"/>
              </a:rPr>
              <a:t>Contact: </a:t>
            </a:r>
            <a:r>
              <a:rPr lang="en-US" sz="1200" dirty="0">
                <a:solidFill>
                  <a:srgbClr val="8FA898"/>
                </a:solidFill>
                <a:latin typeface="Be Vietnam Pro" pitchFamily="34" charset="0"/>
                <a:ea typeface="Be Vietnam Pro" pitchFamily="34" charset="-122"/>
                <a:cs typeface="Be Vietnam Pro" pitchFamily="34" charset="-120"/>
              </a:rPr>
              <a:t>contact@agrhub.com</a:t>
            </a:r>
            <a:r>
              <a:rPr lang="en-US" sz="1200" dirty="0">
                <a:solidFill>
                  <a:srgbClr val="8FA898"/>
                </a:solidFill>
                <a:latin typeface="Be Vietnam Pro" pitchFamily="34" charset="0"/>
                <a:ea typeface="Be Vietnam Pro" pitchFamily="34" charset="-122"/>
                <a:cs typeface="Be Vietnam Pro" pitchFamily="34" charset="-120"/>
              </a:rPr>
              <a:t> · </a:t>
            </a:r>
            <a:r>
              <a:rPr lang="en-US" sz="1200" u="sng" dirty="0">
                <a:solidFill>
                  <a:srgbClr val="8FA898"/>
                </a:solidFill>
                <a:latin typeface="Be Vietnam Pro" pitchFamily="34" charset="0"/>
                <a:ea typeface="Be Vietnam Pro" pitchFamily="34" charset="-122"/>
                <a:cs typeface="Be Vietnam Pro" pitchFamily="34" charset="-120"/>
                <a:hlinkClick r:id="rId1" invalidUrl="" action="" tgtFrame="" tooltip="" history="1" highlightClick="0" endSnd="0">
                  <a:extLst>
                    <a:ext uri="{A12FA001-AC4F-418D-AE19-62706E023703}">
                      <ahyp:hlinkClr xmlns:ahyp="http://schemas.microsoft.com/office/drawing/2018/hyperlinkcolor" val="tx"/>
                    </a:ext>
                  </a:extLst>
                </a:hlinkClick>
              </a:rPr>
              <a:t>ezviz.agrhub.com</a:t>
            </a:r>
            <a:r>
              <a:rPr lang="en-US" sz="1200" dirty="0">
                <a:solidFill>
                  <a:srgbClr val="8FA898"/>
                </a:solidFill>
                <a:latin typeface="Be Vietnam Pro" pitchFamily="34" charset="0"/>
                <a:ea typeface="Be Vietnam Pro" pitchFamily="34" charset="-122"/>
                <a:cs typeface="Be Vietnam Pro" pitchFamily="34" charset="-120"/>
              </a:rPr>
              <a:t> · </a:t>
            </a:r>
            <a:r>
              <a:rPr lang="en-US" sz="1200" u="sng" dirty="0">
                <a:solidFill>
                  <a:srgbClr val="8FA898"/>
                </a:solidFill>
                <a:latin typeface="Be Vietnam Pro" pitchFamily="34" charset="0"/>
                <a:ea typeface="Be Vietnam Pro" pitchFamily="34" charset="-122"/>
                <a:cs typeface="Be Vietnam Pro"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Guide</a:t>
            </a:r>
            <a:r>
              <a:rPr lang="en-US" sz="1200" dirty="0">
                <a:solidFill>
                  <a:srgbClr val="8FA898"/>
                </a:solidFill>
                <a:latin typeface="Be Vietnam Pro" pitchFamily="34" charset="0"/>
                <a:ea typeface="Be Vietnam Pro" pitchFamily="34" charset="-122"/>
                <a:cs typeface="Be Vietnam Pro" pitchFamily="34" charset="-120"/>
              </a:rPr>
              <a:t> · </a:t>
            </a:r>
            <a:r>
              <a:rPr lang="en-US" sz="1200" u="sng" dirty="0">
                <a:solidFill>
                  <a:srgbClr val="8FA898"/>
                </a:solidFill>
                <a:latin typeface="Be Vietnam Pro" pitchFamily="34" charset="0"/>
                <a:ea typeface="Be Vietnam Pro" pitchFamily="34" charset="-122"/>
                <a:cs typeface="Be Vietnam Pro"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Product tour</a:t>
            </a:r>
            <a:endParaRPr lang="en-US" sz="1200" dirty="0"/>
          </a:p>
        </p:txBody>
      </p:sp>
    </p:spTree>
  </p:cSld>
  <p:clrMapOvr>
    <a:masterClrMapping/>
  </p:clrMapOvr>
</p:sld>
</file>

<file path=ppt/theme/theme1.xml><?xml version="1.0" encoding="utf-8"?>
<a:theme xmlns:a="http://schemas.openxmlformats.org/drawingml/2006/main" name="FlyBot – Product overview">
  <a:themeElements>
    <a:clrScheme name="FlyBot – Product overview">
      <a:dk1>
        <a:srgbClr val="13261D"/>
      </a:dk1>
      <a:lt1>
        <a:srgbClr val="F5F7F1"/>
      </a:lt1>
      <a:dk2>
        <a:srgbClr val="4C5A52"/>
      </a:dk2>
      <a:lt2>
        <a:srgbClr val="DEE2DC"/>
      </a:lt2>
      <a:accent1>
        <a:srgbClr val="F2C230"/>
      </a:accent1>
      <a:accent2>
        <a:srgbClr val="1D7A50"/>
      </a:accent2>
      <a:accent3>
        <a:srgbClr val="7FD3A8"/>
      </a:accent3>
      <a:accent4>
        <a:srgbClr val="4A5A50"/>
      </a:accent4>
      <a:accent5>
        <a:srgbClr val="BFD3C6"/>
      </a:accent5>
      <a:accent6>
        <a:srgbClr val="6B7B70"/>
      </a:accent6>
      <a:hlink>
        <a:srgbClr val="0563C1"/>
      </a:hlink>
      <a:folHlink>
        <a:srgbClr val="954F72"/>
      </a:folHlink>
    </a:clrScheme>
    <a:fontScheme name="FlyBot – Product overview">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FlyBot – Product overview</dc:title>
  <dc:subject/>
  <dc:creator/>
  <cp:lastModifiedBy/>
  <cp:revision>1</cp:revision>
  <dcterms:created xsi:type="dcterms:W3CDTF">2026-10-12T03:29:07Z</dcterms:created>
  <dcterms:modified xsi:type="dcterms:W3CDTF">2026-10-12T03:29:07Z</dcterms:modified>
</cp:coreProperties>
</file>