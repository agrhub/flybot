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Introducing FlyBot: insect traps watched by cameras, with an AI that counts the insects on each trap card and tells growers when density crosses a threshold.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growers check traps by walking to each one and counting by hand. It takes time, the figures are hard to compare, and outbreaks are often noticed too 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steps: the camera photographs the trap card on a schedule, the AI finds and counts every insect, FlyBot works out the new catches per day, then it alerts and sends reports.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86-second tour of the main screens. It starts by itself when this slide is presented; click the video to pause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overview: catches today, flies per trap per day over 7 days against the week before, each trap's risk against its own threshold, a 14-day chart and a forecast.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 boxes each insect in the photo with its species and confidence. Users can confirm or correct the count; reviewed photos are used to retrain the AI. Photos the AI failed on are retried automatically. The RF-DETR model was trained on 1,573 photos with over 85,000 marked flies; on 76 test photos its recall is 92%, precision 93%, mAP@50 96%.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Choose the trap kind when adding a camera. Sticky traps: daily catches are the rise over the day before. Lure traps: the day's average per photo drives alerts, reports, the overview and the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camera page: live video, take a photo now, play back memory card recordings on a timeline, log trap card changes and see the camera's own detection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Alerts when catches reach each trap's own threshold, on a sudden surge, when a camera goes offline, when a trap card is due, when the AI keeps failing, and when a pre-harvest interval ends. Delivered in the app, as push notifications, by email and on Telegram.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Analytics has trend charts, in-depth analysis by trap and by hour, and the history of every analyzed photo. Filter and export every match to PDF or Excel with photos.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Reports: choose blocks, a period and filters per block, export to PDF, share with people or through a public link with an end date, and send them automatically every week or month by email and Telegram.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 assistant (the Assistant button at the top) is an agent: it calls FlyBot's own tools to get real figures before answering, compares weeks, reads alerts, reports and the farm logbook (with the effect of each treatment), can look at one photo (the "Ask the assistant about this photo" button), take a photo from a camera, email a report as a PDF and open the right screen. Answers stream in with photo, chart and comparison cards. A card change or a treatment is saved only when the user presses Confirm. Conversations are kept for 7 days. It follows the same camera access rules as the app and cannot change settings or accounts.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examples in the chat panel: asking for the latest photos brings the AI photos; asking about the last 24 hours brings a chart by hour; "Ask the assistant about this photo" has the AI look at it; saying "I replaced the card" prepares a card that is saved only when you press Confirm.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Manage farms and plots, place traps on the map and view the heat map. The logbook records each treatment and works out its effect on catches; it exports a VietGAP pesticide use record and can email last month's record as a PDF on the 1st of each month. After a spray with a pre-harvest interval, FlyBot shows which areas cannot be harvested yet and sends a notice the morning the interval 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FlyBot installs on the phone like an app, with push notifications, in English and Vietnamese, and opens in the field without signal with the last data seen. Role-based access, camera and organization sharing, API and webhooks, an activity log and a capture pipeline monitor for admins.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steps: mount an EZVIZ camera on the trap, add it with its serial number and verification code and choose the trap kind, then set the alert threshold and channels. Contact contact@agrhub.com or visit https://ezviz.agrhub.com. The two QR codes open the app and the product tour on a phone.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7F1"/>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6331"/>
            <a:ext cx="10566400" cy="464344"/>
          </a:xfrm>
          <a:prstGeom prst="rect">
            <a:avLst/>
          </a:prstGeom>
          <a:noFill/>
          <a:ln/>
        </p:spPr>
        <p:txBody>
          <a:bodyPr wrap="square" lIns="0" tIns="0" rIns="0" bIns="0" rtlCol="0" anchor="t"/>
          <a:lstStyle>
            <a:lvl1pPr algn="l" indent="0" marL="0">
              <a:lnSpc>
                <a:spcPct val="115000"/>
              </a:lnSpc>
              <a:buNone/>
              <a:defRPr lang="en-US" sz="3190" dirty="0">
                <a:solidFill>
                  <a:srgbClr val="13261D"/>
                </a:solidFill>
                <a:latin typeface="Arial" pitchFamily="34" charset="0"/>
                <a:ea typeface="Arial" pitchFamily="34" charset="-122"/>
                <a:cs typeface="Arial" pitchFamily="34" charset="-120"/>
              </a:defRPr>
            </a:lvl1pPr>
          </a:lstStyle>
          <a:p>
            <a:pPr algn="l" indent="0" marL="0">
              <a:lnSpc>
                <a:spcPct val="115000"/>
              </a:lnSpc>
              <a:buNone/>
            </a:pPr>
            <a:endParaRPr lang="en-US" sz="3190" dirty="0"/>
          </a:p>
        </p:txBody>
      </p:sp>
      <p:sp>
        <p:nvSpPr>
          <p:cNvPr id="3" name="Text Placeholder 2"/>
          <p:cNvSpPr/>
          <p:nvPr>
            <p:ph idx="101" type="body"/>
          </p:nvPr>
        </p:nvSpPr>
        <p:spPr>
          <a:xfrm>
            <a:off x="812800" y="1895475"/>
            <a:ext cx="10566400" cy="4149725"/>
          </a:xfrm>
          <a:prstGeom prst="rect">
            <a:avLst/>
          </a:prstGeom>
          <a:noFill/>
          <a:ln/>
        </p:spPr>
        <p:txBody>
          <a:bodyPr wrap="square" lIns="0" tIns="0" rIns="0" bIns="0" rtlCol="0" anchor="t"/>
          <a:lstStyle>
            <a:lvl1pPr algn="l" indent="0" marL="0">
              <a:lnSpc>
                <a:spcPct val="140000"/>
              </a:lnSpc>
              <a:buNone/>
              <a:defRPr lang="en-US" sz="1600" dirty="0">
                <a:solidFill>
                  <a:srgbClr val="13261D"/>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7F1"/>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6331"/>
            <a:ext cx="10566400" cy="464344"/>
          </a:xfrm>
          <a:prstGeom prst="rect">
            <a:avLst/>
          </a:prstGeom>
          <a:noFill/>
          <a:ln/>
        </p:spPr>
        <p:txBody>
          <a:bodyPr wrap="square" lIns="0" tIns="0" rIns="0" bIns="0" rtlCol="0" anchor="t"/>
          <a:lstStyle>
            <a:lvl1pPr algn="l" indent="0" marL="0">
              <a:lnSpc>
                <a:spcPct val="115000"/>
              </a:lnSpc>
              <a:buNone/>
              <a:defRPr lang="en-US" sz="3190" dirty="0">
                <a:solidFill>
                  <a:srgbClr val="13261D"/>
                </a:solidFill>
                <a:latin typeface="Arial" pitchFamily="34" charset="0"/>
                <a:ea typeface="Arial" pitchFamily="34" charset="-122"/>
                <a:cs typeface="Arial" pitchFamily="34" charset="-120"/>
              </a:defRPr>
            </a:lvl1pPr>
          </a:lstStyle>
          <a:p>
            <a:pPr algn="l" indent="0" marL="0">
              <a:lnSpc>
                <a:spcPct val="115000"/>
              </a:lnSpc>
              <a:buNone/>
            </a:pPr>
            <a:endParaRPr lang="en-US" sz="3190" dirty="0"/>
          </a:p>
        </p:txBody>
      </p:sp>
      <p:sp>
        <p:nvSpPr>
          <p:cNvPr id="3" name="Text Placeholder 2"/>
          <p:cNvSpPr/>
          <p:nvPr>
            <p:ph idx="101" type="body"/>
          </p:nvPr>
        </p:nvSpPr>
        <p:spPr>
          <a:xfrm>
            <a:off x="812800" y="1895475"/>
            <a:ext cx="10566400" cy="4149725"/>
          </a:xfrm>
          <a:prstGeom prst="rect">
            <a:avLst/>
          </a:prstGeom>
          <a:noFill/>
          <a:ln/>
        </p:spPr>
        <p:txBody>
          <a:bodyPr wrap="square" lIns="0" tIns="0" rIns="0" bIns="0" rtlCol="0" anchor="t"/>
          <a:lstStyle>
            <a:lvl1pPr algn="l" indent="0" marL="0">
              <a:lnSpc>
                <a:spcPct val="140000"/>
              </a:lnSpc>
              <a:buNone/>
              <a:defRPr lang="en-US" sz="1600" dirty="0">
                <a:solidFill>
                  <a:srgbClr val="13261D"/>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ezviz.agrhub.com" TargetMode="External"/><Relationship Id="rId1"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ezviz.agrhub.com/media/flybot-tour-en.mp4" TargetMode="External"/><Relationship Id="rId2" Type="http://schemas.openxmlformats.org/officeDocument/2006/relationships/image" Target="../media/image-4-1.png"/><Relationship Id="rId3" Type="http://schemas.openxmlformats.org/officeDocument/2006/relationships/slideLayout" Target="../slideLayouts/slideLayout2.xml"/><Relationship Id="rId4" Type="http://schemas.openxmlformats.org/officeDocument/2006/relationships/notesSlide" Target="../notesSlides/notesSlide4.xml"/><Relationship Id="rId5" Type="http://schemas.openxmlformats.org/officeDocument/2006/relationships/hyperlink" Target="https://ezviz.agrhub.com/media/flybot-tour-en.mp4" TargetMode="Externa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6" Type="http://schemas.openxmlformats.org/officeDocument/2006/relationships/hyperlink" Target="https://ezviz.agrhub.com/manual?tab=assistant" TargetMode="External"/><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7" Type="http://schemas.openxmlformats.org/officeDocument/2006/relationships/slideLayout" Target="../slideLayouts/slideLayout2.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5" Type="http://schemas.openxmlformats.org/officeDocument/2006/relationships/hyperlink" Target="https://ezviz.agrhub.com/manual?tab=assistant" TargetMode="External"/><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6" Type="http://schemas.openxmlformats.org/officeDocument/2006/relationships/slideLayout" Target="../slideLayouts/slideLayout2.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2" Type="http://schemas.openxmlformats.org/officeDocument/2006/relationships/hyperlink" Target="https://ezviz.agrhub.com" TargetMode="External"/><Relationship Id="rId4" Type="http://schemas.openxmlformats.org/officeDocument/2006/relationships/hyperlink" Target="https://ezviz.agrhub.com/media/flybot-tour-en.mp4" TargetMode="External"/><Relationship Id="rId5" Type="http://schemas.openxmlformats.org/officeDocument/2006/relationships/hyperlink" Target="https://ezviz.agrhub.com" TargetMode="External"/><Relationship Id="rId6" Type="http://schemas.openxmlformats.org/officeDocument/2006/relationships/hyperlink" Target="https://ezviz.agrhub.com/manual" TargetMode="External"/><Relationship Id="rId7" Type="http://schemas.openxmlformats.org/officeDocument/2006/relationships/hyperlink" Target="https://ezviz.agrhub.com/media/flybot-tour-en.mp4" TargetMode="External"/><Relationship Id="rId1" Type="http://schemas.openxmlformats.org/officeDocument/2006/relationships/image" Target="../media/image-16-1.png"/><Relationship Id="rId3" Type="http://schemas.openxmlformats.org/officeDocument/2006/relationships/image" Target="../media/image-16-2.png"/><Relationship Id="rId8" Type="http://schemas.openxmlformats.org/officeDocument/2006/relationships/slideLayout" Target="../slideLayouts/slideLayout2.xml"/><Relationship Id="rId9"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61D"/>
        </a:solidFill>
      </p:bgPr>
    </p:bg>
    <p:spTree>
      <p:nvGrpSpPr>
        <p:cNvPr id="1" name=""/>
        <p:cNvGrpSpPr/>
        <p:nvPr/>
      </p:nvGrpSpPr>
      <p:grpSpPr>
        <a:xfrm>
          <a:off x="0" y="0"/>
          <a:ext cx="0" cy="0"/>
          <a:chOff x="0" y="0"/>
          <a:chExt cx="0" cy="0"/>
        </a:xfrm>
      </p:grpSpPr>
      <p:pic>
        <p:nvPicPr>
          <p:cNvPr id="2" name="Image 0" descr="FlyBot logo">    </p:cNvPr>
          <p:cNvPicPr>
            <a:picLocks noChangeAspect="1"/>
          </p:cNvPicPr>
          <p:nvPr/>
        </p:nvPicPr>
        <p:blipFill>
          <a:blip r:embed="rId1"/>
          <a:srcRect l="0" r="0" t="0" b="0"/>
          <a:stretch/>
        </p:blipFill>
        <p:spPr>
          <a:xfrm>
            <a:off x="812800" y="901898"/>
            <a:ext cx="711200" cy="711200"/>
          </a:xfrm>
          <a:prstGeom prst="rect">
            <a:avLst/>
          </a:prstGeom>
        </p:spPr>
      </p:pic>
      <p:sp>
        <p:nvSpPr>
          <p:cNvPr id="3" name="Text 0"/>
          <p:cNvSpPr/>
          <p:nvPr/>
        </p:nvSpPr>
        <p:spPr>
          <a:xfrm>
            <a:off x="1676400" y="1061938"/>
            <a:ext cx="1043107"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5F7F1"/>
                </a:solidFill>
                <a:latin typeface="Arial" pitchFamily="34" charset="0"/>
                <a:ea typeface="Arial" pitchFamily="34" charset="-122"/>
                <a:cs typeface="Arial" pitchFamily="34" charset="-120"/>
              </a:rPr>
              <a:t>FlyBot</a:t>
            </a:r>
            <a:endParaRPr lang="en-US" sz="2200" dirty="0"/>
          </a:p>
        </p:txBody>
      </p:sp>
      <p:sp>
        <p:nvSpPr>
          <p:cNvPr id="4" name="Text 1"/>
          <p:cNvSpPr/>
          <p:nvPr>
            <p:ph type="title"/>
          </p:nvPr>
        </p:nvSpPr>
        <p:spPr>
          <a:xfrm>
            <a:off x="812800" y="1867098"/>
            <a:ext cx="4970780" cy="2148681"/>
          </a:xfrm>
          <a:prstGeom prst="rect">
            <a:avLst/>
          </a:prstGeom>
          <a:noFill/>
          <a:ln/>
        </p:spPr>
        <p:txBody>
          <a:bodyPr wrap="square" lIns="0" tIns="0" rIns="0" bIns="0" rtlCol="0" anchor="t">
            <a:normAutofit/>
          </a:bodyPr>
          <a:lstStyle/>
          <a:p>
            <a:pPr algn="l" indent="0" marL="0">
              <a:lnSpc>
                <a:spcPts val="4180"/>
              </a:lnSpc>
              <a:buNone/>
            </a:pPr>
            <a:r>
              <a:rPr lang="en-US" sz="3800" b="1" i="0" dirty="0">
                <a:solidFill>
                  <a:srgbClr val="F5F7F1"/>
                </a:solidFill>
                <a:latin typeface="Arial" pitchFamily="34" charset="0"/>
                <a:ea typeface="Arial" pitchFamily="34" charset="-122"/>
                <a:cs typeface="Arial" pitchFamily="34" charset="-120"/>
              </a:rPr>
              <a:t>Smart insect traps: the camera shoots, the AI counts</a:t>
            </a:r>
            <a:endParaRPr lang="en-US" sz="3800" dirty="0"/>
          </a:p>
        </p:txBody>
      </p:sp>
      <p:sp>
        <p:nvSpPr>
          <p:cNvPr id="5" name="Text 2"/>
          <p:cNvSpPr/>
          <p:nvPr/>
        </p:nvSpPr>
        <p:spPr>
          <a:xfrm>
            <a:off x="812800" y="4244380"/>
            <a:ext cx="4970780" cy="614561"/>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BFD3C6"/>
                </a:solidFill>
                <a:latin typeface="Arial" pitchFamily="34" charset="0"/>
                <a:ea typeface="Arial" pitchFamily="34" charset="-122"/>
                <a:cs typeface="Arial" pitchFamily="34" charset="-120"/>
              </a:rPr>
              <a:t>Follow fruit flies and other pests on every trap, every day, right on your phone.</a:t>
            </a:r>
            <a:endParaRPr lang="en-US" sz="1600" dirty="0"/>
          </a:p>
        </p:txBody>
      </p:sp>
      <p:sp>
        <p:nvSpPr>
          <p:cNvPr id="6" name="Text 3"/>
          <p:cNvSpPr/>
          <p:nvPr/>
        </p:nvSpPr>
        <p:spPr>
          <a:xfrm>
            <a:off x="812800" y="5087541"/>
            <a:ext cx="3683000" cy="365720"/>
          </a:xfrm>
          <a:prstGeom prst="roundRect">
            <a:avLst>
              <a:gd name="adj" fmla="val 50000"/>
            </a:avLst>
          </a:prstGeom>
          <a:solidFill>
            <a:srgbClr val="F2C230"/>
          </a:solidFill>
          <a:ln/>
        </p:spPr>
        <p:txBody>
          <a:bodyPr wrap="square" lIns="48169" tIns="22642" rIns="48169" bIns="0" rtlCol="0" anchor="t">
            <a:normAutofit/>
          </a:bodyPr>
          <a:lstStyle/>
          <a:p>
            <a:pPr algn="ctr" indent="0" marL="0">
              <a:lnSpc>
                <a:spcPts val="1680"/>
              </a:lnSpc>
              <a:buNone/>
            </a:pPr>
            <a:r>
              <a:rPr lang="en-US" sz="1200" b="1" dirty="0">
                <a:solidFill>
                  <a:srgbClr val="13261D"/>
                </a:solidFill>
                <a:latin typeface="Arial" pitchFamily="34" charset="0"/>
                <a:ea typeface="Arial" pitchFamily="34" charset="-122"/>
                <a:cs typeface="Arial" pitchFamily="34" charset="-120"/>
              </a:rPr>
              <a:t>Web · Phone · English and Vietnamese</a:t>
            </a:r>
            <a:endParaRPr lang="en-US" sz="1200" dirty="0"/>
          </a:p>
        </p:txBody>
      </p:sp>
      <p:sp>
        <p:nvSpPr>
          <p:cNvPr id="7" name="Text 4"/>
          <p:cNvSpPr/>
          <p:nvPr/>
        </p:nvSpPr>
        <p:spPr>
          <a:xfrm>
            <a:off x="812800" y="5707261"/>
            <a:ext cx="4970780" cy="274241"/>
          </a:xfrm>
          <a:prstGeom prst="rect">
            <a:avLst/>
          </a:prstGeom>
          <a:noFill/>
          <a:ln/>
        </p:spPr>
        <p:txBody>
          <a:bodyPr wrap="square" lIns="0" tIns="0" rIns="0" bIns="0" rtlCol="0" anchor="t">
            <a:normAutofit/>
          </a:bodyPr>
          <a:lstStyle/>
          <a:p>
            <a:pPr algn="l" indent="0" marL="0">
              <a:lnSpc>
                <a:spcPts val="1960"/>
              </a:lnSpc>
              <a:buNone/>
            </a:pPr>
            <a:r>
              <a:rPr lang="en-US" sz="1400" b="1" u="sng" dirty="0">
                <a:solidFill>
                  <a:srgbClr val="F2C230"/>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ezviz.agrhub.com</a:t>
            </a:r>
            <a:endParaRPr lang="en-US" sz="1400" dirty="0"/>
          </a:p>
        </p:txBody>
      </p:sp>
      <p:pic>
        <p:nvPicPr>
          <p:cNvPr id="8" name="Image 1" descr="FlyBot overview screen: catches today, flies per trap per day and the trap list">    </p:cNvPr>
          <p:cNvPicPr>
            <a:picLocks noChangeAspect="1"/>
          </p:cNvPicPr>
          <p:nvPr/>
        </p:nvPicPr>
        <p:blipFill>
          <a:blip r:embed="rId3"/>
          <a:srcRect l="-72" r="-72" t="0" b="0"/>
          <a:stretch/>
        </p:blipFill>
        <p:spPr>
          <a:xfrm>
            <a:off x="6051550" y="1768475"/>
            <a:ext cx="5321300" cy="3321050"/>
          </a:xfrm>
          <a:prstGeom prst="roundRect">
            <a:avLst>
              <a:gd name="adj" fmla="val 2868"/>
            </a:avLst>
          </a:prstGeom>
          <a:effectLst>
            <a:outerShdw sx="100000" sy="100000" kx="0" ky="0" algn="bl" rotWithShape="0" blurRad="406400" dist="203200" dir="5400000">
              <a:srgbClr val="000000">
                <a:alpha val="35000"/>
              </a:srgbClr>
            </a:outerShdw>
          </a:effectLst>
        </p:spPr>
      </p:pic>
      <p:sp>
        <p:nvSpPr>
          <p:cNvPr id="9" name="Shape 5"/>
          <p:cNvSpPr/>
          <p:nvPr/>
        </p:nvSpPr>
        <p:spPr>
          <a:xfrm>
            <a:off x="6048375" y="1765300"/>
            <a:ext cx="5327650" cy="3327400"/>
          </a:xfrm>
          <a:prstGeom prst="roundRect">
            <a:avLst>
              <a:gd name="adj" fmla="val 2958"/>
            </a:avLst>
          </a:prstGeom>
          <a:noFill/>
          <a:ln w="6350">
            <a:solidFill>
              <a:srgbClr val="2E4A3B"/>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D7A50"/>
                </a:solidFill>
                <a:latin typeface="Arial" pitchFamily="34" charset="0"/>
                <a:ea typeface="Arial" pitchFamily="34" charset="-122"/>
                <a:cs typeface="Arial" pitchFamily="34" charset="-120"/>
              </a:rPr>
              <a:t>THE PROBLEM</a:t>
            </a:r>
            <a:endParaRPr lang="en-US" sz="1200" dirty="0"/>
          </a:p>
        </p:txBody>
      </p:sp>
      <p:sp>
        <p:nvSpPr>
          <p:cNvPr id="3" name="Text 1"/>
          <p:cNvSpPr/>
          <p:nvPr>
            <p:ph type="title"/>
          </p:nvPr>
        </p:nvSpPr>
        <p:spPr>
          <a:xfrm>
            <a:off x="812800" y="1127720"/>
            <a:ext cx="10883392" cy="960041"/>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3261D"/>
                </a:solidFill>
                <a:latin typeface="Arial" pitchFamily="34" charset="0"/>
                <a:ea typeface="Arial" pitchFamily="34" charset="-122"/>
                <a:cs typeface="Arial" pitchFamily="34" charset="-120"/>
              </a:rPr>
              <a:t>Checking traps by hand is slow and always behind the pests</a:t>
            </a:r>
            <a:endParaRPr lang="en-US" sz="3200" dirty="0"/>
          </a:p>
        </p:txBody>
      </p:sp>
      <p:sp>
        <p:nvSpPr>
          <p:cNvPr id="4" name="Shape 2"/>
          <p:cNvSpPr/>
          <p:nvPr/>
        </p:nvSpPr>
        <p:spPr>
          <a:xfrm>
            <a:off x="815975" y="2471936"/>
            <a:ext cx="3380284" cy="3366889"/>
          </a:xfrm>
          <a:prstGeom prst="roundRect">
            <a:avLst>
              <a:gd name="adj" fmla="val 3678"/>
            </a:avLst>
          </a:prstGeom>
          <a:solidFill>
            <a:srgbClr val="FFFFFF"/>
          </a:solidFill>
          <a:ln w="6350">
            <a:solidFill>
              <a:srgbClr val="DCE3DA"/>
            </a:solidFill>
            <a:prstDash val="solid"/>
          </a:ln>
        </p:spPr>
      </p:sp>
      <p:pic>
        <p:nvPicPr>
          <p:cNvPr id="5" name="Image 0" descr="Users">    </p:cNvPr>
          <p:cNvPicPr>
            <a:picLocks noChangeAspect="1"/>
          </p:cNvPicPr>
          <p:nvPr/>
        </p:nvPicPr>
        <p:blipFill>
          <a:blip r:embed="rId1"/>
          <a:srcRect l="0" r="0" t="0" b="0"/>
          <a:stretch/>
        </p:blipFill>
        <p:spPr>
          <a:xfrm>
            <a:off x="1123950" y="2779911"/>
            <a:ext cx="406400" cy="406400"/>
          </a:xfrm>
          <a:prstGeom prst="rect">
            <a:avLst/>
          </a:prstGeom>
        </p:spPr>
      </p:pic>
      <p:sp>
        <p:nvSpPr>
          <p:cNvPr id="6" name="Text 3"/>
          <p:cNvSpPr/>
          <p:nvPr/>
        </p:nvSpPr>
        <p:spPr>
          <a:xfrm>
            <a:off x="1123950" y="3338711"/>
            <a:ext cx="2847264" cy="6350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3261D"/>
                </a:solidFill>
                <a:latin typeface="Arial" pitchFamily="34" charset="0"/>
                <a:ea typeface="Arial" pitchFamily="34" charset="-122"/>
                <a:cs typeface="Arial" pitchFamily="34" charset="-120"/>
              </a:rPr>
              <a:t>Walking every trap, counting by eye</a:t>
            </a:r>
            <a:endParaRPr lang="en-US" sz="2000" dirty="0"/>
          </a:p>
        </p:txBody>
      </p:sp>
      <p:sp>
        <p:nvSpPr>
          <p:cNvPr id="7" name="Text 4"/>
          <p:cNvSpPr/>
          <p:nvPr/>
        </p:nvSpPr>
        <p:spPr>
          <a:xfrm>
            <a:off x="1123950" y="4100711"/>
            <a:ext cx="2847264" cy="8255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4A5A50"/>
                </a:solidFill>
                <a:latin typeface="Arial" pitchFamily="34" charset="0"/>
                <a:ea typeface="Arial" pitchFamily="34" charset="-122"/>
                <a:cs typeface="Arial" pitchFamily="34" charset="-120"/>
              </a:rPr>
              <a:t>Each round takes hours of labour, and the count depends on who does it.</a:t>
            </a:r>
            <a:endParaRPr lang="en-US" sz="1400" dirty="0"/>
          </a:p>
        </p:txBody>
      </p:sp>
      <p:sp>
        <p:nvSpPr>
          <p:cNvPr id="8" name="Shape 5"/>
          <p:cNvSpPr/>
          <p:nvPr/>
        </p:nvSpPr>
        <p:spPr>
          <a:xfrm>
            <a:off x="4405809" y="2471936"/>
            <a:ext cx="3380383" cy="3366889"/>
          </a:xfrm>
          <a:prstGeom prst="roundRect">
            <a:avLst>
              <a:gd name="adj" fmla="val 3678"/>
            </a:avLst>
          </a:prstGeom>
          <a:solidFill>
            <a:srgbClr val="FFFFFF"/>
          </a:solidFill>
          <a:ln w="6350">
            <a:solidFill>
              <a:srgbClr val="DCE3DA"/>
            </a:solidFill>
            <a:prstDash val="solid"/>
          </a:ln>
        </p:spPr>
      </p:sp>
      <p:pic>
        <p:nvPicPr>
          <p:cNvPr id="9" name="Image 1" descr="Chart">    </p:cNvPr>
          <p:cNvPicPr>
            <a:picLocks noChangeAspect="1"/>
          </p:cNvPicPr>
          <p:nvPr/>
        </p:nvPicPr>
        <p:blipFill>
          <a:blip r:embed="rId2"/>
          <a:srcRect l="0" r="0" t="0" b="0"/>
          <a:stretch/>
        </p:blipFill>
        <p:spPr>
          <a:xfrm>
            <a:off x="4713784" y="2779911"/>
            <a:ext cx="406400" cy="406400"/>
          </a:xfrm>
          <a:prstGeom prst="rect">
            <a:avLst/>
          </a:prstGeom>
        </p:spPr>
      </p:pic>
      <p:sp>
        <p:nvSpPr>
          <p:cNvPr id="10" name="Text 6"/>
          <p:cNvSpPr/>
          <p:nvPr/>
        </p:nvSpPr>
        <p:spPr>
          <a:xfrm>
            <a:off x="4713784" y="3338711"/>
            <a:ext cx="284736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3261D"/>
                </a:solidFill>
                <a:latin typeface="Arial" pitchFamily="34" charset="0"/>
                <a:ea typeface="Arial" pitchFamily="34" charset="-122"/>
                <a:cs typeface="Arial" pitchFamily="34" charset="-120"/>
              </a:rPr>
              <a:t>Scattered records</a:t>
            </a:r>
            <a:endParaRPr lang="en-US" sz="2000" dirty="0"/>
          </a:p>
        </p:txBody>
      </p:sp>
      <p:sp>
        <p:nvSpPr>
          <p:cNvPr id="11" name="Text 7"/>
          <p:cNvSpPr/>
          <p:nvPr/>
        </p:nvSpPr>
        <p:spPr>
          <a:xfrm>
            <a:off x="4713784" y="3795911"/>
            <a:ext cx="2847366" cy="8255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4A5A50"/>
                </a:solidFill>
                <a:latin typeface="Arial" pitchFamily="34" charset="0"/>
                <a:ea typeface="Arial" pitchFamily="34" charset="-122"/>
                <a:cs typeface="Arial" pitchFamily="34" charset="-120"/>
              </a:rPr>
              <a:t>Notes on paper are hard to compare across traps, plots and weeks.</a:t>
            </a:r>
            <a:endParaRPr lang="en-US" sz="1400" dirty="0"/>
          </a:p>
        </p:txBody>
      </p:sp>
      <p:sp>
        <p:nvSpPr>
          <p:cNvPr id="12" name="Shape 8"/>
          <p:cNvSpPr/>
          <p:nvPr/>
        </p:nvSpPr>
        <p:spPr>
          <a:xfrm>
            <a:off x="7995741" y="2471936"/>
            <a:ext cx="3380284" cy="3366889"/>
          </a:xfrm>
          <a:prstGeom prst="roundRect">
            <a:avLst>
              <a:gd name="adj" fmla="val 3678"/>
            </a:avLst>
          </a:prstGeom>
          <a:solidFill>
            <a:srgbClr val="FFFFFF"/>
          </a:solidFill>
          <a:ln w="6350">
            <a:solidFill>
              <a:srgbClr val="DCE3DA"/>
            </a:solidFill>
            <a:prstDash val="solid"/>
          </a:ln>
        </p:spPr>
      </p:sp>
      <p:pic>
        <p:nvPicPr>
          <p:cNvPr id="13" name="Image 2" descr="Clock">    </p:cNvPr>
          <p:cNvPicPr>
            <a:picLocks noChangeAspect="1"/>
          </p:cNvPicPr>
          <p:nvPr/>
        </p:nvPicPr>
        <p:blipFill>
          <a:blip r:embed="rId3"/>
          <a:srcRect l="0" r="0" t="0" b="0"/>
          <a:stretch/>
        </p:blipFill>
        <p:spPr>
          <a:xfrm>
            <a:off x="8303716" y="2779911"/>
            <a:ext cx="406400" cy="406400"/>
          </a:xfrm>
          <a:prstGeom prst="rect">
            <a:avLst/>
          </a:prstGeom>
        </p:spPr>
      </p:pic>
      <p:sp>
        <p:nvSpPr>
          <p:cNvPr id="14" name="Text 9"/>
          <p:cNvSpPr/>
          <p:nvPr/>
        </p:nvSpPr>
        <p:spPr>
          <a:xfrm>
            <a:off x="8303716" y="3338711"/>
            <a:ext cx="2847264"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3261D"/>
                </a:solidFill>
                <a:latin typeface="Arial" pitchFamily="34" charset="0"/>
                <a:ea typeface="Arial" pitchFamily="34" charset="-122"/>
                <a:cs typeface="Arial" pitchFamily="34" charset="-120"/>
              </a:rPr>
              <a:t>Spotted too late</a:t>
            </a:r>
            <a:endParaRPr lang="en-US" sz="2000" dirty="0"/>
          </a:p>
        </p:txBody>
      </p:sp>
      <p:sp>
        <p:nvSpPr>
          <p:cNvPr id="15" name="Text 10"/>
          <p:cNvSpPr/>
          <p:nvPr/>
        </p:nvSpPr>
        <p:spPr>
          <a:xfrm>
            <a:off x="8303716" y="3795911"/>
            <a:ext cx="2847264" cy="8255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4A5A50"/>
                </a:solidFill>
                <a:latin typeface="Arial" pitchFamily="34" charset="0"/>
                <a:ea typeface="Arial" pitchFamily="34" charset="-122"/>
                <a:cs typeface="Arial" pitchFamily="34" charset="-120"/>
              </a:rPr>
              <a:t>By the time numbers look high, the outbreak has started and costs more to treat.</a:t>
            </a:r>
            <a:endParaRPr lang="en-US" sz="1400" dirty="0"/>
          </a:p>
        </p:txBody>
      </p:sp>
      <p:sp>
        <p:nvSpPr>
          <p:cNvPr id="16" name="Text 1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B70"/>
                </a:solidFill>
                <a:latin typeface="Arial" pitchFamily="34" charset="0"/>
                <a:ea typeface="Arial" pitchFamily="34" charset="-122"/>
                <a:cs typeface="Arial" pitchFamily="34" charset="-120"/>
              </a:rPr>
              <a:t>FlyBot · 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D7A50"/>
                </a:solidFill>
                <a:latin typeface="Arial" pitchFamily="34" charset="0"/>
                <a:ea typeface="Arial" pitchFamily="34" charset="-122"/>
                <a:cs typeface="Arial" pitchFamily="34" charset="-120"/>
              </a:rPr>
              <a:t>HOW IT WORKS</a:t>
            </a:r>
            <a:endParaRPr lang="en-US" sz="1200" dirty="0"/>
          </a:p>
        </p:txBody>
      </p:sp>
      <p:sp>
        <p:nvSpPr>
          <p:cNvPr id="3" name="Text 1"/>
          <p:cNvSpPr/>
          <p:nvPr>
            <p:ph type="title"/>
          </p:nvPr>
        </p:nvSpPr>
        <p:spPr>
          <a:xfrm>
            <a:off x="812800" y="1127720"/>
            <a:ext cx="11379200"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3261D"/>
                </a:solidFill>
                <a:latin typeface="Arial" pitchFamily="34" charset="0"/>
                <a:ea typeface="Arial" pitchFamily="34" charset="-122"/>
                <a:cs typeface="Arial" pitchFamily="34" charset="-120"/>
              </a:rPr>
              <a:t>From trap card to decision, with no counting by hand</a:t>
            </a:r>
            <a:endParaRPr lang="en-US" sz="3200" dirty="0"/>
          </a:p>
        </p:txBody>
      </p:sp>
      <p:sp>
        <p:nvSpPr>
          <p:cNvPr id="4" name="Shape 2"/>
          <p:cNvSpPr/>
          <p:nvPr/>
        </p:nvSpPr>
        <p:spPr>
          <a:xfrm>
            <a:off x="815975" y="2004616"/>
            <a:ext cx="2257425" cy="3834209"/>
          </a:xfrm>
          <a:prstGeom prst="roundRect">
            <a:avLst>
              <a:gd name="adj" fmla="val 5485"/>
            </a:avLst>
          </a:prstGeom>
          <a:solidFill>
            <a:srgbClr val="FFFFFF"/>
          </a:solidFill>
          <a:ln w="6350">
            <a:solidFill>
              <a:srgbClr val="DCE3DA"/>
            </a:solidFill>
            <a:prstDash val="solid"/>
          </a:ln>
        </p:spPr>
      </p:sp>
      <p:sp>
        <p:nvSpPr>
          <p:cNvPr id="5" name="Text 3"/>
          <p:cNvSpPr/>
          <p:nvPr/>
        </p:nvSpPr>
        <p:spPr>
          <a:xfrm>
            <a:off x="1073150" y="2261791"/>
            <a:ext cx="355600" cy="355600"/>
          </a:xfrm>
          <a:custGeom>
            <a:avLst/>
            <a:gdLst/>
            <a:ahLst/>
            <a:cxnLst/>
            <a:rect l="l" t="t" r="r" b="b"/>
            <a:pathLst>
              <a:path w="355600" h="355600">
                <a:moveTo>
                  <a:pt x="177800" y="0"/>
                </a:moveTo>
                <a:lnTo>
                  <a:pt x="177800" y="0"/>
                </a:lnTo>
                <a:arcTo hR="177800" wR="177800" stAng="16200000" swAng="5400000"/>
                <a:lnTo>
                  <a:pt x="355600" y="177800"/>
                </a:lnTo>
                <a:arcTo hR="177800" wR="177800" stAng="0" swAng="5400000"/>
                <a:lnTo>
                  <a:pt x="177800" y="355600"/>
                </a:lnTo>
                <a:arcTo hR="177800" wR="177800" stAng="5400000" swAng="5400000"/>
                <a:lnTo>
                  <a:pt x="0" y="177800"/>
                </a:lnTo>
                <a:arcTo hR="177800" wR="177800" stAng="10800000" swAng="5400000"/>
                <a:close/>
              </a:path>
            </a:pathLst>
          </a:custGeom>
          <a:solidFill>
            <a:srgbClr val="F2C230"/>
          </a:solidFill>
          <a:ln/>
        </p:spPr>
        <p:txBody>
          <a:bodyPr wrap="square" lIns="0" tIns="0" rIns="0" bIns="0" rtlCol="0" anchor="t">
            <a:normAutofit/>
          </a:bodyPr>
          <a:lstStyle/>
          <a:p>
            <a:pPr algn="ctr" indent="0" marL="0">
              <a:lnSpc>
                <a:spcPts val="2796"/>
              </a:lnSpc>
              <a:buNone/>
            </a:pPr>
            <a:r>
              <a:rPr lang="en-US" sz="1200" b="1" dirty="0">
                <a:solidFill>
                  <a:srgbClr val="13261D"/>
                </a:solidFill>
                <a:latin typeface="Arial" pitchFamily="34" charset="0"/>
                <a:ea typeface="Arial" pitchFamily="34" charset="-122"/>
                <a:cs typeface="Arial" pitchFamily="34" charset="-120"/>
              </a:rPr>
              <a:t>1</a:t>
            </a:r>
            <a:endParaRPr lang="en-US" sz="1200" dirty="0"/>
          </a:p>
        </p:txBody>
      </p:sp>
      <p:sp>
        <p:nvSpPr>
          <p:cNvPr id="6" name="Text 4"/>
          <p:cNvSpPr/>
          <p:nvPr/>
        </p:nvSpPr>
        <p:spPr>
          <a:xfrm>
            <a:off x="1073150" y="2744391"/>
            <a:ext cx="1795367" cy="57388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61D"/>
                </a:solidFill>
                <a:latin typeface="Arial" pitchFamily="34" charset="0"/>
                <a:ea typeface="Arial" pitchFamily="34" charset="-122"/>
                <a:cs typeface="Arial" pitchFamily="34" charset="-120"/>
              </a:rPr>
              <a:t>The camera shoots the trap</a:t>
            </a:r>
            <a:endParaRPr lang="en-US" sz="1800" dirty="0"/>
          </a:p>
        </p:txBody>
      </p:sp>
      <p:sp>
        <p:nvSpPr>
          <p:cNvPr id="7" name="Text 5"/>
          <p:cNvSpPr/>
          <p:nvPr/>
        </p:nvSpPr>
        <p:spPr>
          <a:xfrm>
            <a:off x="1073150" y="3419872"/>
            <a:ext cx="1795367" cy="10160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Arial" pitchFamily="34" charset="0"/>
                <a:ea typeface="Arial" pitchFamily="34" charset="-122"/>
                <a:cs typeface="Arial" pitchFamily="34" charset="-120"/>
              </a:rPr>
              <a:t>An EZVIZ camera takes photos on each trap's own schedule, daytime only if you like.</a:t>
            </a:r>
            <a:endParaRPr lang="en-US" sz="1300" dirty="0"/>
          </a:p>
        </p:txBody>
      </p:sp>
      <p:pic>
        <p:nvPicPr>
          <p:cNvPr id="8" name="Image 0" descr="arrow-right">    </p:cNvPr>
          <p:cNvPicPr>
            <a:picLocks noChangeAspect="1"/>
          </p:cNvPicPr>
          <p:nvPr/>
        </p:nvPicPr>
        <p:blipFill>
          <a:blip r:embed="rId1"/>
          <a:srcRect l="0" r="0" t="0" b="0"/>
          <a:stretch/>
        </p:blipFill>
        <p:spPr>
          <a:xfrm>
            <a:off x="3178175" y="3832820"/>
            <a:ext cx="304800" cy="177800"/>
          </a:xfrm>
          <a:prstGeom prst="rect">
            <a:avLst/>
          </a:prstGeom>
        </p:spPr>
      </p:pic>
      <p:sp>
        <p:nvSpPr>
          <p:cNvPr id="9" name="Shape 6"/>
          <p:cNvSpPr/>
          <p:nvPr/>
        </p:nvSpPr>
        <p:spPr>
          <a:xfrm>
            <a:off x="3587750" y="2004616"/>
            <a:ext cx="2257425" cy="3834209"/>
          </a:xfrm>
          <a:prstGeom prst="roundRect">
            <a:avLst>
              <a:gd name="adj" fmla="val 5485"/>
            </a:avLst>
          </a:prstGeom>
          <a:solidFill>
            <a:srgbClr val="FFFFFF"/>
          </a:solidFill>
          <a:ln w="6350">
            <a:solidFill>
              <a:srgbClr val="DCE3DA"/>
            </a:solidFill>
            <a:prstDash val="solid"/>
          </a:ln>
        </p:spPr>
      </p:sp>
      <p:sp>
        <p:nvSpPr>
          <p:cNvPr id="10" name="Text 7"/>
          <p:cNvSpPr/>
          <p:nvPr/>
        </p:nvSpPr>
        <p:spPr>
          <a:xfrm>
            <a:off x="3844925" y="2261791"/>
            <a:ext cx="355600" cy="355600"/>
          </a:xfrm>
          <a:custGeom>
            <a:avLst/>
            <a:gdLst/>
            <a:ahLst/>
            <a:cxnLst/>
            <a:rect l="l" t="t" r="r" b="b"/>
            <a:pathLst>
              <a:path w="355600" h="355600">
                <a:moveTo>
                  <a:pt x="177800" y="0"/>
                </a:moveTo>
                <a:lnTo>
                  <a:pt x="177800" y="0"/>
                </a:lnTo>
                <a:arcTo hR="177800" wR="177800" stAng="16200000" swAng="5400000"/>
                <a:lnTo>
                  <a:pt x="355600" y="177800"/>
                </a:lnTo>
                <a:arcTo hR="177800" wR="177800" stAng="0" swAng="5400000"/>
                <a:lnTo>
                  <a:pt x="177800" y="355600"/>
                </a:lnTo>
                <a:arcTo hR="177800" wR="177800" stAng="5400000" swAng="5400000"/>
                <a:lnTo>
                  <a:pt x="0" y="177800"/>
                </a:lnTo>
                <a:arcTo hR="177800" wR="177800" stAng="10800000" swAng="5400000"/>
                <a:close/>
              </a:path>
            </a:pathLst>
          </a:custGeom>
          <a:solidFill>
            <a:srgbClr val="F2C230"/>
          </a:solidFill>
          <a:ln/>
        </p:spPr>
        <p:txBody>
          <a:bodyPr wrap="square" lIns="0" tIns="0" rIns="0" bIns="0" rtlCol="0" anchor="t">
            <a:normAutofit/>
          </a:bodyPr>
          <a:lstStyle/>
          <a:p>
            <a:pPr algn="ctr" indent="0" marL="0">
              <a:lnSpc>
                <a:spcPts val="2796"/>
              </a:lnSpc>
              <a:buNone/>
            </a:pPr>
            <a:r>
              <a:rPr lang="en-US" sz="1200" b="1" dirty="0">
                <a:solidFill>
                  <a:srgbClr val="13261D"/>
                </a:solidFill>
                <a:latin typeface="Arial" pitchFamily="34" charset="0"/>
                <a:ea typeface="Arial" pitchFamily="34" charset="-122"/>
                <a:cs typeface="Arial" pitchFamily="34" charset="-120"/>
              </a:rPr>
              <a:t>2</a:t>
            </a:r>
            <a:endParaRPr lang="en-US" sz="1200" dirty="0"/>
          </a:p>
        </p:txBody>
      </p:sp>
      <p:sp>
        <p:nvSpPr>
          <p:cNvPr id="11" name="Text 8"/>
          <p:cNvSpPr/>
          <p:nvPr/>
        </p:nvSpPr>
        <p:spPr>
          <a:xfrm>
            <a:off x="3844925" y="2744391"/>
            <a:ext cx="1795367" cy="57388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61D"/>
                </a:solidFill>
                <a:latin typeface="Arial" pitchFamily="34" charset="0"/>
                <a:ea typeface="Arial" pitchFamily="34" charset="-122"/>
                <a:cs typeface="Arial" pitchFamily="34" charset="-120"/>
              </a:rPr>
              <a:t>The AI finds and counts</a:t>
            </a:r>
            <a:endParaRPr lang="en-US" sz="1800" dirty="0"/>
          </a:p>
        </p:txBody>
      </p:sp>
      <p:sp>
        <p:nvSpPr>
          <p:cNvPr id="12" name="Text 9"/>
          <p:cNvSpPr/>
          <p:nvPr/>
        </p:nvSpPr>
        <p:spPr>
          <a:xfrm>
            <a:off x="3844925" y="3419872"/>
            <a:ext cx="1795367" cy="10160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Arial" pitchFamily="34" charset="0"/>
                <a:ea typeface="Arial" pitchFamily="34" charset="-122"/>
                <a:cs typeface="Arial" pitchFamily="34" charset="-120"/>
              </a:rPr>
              <a:t>It boxes every insect in the photo, with its species and confidence.</a:t>
            </a:r>
            <a:endParaRPr lang="en-US" sz="1300" dirty="0"/>
          </a:p>
        </p:txBody>
      </p:sp>
      <p:pic>
        <p:nvPicPr>
          <p:cNvPr id="13" name="Image 1" descr="arrow-right">    </p:cNvPr>
          <p:cNvPicPr>
            <a:picLocks noChangeAspect="1"/>
          </p:cNvPicPr>
          <p:nvPr/>
        </p:nvPicPr>
        <p:blipFill>
          <a:blip r:embed="rId2"/>
          <a:srcRect l="0" r="0" t="0" b="0"/>
          <a:stretch/>
        </p:blipFill>
        <p:spPr>
          <a:xfrm>
            <a:off x="5949950" y="3832820"/>
            <a:ext cx="304800" cy="177800"/>
          </a:xfrm>
          <a:prstGeom prst="rect">
            <a:avLst/>
          </a:prstGeom>
        </p:spPr>
      </p:pic>
      <p:sp>
        <p:nvSpPr>
          <p:cNvPr id="14" name="Shape 10"/>
          <p:cNvSpPr/>
          <p:nvPr/>
        </p:nvSpPr>
        <p:spPr>
          <a:xfrm>
            <a:off x="6359525" y="2004616"/>
            <a:ext cx="2257425" cy="3834209"/>
          </a:xfrm>
          <a:prstGeom prst="roundRect">
            <a:avLst>
              <a:gd name="adj" fmla="val 5485"/>
            </a:avLst>
          </a:prstGeom>
          <a:solidFill>
            <a:srgbClr val="FFFFFF"/>
          </a:solidFill>
          <a:ln w="6350">
            <a:solidFill>
              <a:srgbClr val="DCE3DA"/>
            </a:solidFill>
            <a:prstDash val="solid"/>
          </a:ln>
        </p:spPr>
      </p:sp>
      <p:sp>
        <p:nvSpPr>
          <p:cNvPr id="15" name="Text 11"/>
          <p:cNvSpPr/>
          <p:nvPr/>
        </p:nvSpPr>
        <p:spPr>
          <a:xfrm>
            <a:off x="6616700" y="2261791"/>
            <a:ext cx="355600" cy="355600"/>
          </a:xfrm>
          <a:custGeom>
            <a:avLst/>
            <a:gdLst/>
            <a:ahLst/>
            <a:cxnLst/>
            <a:rect l="l" t="t" r="r" b="b"/>
            <a:pathLst>
              <a:path w="355600" h="355600">
                <a:moveTo>
                  <a:pt x="177800" y="0"/>
                </a:moveTo>
                <a:lnTo>
                  <a:pt x="177800" y="0"/>
                </a:lnTo>
                <a:arcTo hR="177800" wR="177800" stAng="16200000" swAng="5400000"/>
                <a:lnTo>
                  <a:pt x="355600" y="177800"/>
                </a:lnTo>
                <a:arcTo hR="177800" wR="177800" stAng="0" swAng="5400000"/>
                <a:lnTo>
                  <a:pt x="177800" y="355600"/>
                </a:lnTo>
                <a:arcTo hR="177800" wR="177800" stAng="5400000" swAng="5400000"/>
                <a:lnTo>
                  <a:pt x="0" y="177800"/>
                </a:lnTo>
                <a:arcTo hR="177800" wR="177800" stAng="10800000" swAng="5400000"/>
                <a:close/>
              </a:path>
            </a:pathLst>
          </a:custGeom>
          <a:solidFill>
            <a:srgbClr val="F2C230"/>
          </a:solidFill>
          <a:ln/>
        </p:spPr>
        <p:txBody>
          <a:bodyPr wrap="square" lIns="0" tIns="0" rIns="0" bIns="0" rtlCol="0" anchor="t">
            <a:normAutofit/>
          </a:bodyPr>
          <a:lstStyle/>
          <a:p>
            <a:pPr algn="ctr" indent="0" marL="0">
              <a:lnSpc>
                <a:spcPts val="2796"/>
              </a:lnSpc>
              <a:buNone/>
            </a:pPr>
            <a:r>
              <a:rPr lang="en-US" sz="1200" b="1" dirty="0">
                <a:solidFill>
                  <a:srgbClr val="13261D"/>
                </a:solidFill>
                <a:latin typeface="Arial" pitchFamily="34" charset="0"/>
                <a:ea typeface="Arial" pitchFamily="34" charset="-122"/>
                <a:cs typeface="Arial" pitchFamily="34" charset="-120"/>
              </a:rPr>
              <a:t>3</a:t>
            </a:r>
            <a:endParaRPr lang="en-US" sz="1200" dirty="0"/>
          </a:p>
        </p:txBody>
      </p:sp>
      <p:sp>
        <p:nvSpPr>
          <p:cNvPr id="16" name="Text 12"/>
          <p:cNvSpPr/>
          <p:nvPr/>
        </p:nvSpPr>
        <p:spPr>
          <a:xfrm>
            <a:off x="6616700" y="2744391"/>
            <a:ext cx="1795367"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61D"/>
                </a:solidFill>
                <a:latin typeface="Arial" pitchFamily="34" charset="0"/>
                <a:ea typeface="Arial" pitchFamily="34" charset="-122"/>
                <a:cs typeface="Arial" pitchFamily="34" charset="-120"/>
              </a:rPr>
              <a:t>Daily catches</a:t>
            </a:r>
            <a:endParaRPr lang="en-US" sz="1800" dirty="0"/>
          </a:p>
        </p:txBody>
      </p:sp>
      <p:sp>
        <p:nvSpPr>
          <p:cNvPr id="17" name="Text 13"/>
          <p:cNvSpPr/>
          <p:nvPr/>
        </p:nvSpPr>
        <p:spPr>
          <a:xfrm>
            <a:off x="6616700" y="3145631"/>
            <a:ext cx="1795367" cy="7683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Arial" pitchFamily="34" charset="0"/>
                <a:ea typeface="Arial" pitchFamily="34" charset="-122"/>
                <a:cs typeface="Arial" pitchFamily="34" charset="-120"/>
              </a:rPr>
              <a:t>New insects per day and flies per trap per day, to compare.</a:t>
            </a:r>
            <a:endParaRPr lang="en-US" sz="1300" dirty="0"/>
          </a:p>
        </p:txBody>
      </p:sp>
      <p:pic>
        <p:nvPicPr>
          <p:cNvPr id="18" name="Image 2" descr="arrow-right">    </p:cNvPr>
          <p:cNvPicPr>
            <a:picLocks noChangeAspect="1"/>
          </p:cNvPicPr>
          <p:nvPr/>
        </p:nvPicPr>
        <p:blipFill>
          <a:blip r:embed="rId3"/>
          <a:srcRect l="0" r="0" t="0" b="0"/>
          <a:stretch/>
        </p:blipFill>
        <p:spPr>
          <a:xfrm>
            <a:off x="8721725" y="3832820"/>
            <a:ext cx="304800" cy="177800"/>
          </a:xfrm>
          <a:prstGeom prst="rect">
            <a:avLst/>
          </a:prstGeom>
        </p:spPr>
      </p:pic>
      <p:sp>
        <p:nvSpPr>
          <p:cNvPr id="19" name="Shape 14"/>
          <p:cNvSpPr/>
          <p:nvPr/>
        </p:nvSpPr>
        <p:spPr>
          <a:xfrm>
            <a:off x="9128125" y="2001441"/>
            <a:ext cx="2251075" cy="3840559"/>
          </a:xfrm>
          <a:prstGeom prst="roundRect">
            <a:avLst>
              <a:gd name="adj" fmla="val 5642"/>
            </a:avLst>
          </a:prstGeom>
          <a:solidFill>
            <a:srgbClr val="13261D"/>
          </a:solidFill>
          <a:ln/>
        </p:spPr>
      </p:sp>
      <p:sp>
        <p:nvSpPr>
          <p:cNvPr id="20" name="Text 15"/>
          <p:cNvSpPr/>
          <p:nvPr/>
        </p:nvSpPr>
        <p:spPr>
          <a:xfrm>
            <a:off x="9382125" y="2255441"/>
            <a:ext cx="355600" cy="355600"/>
          </a:xfrm>
          <a:custGeom>
            <a:avLst/>
            <a:gdLst/>
            <a:ahLst/>
            <a:cxnLst/>
            <a:rect l="l" t="t" r="r" b="b"/>
            <a:pathLst>
              <a:path w="355600" h="355600">
                <a:moveTo>
                  <a:pt x="177800" y="0"/>
                </a:moveTo>
                <a:lnTo>
                  <a:pt x="177800" y="0"/>
                </a:lnTo>
                <a:arcTo hR="177800" wR="177800" stAng="16200000" swAng="5400000"/>
                <a:lnTo>
                  <a:pt x="355600" y="177800"/>
                </a:lnTo>
                <a:arcTo hR="177800" wR="177800" stAng="0" swAng="5400000"/>
                <a:lnTo>
                  <a:pt x="177800" y="355600"/>
                </a:lnTo>
                <a:arcTo hR="177800" wR="177800" stAng="5400000" swAng="5400000"/>
                <a:lnTo>
                  <a:pt x="0" y="177800"/>
                </a:lnTo>
                <a:arcTo hR="177800" wR="177800" stAng="10800000" swAng="5400000"/>
                <a:close/>
              </a:path>
            </a:pathLst>
          </a:custGeom>
          <a:solidFill>
            <a:srgbClr val="F2C230"/>
          </a:solidFill>
          <a:ln/>
        </p:spPr>
        <p:txBody>
          <a:bodyPr wrap="square" lIns="0" tIns="0" rIns="0" bIns="0" rtlCol="0" anchor="t">
            <a:normAutofit/>
          </a:bodyPr>
          <a:lstStyle/>
          <a:p>
            <a:pPr algn="ctr" indent="0" marL="0">
              <a:lnSpc>
                <a:spcPts val="2796"/>
              </a:lnSpc>
              <a:buNone/>
            </a:pPr>
            <a:r>
              <a:rPr lang="en-US" sz="1200" b="1" dirty="0">
                <a:solidFill>
                  <a:srgbClr val="13261D"/>
                </a:solidFill>
                <a:latin typeface="Arial" pitchFamily="34" charset="0"/>
                <a:ea typeface="Arial" pitchFamily="34" charset="-122"/>
                <a:cs typeface="Arial" pitchFamily="34" charset="-120"/>
              </a:rPr>
              <a:t>4</a:t>
            </a:r>
            <a:endParaRPr lang="en-US" sz="1200" dirty="0"/>
          </a:p>
        </p:txBody>
      </p:sp>
      <p:sp>
        <p:nvSpPr>
          <p:cNvPr id="21" name="Text 16"/>
          <p:cNvSpPr/>
          <p:nvPr/>
        </p:nvSpPr>
        <p:spPr>
          <a:xfrm>
            <a:off x="9382125" y="2738041"/>
            <a:ext cx="1795367" cy="57388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5F7F1"/>
                </a:solidFill>
                <a:latin typeface="Arial" pitchFamily="34" charset="0"/>
                <a:ea typeface="Arial" pitchFamily="34" charset="-122"/>
                <a:cs typeface="Arial" pitchFamily="34" charset="-120"/>
              </a:rPr>
              <a:t>Alerts and reports</a:t>
            </a:r>
            <a:endParaRPr lang="en-US" sz="1800" dirty="0"/>
          </a:p>
        </p:txBody>
      </p:sp>
      <p:sp>
        <p:nvSpPr>
          <p:cNvPr id="22" name="Text 17"/>
          <p:cNvSpPr/>
          <p:nvPr/>
        </p:nvSpPr>
        <p:spPr>
          <a:xfrm>
            <a:off x="9382125" y="3413522"/>
            <a:ext cx="1795367" cy="7683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BFD3C6"/>
                </a:solidFill>
                <a:latin typeface="Arial" pitchFamily="34" charset="0"/>
                <a:ea typeface="Arial" pitchFamily="34" charset="-122"/>
                <a:cs typeface="Arial" pitchFamily="34" charset="-120"/>
              </a:rPr>
              <a:t>An alert as soon as a threshold is reached; reports on a schedule.</a:t>
            </a:r>
            <a:endParaRPr lang="en-US" sz="1300" dirty="0"/>
          </a:p>
        </p:txBody>
      </p:sp>
      <p:sp>
        <p:nvSpPr>
          <p:cNvPr id="23" name="Text 1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B70"/>
                </a:solidFill>
                <a:latin typeface="Arial" pitchFamily="34" charset="0"/>
                <a:ea typeface="Arial" pitchFamily="34" charset="-122"/>
                <a:cs typeface="Arial" pitchFamily="34" charset="-120"/>
              </a:rPr>
              <a:t>FlyBot · 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3261D"/>
        </a:solidFill>
      </p:bgPr>
    </p:bg>
    <p:spTree>
      <p:nvGrpSpPr>
        <p:cNvPr id="1" name=""/>
        <p:cNvGrpSpPr/>
        <p:nvPr/>
      </p:nvGrpSpPr>
      <p:grpSpPr>
        <a:xfrm>
          <a:off x="0" y="0"/>
          <a:ext cx="0" cy="0"/>
          <a:chOff x="0" y="0"/>
          <a:chExt cx="0" cy="0"/>
        </a:xfrm>
      </p:grpSpPr>
      <p:sp>
        <p:nvSpPr>
          <p:cNvPr id="2" name="Text 0"/>
          <p:cNvSpPr/>
          <p:nvPr/>
        </p:nvSpPr>
        <p:spPr>
          <a:xfrm>
            <a:off x="812800" y="1364159"/>
            <a:ext cx="2930144"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C230"/>
                </a:solidFill>
                <a:latin typeface="Arial" pitchFamily="34" charset="0"/>
                <a:ea typeface="Arial" pitchFamily="34" charset="-122"/>
                <a:cs typeface="Arial" pitchFamily="34" charset="-120"/>
              </a:rPr>
              <a:t>PRODUCT TOUR</a:t>
            </a:r>
            <a:endParaRPr lang="en-US" sz="1200" dirty="0"/>
          </a:p>
        </p:txBody>
      </p:sp>
      <p:sp>
        <p:nvSpPr>
          <p:cNvPr id="3" name="Text 1"/>
          <p:cNvSpPr/>
          <p:nvPr>
            <p:ph type="title"/>
          </p:nvPr>
        </p:nvSpPr>
        <p:spPr>
          <a:xfrm>
            <a:off x="812800" y="1729879"/>
            <a:ext cx="2930144" cy="960041"/>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F5F7F1"/>
                </a:solidFill>
                <a:latin typeface="Arial" pitchFamily="34" charset="0"/>
                <a:ea typeface="Arial" pitchFamily="34" charset="-122"/>
                <a:cs typeface="Arial" pitchFamily="34" charset="-120"/>
              </a:rPr>
              <a:t>FlyBot in 86 seconds</a:t>
            </a:r>
            <a:endParaRPr lang="en-US" sz="3200" dirty="0"/>
          </a:p>
        </p:txBody>
      </p:sp>
      <p:sp>
        <p:nvSpPr>
          <p:cNvPr id="4" name="Text 2"/>
          <p:cNvSpPr/>
          <p:nvPr/>
        </p:nvSpPr>
        <p:spPr>
          <a:xfrm>
            <a:off x="812800" y="2816920"/>
            <a:ext cx="2930144" cy="10922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BFD3C6"/>
                </a:solidFill>
                <a:latin typeface="Arial" pitchFamily="34" charset="0"/>
                <a:ea typeface="Arial" pitchFamily="34" charset="-122"/>
                <a:cs typeface="Arial" pitchFamily="34" charset="-120"/>
              </a:rPr>
              <a:t>A walk through the app: overview, AI detection, cameras, analytics, reports, the FlyBot assistant, the VietGAP record and the quick tour.</a:t>
            </a:r>
            <a:endParaRPr lang="en-US" sz="1400" dirty="0"/>
          </a:p>
        </p:txBody>
      </p:sp>
      <p:sp>
        <p:nvSpPr>
          <p:cNvPr id="5" name="Text 3"/>
          <p:cNvSpPr/>
          <p:nvPr/>
        </p:nvSpPr>
        <p:spPr>
          <a:xfrm>
            <a:off x="812800" y="4036120"/>
            <a:ext cx="2930144"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2C230"/>
                </a:solidFill>
                <a:latin typeface="Arial" pitchFamily="34" charset="0"/>
                <a:ea typeface="Arial" pitchFamily="34" charset="-122"/>
                <a:cs typeface="Arial" pitchFamily="34" charset="-120"/>
              </a:rPr>
              <a:t>▶ </a:t>
            </a:r>
            <a:r>
              <a:rPr lang="en-US" sz="1400" b="1" u="sng" dirty="0">
                <a:solidFill>
                  <a:srgbClr val="F2C230"/>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Watch the video online</a:t>
            </a:r>
            <a:endParaRPr lang="en-US" sz="1400" dirty="0"/>
          </a:p>
        </p:txBody>
      </p:sp>
      <p:sp>
        <p:nvSpPr>
          <p:cNvPr id="6" name="Text 4"/>
          <p:cNvSpPr/>
          <p:nvPr/>
        </p:nvSpPr>
        <p:spPr>
          <a:xfrm>
            <a:off x="812800" y="4437360"/>
            <a:ext cx="2930144"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898"/>
                </a:solidFill>
                <a:latin typeface="Arial" pitchFamily="34" charset="0"/>
                <a:ea typeface="Arial" pitchFamily="34" charset="-122"/>
                <a:cs typeface="Arial" pitchFamily="34" charset="-120"/>
              </a:rPr>
              <a:t>It plays by itself when presented. In the PDF or PowerPoint file, click the video or the link above to watch the latest version on the website.</a:t>
            </a:r>
            <a:endParaRPr lang="en-US" sz="1200" dirty="0"/>
          </a:p>
        </p:txBody>
      </p:sp>
      <p:sp>
        <p:nvSpPr>
          <p:cNvPr id="7" name="Shape 5"/>
          <p:cNvSpPr/>
          <p:nvPr/>
        </p:nvSpPr>
        <p:spPr>
          <a:xfrm>
            <a:off x="4064000" y="1270000"/>
            <a:ext cx="7315200" cy="4114800"/>
          </a:xfrm>
          <a:prstGeom prst="roundRect">
            <a:avLst>
              <a:gd name="adj" fmla="val 2469"/>
            </a:avLst>
          </a:prstGeom>
          <a:solidFill>
            <a:srgbClr val="0B1712"/>
          </a:solidFill>
          <a:ln/>
          <a:effectLst>
            <a:outerShdw sx="100000" sy="100000" kx="0" ky="0" algn="bl" rotWithShape="0" blurRad="406400" dist="203200" dir="5400000">
              <a:srgbClr val="000000">
                <a:alpha val="35000"/>
              </a:srgbClr>
            </a:outerShdw>
          </a:effectLst>
        </p:spPr>
      </p:sp>
      <p:pic>
        <p:nvPicPr>
          <p:cNvPr id="8" name="Image 0" descr="FlyBot product tour: a walk through the main screens of the app">
            <a:hlinkClick r:id="rId5"/>
          </p:cNvPr>
          <p:cNvPicPr>
            <a:picLocks noChangeAspect="1"/>
          </p:cNvPicPr>
          <p:nvPr/>
        </p:nvPicPr>
        <p:blipFill>
          <a:blip r:embed="rId2"/>
          <a:srcRect l="-68" r="-68" t="0" b="0"/>
          <a:stretch/>
        </p:blipFill>
        <p:spPr>
          <a:xfrm>
            <a:off x="4070350" y="1276350"/>
            <a:ext cx="7302500" cy="4102100"/>
          </a:xfrm>
          <a:prstGeom prst="roundRect">
            <a:avLst>
              <a:gd name="adj" fmla="val 2322"/>
            </a:avLst>
          </a:prstGeom>
        </p:spPr>
      </p:pic>
      <p:sp>
        <p:nvSpPr>
          <p:cNvPr id="11" name="Play video">
            <a:hlinkClick r:id="rId5"/>
          </p:cNvPr>
          <p:cNvSpPr/>
          <p:nvPr/>
        </p:nvSpPr>
        <p:spPr>
          <a:xfrm>
            <a:off x="7352411" y="2958211"/>
            <a:ext cx="738378" cy="738378"/>
          </a:xfrm>
          <a:prstGeom prst="ellipse">
            <a:avLst/>
          </a:prstGeom>
          <a:solidFill>
            <a:srgbClr val="F2C230">
              <a:alpha val="92000"/>
            </a:srgbClr>
          </a:solidFill>
          <a:ln>
            <a:noFill/>
          </a:ln>
        </p:spPr>
      </p:sp>
      <p:sp>
        <p:nvSpPr>
          <p:cNvPr id="12" name="Play icon">
            <a:hlinkClick r:id="rId5"/>
          </p:cNvPr>
          <p:cNvSpPr/>
          <p:nvPr/>
        </p:nvSpPr>
        <p:spPr>
          <a:xfrm rot="5400000">
            <a:off x="7591350" y="3172341"/>
            <a:ext cx="310119" cy="310119"/>
          </a:xfrm>
          <a:prstGeom prst="triangle">
            <a:avLst/>
          </a:prstGeom>
          <a:solidFill>
            <a:srgbClr val="13261D">
              <a:alpha val="100000"/>
            </a:srgbClr>
          </a:solidFill>
          <a:ln>
            <a:noFill/>
          </a:ln>
        </p:spPr>
      </p:sp>
      <p:sp>
        <p:nvSpPr>
          <p:cNvPr id="9" name="Shape 6"/>
          <p:cNvSpPr/>
          <p:nvPr/>
        </p:nvSpPr>
        <p:spPr>
          <a:xfrm>
            <a:off x="4067175" y="1273175"/>
            <a:ext cx="7308850" cy="4108450"/>
          </a:xfrm>
          <a:prstGeom prst="roundRect">
            <a:avLst>
              <a:gd name="adj" fmla="val 2396"/>
            </a:avLst>
          </a:prstGeom>
          <a:noFill/>
          <a:ln w="6350">
            <a:solidFill>
              <a:srgbClr val="2E4A3B"/>
            </a:solidFill>
            <a:prstDash val="solid"/>
          </a:ln>
        </p:spPr>
      </p:sp>
      <p:sp>
        <p:nvSpPr>
          <p:cNvPr id="10" name="Text 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898"/>
                </a:solidFill>
                <a:latin typeface="Arial" pitchFamily="34" charset="0"/>
                <a:ea typeface="Arial" pitchFamily="34" charset="-122"/>
                <a:cs typeface="Arial" pitchFamily="34" charset="-120"/>
              </a:rPr>
              <a:t>FlyBot · 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7331"/>
          </a:xfrm>
          <a:prstGeom prst="rect">
            <a:avLst/>
          </a:prstGeom>
          <a:noFill/>
          <a:ln/>
        </p:spPr>
        <p:txBody>
          <a:bodyPr wrap="square" lIns="0" tIns="0" rIns="0" bIns="0" rtlCol="0" anchor="t">
            <a:normAutofit/>
          </a:bodyPr>
          <a:lstStyle/>
          <a:p>
            <a:pPr algn="l" indent="0" marL="0">
              <a:lnSpc>
                <a:spcPts val="1675"/>
              </a:lnSpc>
              <a:buNone/>
            </a:pPr>
            <a:r>
              <a:rPr lang="en-US" sz="1196" b="1" spc="150" kern="0" dirty="0">
                <a:solidFill>
                  <a:srgbClr val="1D7A50"/>
                </a:solidFill>
                <a:latin typeface="Arial" pitchFamily="34" charset="0"/>
                <a:ea typeface="Arial" pitchFamily="34" charset="-122"/>
                <a:cs typeface="Arial" pitchFamily="34" charset="-120"/>
              </a:rPr>
              <a:t>OVERVIEW</a:t>
            </a:r>
            <a:endParaRPr lang="en-US" sz="1196" dirty="0"/>
          </a:p>
        </p:txBody>
      </p:sp>
      <p:sp>
        <p:nvSpPr>
          <p:cNvPr id="3" name="Text 1"/>
          <p:cNvSpPr/>
          <p:nvPr>
            <p:ph type="title"/>
          </p:nvPr>
        </p:nvSpPr>
        <p:spPr>
          <a:xfrm>
            <a:off x="812800" y="1126331"/>
            <a:ext cx="10883392" cy="489744"/>
          </a:xfrm>
          <a:prstGeom prst="rect">
            <a:avLst/>
          </a:prstGeom>
          <a:noFill/>
          <a:ln/>
        </p:spPr>
        <p:txBody>
          <a:bodyPr wrap="square" lIns="0" tIns="0" rIns="0" bIns="0" rtlCol="0" anchor="t">
            <a:normAutofit/>
          </a:bodyPr>
          <a:lstStyle/>
          <a:p>
            <a:pPr algn="l" indent="0" marL="0">
              <a:lnSpc>
                <a:spcPts val="3668"/>
              </a:lnSpc>
              <a:buNone/>
            </a:pPr>
            <a:r>
              <a:rPr lang="en-US" sz="3190" b="1" i="0" dirty="0">
                <a:solidFill>
                  <a:srgbClr val="13261D"/>
                </a:solidFill>
                <a:latin typeface="Arial" pitchFamily="34" charset="0"/>
                <a:ea typeface="Arial" pitchFamily="34" charset="-122"/>
                <a:cs typeface="Arial" pitchFamily="34" charset="-120"/>
              </a:rPr>
              <a:t>The whole farm on one screen</a:t>
            </a:r>
            <a:endParaRPr lang="en-US" sz="3190" dirty="0"/>
          </a:p>
        </p:txBody>
      </p:sp>
      <p:sp>
        <p:nvSpPr>
          <p:cNvPr id="4" name="Shape 2"/>
          <p:cNvSpPr/>
          <p:nvPr/>
        </p:nvSpPr>
        <p:spPr>
          <a:xfrm>
            <a:off x="812800" y="1895475"/>
            <a:ext cx="6350000" cy="3968750"/>
          </a:xfrm>
          <a:prstGeom prst="roundRect">
            <a:avLst>
              <a:gd name="adj" fmla="val 2560"/>
            </a:avLst>
          </a:prstGeom>
          <a:solidFill>
            <a:srgbClr val="FFFFFF"/>
          </a:solidFill>
          <a:ln/>
          <a:effectLst>
            <a:outerShdw sx="100000" sy="100000" kx="0" ky="0" algn="bl" rotWithShape="0" blurRad="304800" dist="152400" dir="5400000">
              <a:srgbClr val="13261D">
                <a:alpha val="12000"/>
              </a:srgbClr>
            </a:outerShdw>
          </a:effectLst>
        </p:spPr>
      </p:sp>
      <p:pic>
        <p:nvPicPr>
          <p:cNvPr id="5" name="Image 0" descr="Overview screen: catches today, flies per trap per day, cameras online and risk level, with the list of traps">    </p:cNvPr>
          <p:cNvPicPr>
            <a:picLocks noChangeAspect="1"/>
          </p:cNvPicPr>
          <p:nvPr/>
        </p:nvPicPr>
        <p:blipFill>
          <a:blip r:embed="rId1"/>
          <a:srcRect l="-60" r="-60" t="0" b="0"/>
          <a:stretch/>
        </p:blipFill>
        <p:spPr>
          <a:xfrm>
            <a:off x="819150" y="1901825"/>
            <a:ext cx="6337300" cy="3956050"/>
          </a:xfrm>
          <a:prstGeom prst="roundRect">
            <a:avLst>
              <a:gd name="adj" fmla="val 2408"/>
            </a:avLst>
          </a:prstGeom>
        </p:spPr>
      </p:pic>
      <p:sp>
        <p:nvSpPr>
          <p:cNvPr id="6" name="Shape 3"/>
          <p:cNvSpPr/>
          <p:nvPr/>
        </p:nvSpPr>
        <p:spPr>
          <a:xfrm>
            <a:off x="815975" y="1898650"/>
            <a:ext cx="6343650" cy="3962400"/>
          </a:xfrm>
          <a:prstGeom prst="roundRect">
            <a:avLst>
              <a:gd name="adj" fmla="val 2484"/>
            </a:avLst>
          </a:prstGeom>
          <a:noFill/>
          <a:ln w="6350">
            <a:solidFill>
              <a:srgbClr val="DCE3DA"/>
            </a:solidFill>
            <a:prstDash val="solid"/>
          </a:ln>
        </p:spPr>
      </p:sp>
      <p:sp>
        <p:nvSpPr>
          <p:cNvPr id="7" name="Text 4"/>
          <p:cNvSpPr/>
          <p:nvPr/>
        </p:nvSpPr>
        <p:spPr>
          <a:xfrm>
            <a:off x="7569200" y="1895475"/>
            <a:ext cx="392430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3261D"/>
                </a:solidFill>
                <a:latin typeface="Arial" pitchFamily="34" charset="0"/>
                <a:ea typeface="Arial" pitchFamily="34" charset="-122"/>
                <a:cs typeface="Arial" pitchFamily="34" charset="-120"/>
              </a:rPr>
              <a:t>Catches today</a:t>
            </a:r>
            <a:endParaRPr lang="en-US" sz="1600" dirty="0"/>
          </a:p>
        </p:txBody>
      </p:sp>
      <p:sp>
        <p:nvSpPr>
          <p:cNvPr id="8" name="Text 5"/>
          <p:cNvSpPr/>
          <p:nvPr/>
        </p:nvSpPr>
        <p:spPr>
          <a:xfrm>
            <a:off x="7569200" y="2200275"/>
            <a:ext cx="3924300"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Arial" pitchFamily="34" charset="0"/>
                <a:ea typeface="Arial" pitchFamily="34" charset="-122"/>
                <a:cs typeface="Arial" pitchFamily="34" charset="-120"/>
              </a:rPr>
              <a:t>New insects, not the running total on the sticky card.</a:t>
            </a:r>
            <a:endParaRPr lang="en-US" sz="1300" dirty="0"/>
          </a:p>
        </p:txBody>
      </p:sp>
      <p:sp>
        <p:nvSpPr>
          <p:cNvPr id="9" name="Text 6"/>
          <p:cNvSpPr/>
          <p:nvPr/>
        </p:nvSpPr>
        <p:spPr>
          <a:xfrm>
            <a:off x="7569200" y="2949575"/>
            <a:ext cx="392430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3261D"/>
                </a:solidFill>
                <a:latin typeface="Arial" pitchFamily="34" charset="0"/>
                <a:ea typeface="Arial" pitchFamily="34" charset="-122"/>
                <a:cs typeface="Arial" pitchFamily="34" charset="-120"/>
              </a:rPr>
              <a:t>Flies per trap per day</a:t>
            </a:r>
            <a:endParaRPr lang="en-US" sz="1600" dirty="0"/>
          </a:p>
        </p:txBody>
      </p:sp>
      <p:sp>
        <p:nvSpPr>
          <p:cNvPr id="10" name="Text 7"/>
          <p:cNvSpPr/>
          <p:nvPr/>
        </p:nvSpPr>
        <p:spPr>
          <a:xfrm>
            <a:off x="7569200" y="3254375"/>
            <a:ext cx="3924300"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Arial" pitchFamily="34" charset="0"/>
                <a:ea typeface="Arial" pitchFamily="34" charset="-122"/>
                <a:cs typeface="Arial" pitchFamily="34" charset="-120"/>
              </a:rPr>
              <a:t>The standard figure to compare traps and weeks.</a:t>
            </a:r>
            <a:endParaRPr lang="en-US" sz="1300" dirty="0"/>
          </a:p>
        </p:txBody>
      </p:sp>
      <p:sp>
        <p:nvSpPr>
          <p:cNvPr id="11" name="Text 8"/>
          <p:cNvSpPr/>
          <p:nvPr/>
        </p:nvSpPr>
        <p:spPr>
          <a:xfrm>
            <a:off x="7569200" y="3756025"/>
            <a:ext cx="392430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3261D"/>
                </a:solidFill>
                <a:latin typeface="Arial" pitchFamily="34" charset="0"/>
                <a:ea typeface="Arial" pitchFamily="34" charset="-122"/>
                <a:cs typeface="Arial" pitchFamily="34" charset="-120"/>
              </a:rPr>
              <a:t>Risk for every trap</a:t>
            </a:r>
            <a:endParaRPr lang="en-US" sz="1600" dirty="0"/>
          </a:p>
        </p:txBody>
      </p:sp>
      <p:sp>
        <p:nvSpPr>
          <p:cNvPr id="12" name="Text 9"/>
          <p:cNvSpPr/>
          <p:nvPr/>
        </p:nvSpPr>
        <p:spPr>
          <a:xfrm>
            <a:off x="7569200" y="4060825"/>
            <a:ext cx="3924300"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Arial" pitchFamily="34" charset="0"/>
                <a:ea typeface="Arial" pitchFamily="34" charset="-122"/>
                <a:cs typeface="Arial" pitchFamily="34" charset="-120"/>
              </a:rPr>
              <a:t>Against each trap's own threshold, with its latest AI photo.</a:t>
            </a:r>
            <a:endParaRPr lang="en-US" sz="1300" dirty="0"/>
          </a:p>
        </p:txBody>
      </p:sp>
      <p:sp>
        <p:nvSpPr>
          <p:cNvPr id="13" name="Text 1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B70"/>
                </a:solidFill>
                <a:latin typeface="Arial" pitchFamily="34" charset="0"/>
                <a:ea typeface="Arial" pitchFamily="34" charset="-122"/>
                <a:cs typeface="Arial" pitchFamily="34" charset="-120"/>
              </a:rPr>
              <a:t>FlyBot · 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7331"/>
          </a:xfrm>
          <a:prstGeom prst="rect">
            <a:avLst/>
          </a:prstGeom>
          <a:noFill/>
          <a:ln/>
        </p:spPr>
        <p:txBody>
          <a:bodyPr wrap="square" lIns="0" tIns="0" rIns="0" bIns="0" rtlCol="0" anchor="t">
            <a:normAutofit/>
          </a:bodyPr>
          <a:lstStyle/>
          <a:p>
            <a:pPr algn="l" indent="0" marL="0">
              <a:lnSpc>
                <a:spcPts val="1675"/>
              </a:lnSpc>
              <a:buNone/>
            </a:pPr>
            <a:r>
              <a:rPr lang="en-US" sz="1196" b="1" spc="150" kern="0" dirty="0">
                <a:solidFill>
                  <a:srgbClr val="1D7A50"/>
                </a:solidFill>
                <a:latin typeface="Arial" pitchFamily="34" charset="0"/>
                <a:ea typeface="Arial" pitchFamily="34" charset="-122"/>
                <a:cs typeface="Arial" pitchFamily="34" charset="-120"/>
              </a:rPr>
              <a:t>AI DETECTION</a:t>
            </a:r>
            <a:endParaRPr lang="en-US" sz="1196" dirty="0"/>
          </a:p>
        </p:txBody>
      </p:sp>
      <p:sp>
        <p:nvSpPr>
          <p:cNvPr id="3" name="Text 1"/>
          <p:cNvSpPr/>
          <p:nvPr>
            <p:ph type="title"/>
          </p:nvPr>
        </p:nvSpPr>
        <p:spPr>
          <a:xfrm>
            <a:off x="812800" y="1126331"/>
            <a:ext cx="10883392" cy="489744"/>
          </a:xfrm>
          <a:prstGeom prst="rect">
            <a:avLst/>
          </a:prstGeom>
          <a:noFill/>
          <a:ln/>
        </p:spPr>
        <p:txBody>
          <a:bodyPr wrap="square" lIns="0" tIns="0" rIns="0" bIns="0" rtlCol="0" anchor="t">
            <a:normAutofit/>
          </a:bodyPr>
          <a:lstStyle/>
          <a:p>
            <a:pPr algn="l" indent="0" marL="0">
              <a:lnSpc>
                <a:spcPts val="3668"/>
              </a:lnSpc>
              <a:buNone/>
            </a:pPr>
            <a:r>
              <a:rPr lang="en-US" sz="3190" b="1" i="0" dirty="0">
                <a:solidFill>
                  <a:srgbClr val="13261D"/>
                </a:solidFill>
                <a:latin typeface="Arial" pitchFamily="34" charset="0"/>
                <a:ea typeface="Arial" pitchFamily="34" charset="-122"/>
                <a:cs typeface="Arial" pitchFamily="34" charset="-120"/>
              </a:rPr>
              <a:t>Every insect boxed and named</a:t>
            </a:r>
            <a:endParaRPr lang="en-US" sz="3190" dirty="0"/>
          </a:p>
        </p:txBody>
      </p:sp>
      <p:sp>
        <p:nvSpPr>
          <p:cNvPr id="4" name="Shape 2"/>
          <p:cNvSpPr/>
          <p:nvPr/>
        </p:nvSpPr>
        <p:spPr>
          <a:xfrm>
            <a:off x="812800" y="1895475"/>
            <a:ext cx="6350000" cy="3968750"/>
          </a:xfrm>
          <a:prstGeom prst="roundRect">
            <a:avLst>
              <a:gd name="adj" fmla="val 2560"/>
            </a:avLst>
          </a:prstGeom>
          <a:solidFill>
            <a:srgbClr val="FFFFFF"/>
          </a:solidFill>
          <a:ln/>
          <a:effectLst>
            <a:outerShdw sx="100000" sy="100000" kx="0" ky="0" algn="bl" rotWithShape="0" blurRad="304800" dist="152400" dir="5400000">
              <a:srgbClr val="13261D">
                <a:alpha val="12000"/>
              </a:srgbClr>
            </a:outerShdw>
          </a:effectLst>
        </p:spPr>
      </p:sp>
      <p:pic>
        <p:nvPicPr>
          <p:cNvPr id="5" name="Image 0" descr="Sticky card photo with a detection box around every fruit fly and moth, and counts by species">    </p:cNvPr>
          <p:cNvPicPr>
            <a:picLocks noChangeAspect="1"/>
          </p:cNvPicPr>
          <p:nvPr/>
        </p:nvPicPr>
        <p:blipFill>
          <a:blip r:embed="rId1"/>
          <a:srcRect l="-60" r="-60" t="0" b="0"/>
          <a:stretch/>
        </p:blipFill>
        <p:spPr>
          <a:xfrm>
            <a:off x="819150" y="1901825"/>
            <a:ext cx="6337300" cy="3956050"/>
          </a:xfrm>
          <a:prstGeom prst="roundRect">
            <a:avLst>
              <a:gd name="adj" fmla="val 2408"/>
            </a:avLst>
          </a:prstGeom>
        </p:spPr>
      </p:pic>
      <p:sp>
        <p:nvSpPr>
          <p:cNvPr id="6" name="Shape 3"/>
          <p:cNvSpPr/>
          <p:nvPr/>
        </p:nvSpPr>
        <p:spPr>
          <a:xfrm>
            <a:off x="815975" y="1898650"/>
            <a:ext cx="6343650" cy="3962400"/>
          </a:xfrm>
          <a:prstGeom prst="roundRect">
            <a:avLst>
              <a:gd name="adj" fmla="val 2484"/>
            </a:avLst>
          </a:prstGeom>
          <a:noFill/>
          <a:ln w="6350">
            <a:solidFill>
              <a:srgbClr val="DCE3DA"/>
            </a:solidFill>
            <a:prstDash val="solid"/>
          </a:ln>
        </p:spPr>
      </p:sp>
      <p:sp>
        <p:nvSpPr>
          <p:cNvPr id="7" name="Text 4"/>
          <p:cNvSpPr/>
          <p:nvPr/>
        </p:nvSpPr>
        <p:spPr>
          <a:xfrm>
            <a:off x="7569200" y="1895475"/>
            <a:ext cx="392430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3261D"/>
                </a:solidFill>
                <a:latin typeface="Arial" pitchFamily="34" charset="0"/>
                <a:ea typeface="Arial" pitchFamily="34" charset="-122"/>
                <a:cs typeface="Arial" pitchFamily="34" charset="-120"/>
              </a:rPr>
              <a:t>Boxes and species</a:t>
            </a:r>
            <a:endParaRPr lang="en-US" sz="1600" dirty="0"/>
          </a:p>
        </p:txBody>
      </p:sp>
      <p:sp>
        <p:nvSpPr>
          <p:cNvPr id="8" name="Text 5"/>
          <p:cNvSpPr/>
          <p:nvPr/>
        </p:nvSpPr>
        <p:spPr>
          <a:xfrm>
            <a:off x="7569200" y="2200275"/>
            <a:ext cx="3924300"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Arial" pitchFamily="34" charset="0"/>
                <a:ea typeface="Arial" pitchFamily="34" charset="-122"/>
                <a:cs typeface="Arial" pitchFamily="34" charset="-120"/>
              </a:rPr>
              <a:t>Each insect gets a box, a species and a confidence; counts by species.</a:t>
            </a:r>
            <a:endParaRPr lang="en-US" sz="1300" dirty="0"/>
          </a:p>
        </p:txBody>
      </p:sp>
      <p:sp>
        <p:nvSpPr>
          <p:cNvPr id="9" name="Text 6"/>
          <p:cNvSpPr/>
          <p:nvPr/>
        </p:nvSpPr>
        <p:spPr>
          <a:xfrm>
            <a:off x="7569200" y="2898775"/>
            <a:ext cx="392430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3261D"/>
                </a:solidFill>
                <a:latin typeface="Arial" pitchFamily="34" charset="0"/>
                <a:ea typeface="Arial" pitchFamily="34" charset="-122"/>
                <a:cs typeface="Arial" pitchFamily="34" charset="-120"/>
              </a:rPr>
              <a:t>Measured accuracy</a:t>
            </a:r>
            <a:endParaRPr lang="en-US" sz="1600" dirty="0"/>
          </a:p>
        </p:txBody>
      </p:sp>
      <p:sp>
        <p:nvSpPr>
          <p:cNvPr id="10" name="Text 7"/>
          <p:cNvSpPr/>
          <p:nvPr/>
        </p:nvSpPr>
        <p:spPr>
          <a:xfrm>
            <a:off x="7569200" y="3203575"/>
            <a:ext cx="3924300"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Arial" pitchFamily="34" charset="0"/>
                <a:ea typeface="Arial" pitchFamily="34" charset="-122"/>
                <a:cs typeface="Arial" pitchFamily="34" charset="-120"/>
              </a:rPr>
              <a:t>On 76 test photos: finds 92 of 100 flies; 93 of 100 boxes are fruit flies.</a:t>
            </a:r>
            <a:endParaRPr lang="en-US" sz="1300" dirty="0"/>
          </a:p>
        </p:txBody>
      </p:sp>
      <p:sp>
        <p:nvSpPr>
          <p:cNvPr id="11" name="Text 8"/>
          <p:cNvSpPr/>
          <p:nvPr/>
        </p:nvSpPr>
        <p:spPr>
          <a:xfrm>
            <a:off x="7569200" y="3902075"/>
            <a:ext cx="392430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3261D"/>
                </a:solidFill>
                <a:latin typeface="Arial" pitchFamily="34" charset="0"/>
                <a:ea typeface="Arial" pitchFamily="34" charset="-122"/>
                <a:cs typeface="Arial" pitchFamily="34" charset="-120"/>
              </a:rPr>
              <a:t>People review</a:t>
            </a:r>
            <a:endParaRPr lang="en-US" sz="1600" dirty="0"/>
          </a:p>
        </p:txBody>
      </p:sp>
      <p:sp>
        <p:nvSpPr>
          <p:cNvPr id="12" name="Text 9"/>
          <p:cNvSpPr/>
          <p:nvPr/>
        </p:nvSpPr>
        <p:spPr>
          <a:xfrm>
            <a:off x="7569200" y="4206875"/>
            <a:ext cx="3924300"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Arial" pitchFamily="34" charset="0"/>
                <a:ea typeface="Arial" pitchFamily="34" charset="-122"/>
                <a:cs typeface="Arial" pitchFamily="34" charset="-120"/>
              </a:rPr>
              <a:t>Confirm the result or correct the count right on the photo.</a:t>
            </a:r>
            <a:endParaRPr lang="en-US" sz="1300" dirty="0"/>
          </a:p>
        </p:txBody>
      </p:sp>
      <p:sp>
        <p:nvSpPr>
          <p:cNvPr id="13" name="Text 10"/>
          <p:cNvSpPr/>
          <p:nvPr/>
        </p:nvSpPr>
        <p:spPr>
          <a:xfrm>
            <a:off x="7569200" y="4905375"/>
            <a:ext cx="392430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3261D"/>
                </a:solidFill>
                <a:latin typeface="Arial" pitchFamily="34" charset="0"/>
                <a:ea typeface="Arial" pitchFamily="34" charset="-122"/>
                <a:cs typeface="Arial" pitchFamily="34" charset="-120"/>
              </a:rPr>
              <a:t>An AI that improves</a:t>
            </a:r>
            <a:endParaRPr lang="en-US" sz="1600" dirty="0"/>
          </a:p>
        </p:txBody>
      </p:sp>
      <p:sp>
        <p:nvSpPr>
          <p:cNvPr id="14" name="Text 11"/>
          <p:cNvSpPr/>
          <p:nvPr/>
        </p:nvSpPr>
        <p:spPr>
          <a:xfrm>
            <a:off x="7569200" y="5210175"/>
            <a:ext cx="3924300"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Arial" pitchFamily="34" charset="0"/>
                <a:ea typeface="Arial" pitchFamily="34" charset="-122"/>
                <a:cs typeface="Arial" pitchFamily="34" charset="-120"/>
              </a:rPr>
              <a:t>Reviewed photos are sent to retrain the model.</a:t>
            </a:r>
            <a:endParaRPr lang="en-US" sz="1300" dirty="0"/>
          </a:p>
        </p:txBody>
      </p:sp>
      <p:sp>
        <p:nvSpPr>
          <p:cNvPr id="15"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B70"/>
                </a:solidFill>
                <a:latin typeface="Arial" pitchFamily="34" charset="0"/>
                <a:ea typeface="Arial" pitchFamily="34" charset="-122"/>
                <a:cs typeface="Arial" pitchFamily="34" charset="-120"/>
              </a:rPr>
              <a:t>FlyBot · 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326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C230"/>
                </a:solidFill>
                <a:latin typeface="Arial" pitchFamily="34" charset="0"/>
                <a:ea typeface="Arial" pitchFamily="34" charset="-122"/>
                <a:cs typeface="Arial" pitchFamily="34" charset="-120"/>
              </a:rPr>
              <a:t>TWO KINDS OF TRAP</a:t>
            </a:r>
            <a:endParaRPr lang="en-US" sz="1200" dirty="0"/>
          </a:p>
        </p:txBody>
      </p:sp>
      <p:sp>
        <p:nvSpPr>
          <p:cNvPr id="3" name="Text 1"/>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F5F7F1"/>
                </a:solidFill>
                <a:latin typeface="Arial" pitchFamily="34" charset="0"/>
                <a:ea typeface="Arial" pitchFamily="34" charset="-122"/>
                <a:cs typeface="Arial" pitchFamily="34" charset="-120"/>
              </a:rPr>
              <a:t>Each kind of trap is read its own way</a:t>
            </a:r>
            <a:endParaRPr lang="en-US" sz="3200" dirty="0"/>
          </a:p>
        </p:txBody>
      </p:sp>
      <p:sp>
        <p:nvSpPr>
          <p:cNvPr id="4" name="Shape 2"/>
          <p:cNvSpPr/>
          <p:nvPr/>
        </p:nvSpPr>
        <p:spPr>
          <a:xfrm>
            <a:off x="815975" y="2004616"/>
            <a:ext cx="5124450" cy="3834209"/>
          </a:xfrm>
          <a:prstGeom prst="roundRect">
            <a:avLst>
              <a:gd name="adj" fmla="val 3229"/>
            </a:avLst>
          </a:prstGeom>
          <a:solidFill>
            <a:srgbClr val="1E3A2C"/>
          </a:solidFill>
          <a:ln w="6350">
            <a:solidFill>
              <a:srgbClr val="2E4A3B"/>
            </a:solidFill>
            <a:prstDash val="solid"/>
          </a:ln>
        </p:spPr>
      </p:sp>
      <p:sp>
        <p:nvSpPr>
          <p:cNvPr id="5" name="Text 3"/>
          <p:cNvSpPr/>
          <p:nvPr/>
        </p:nvSpPr>
        <p:spPr>
          <a:xfrm>
            <a:off x="1174750" y="2363391"/>
            <a:ext cx="1524000" cy="314920"/>
          </a:xfrm>
          <a:prstGeom prst="roundRect">
            <a:avLst>
              <a:gd name="adj" fmla="val 50000"/>
            </a:avLst>
          </a:prstGeom>
          <a:solidFill>
            <a:srgbClr val="F2C230"/>
          </a:solidFill>
          <a:ln/>
        </p:spPr>
        <p:txBody>
          <a:bodyPr wrap="square" lIns="55481" tIns="4681" rIns="55481" bIns="0" rtlCol="0" anchor="t">
            <a:normAutofit/>
          </a:bodyPr>
          <a:lstStyle/>
          <a:p>
            <a:pPr algn="ctr" indent="0" marL="0">
              <a:lnSpc>
                <a:spcPts val="1680"/>
              </a:lnSpc>
              <a:buNone/>
            </a:pPr>
            <a:r>
              <a:rPr lang="en-US" sz="1200" b="1" dirty="0">
                <a:solidFill>
                  <a:srgbClr val="13261D"/>
                </a:solidFill>
                <a:latin typeface="Arial" pitchFamily="34" charset="0"/>
                <a:ea typeface="Arial" pitchFamily="34" charset="-122"/>
                <a:cs typeface="Arial" pitchFamily="34" charset="-120"/>
              </a:rPr>
              <a:t>Sticky trap</a:t>
            </a:r>
            <a:endParaRPr lang="en-US" sz="1200" dirty="0"/>
          </a:p>
        </p:txBody>
      </p:sp>
      <p:sp>
        <p:nvSpPr>
          <p:cNvPr id="6" name="Text 4"/>
          <p:cNvSpPr/>
          <p:nvPr/>
        </p:nvSpPr>
        <p:spPr>
          <a:xfrm>
            <a:off x="1174750" y="2856111"/>
            <a:ext cx="4539107" cy="342900"/>
          </a:xfrm>
          <a:prstGeom prst="rect">
            <a:avLst/>
          </a:prstGeom>
          <a:noFill/>
          <a:ln/>
        </p:spPr>
        <p:txBody>
          <a:bodyPr wrap="square" lIns="0" tIns="0" rIns="0" bIns="0" rtlCol="0" anchor="t">
            <a:normAutofit/>
          </a:bodyPr>
          <a:lstStyle/>
          <a:p>
            <a:pPr algn="l" indent="0" marL="0">
              <a:lnSpc>
                <a:spcPts val="2500"/>
              </a:lnSpc>
              <a:buNone/>
            </a:pPr>
            <a:r>
              <a:rPr lang="en-US" sz="2000" b="1" dirty="0">
                <a:solidFill>
                  <a:srgbClr val="F5F7F1"/>
                </a:solidFill>
                <a:latin typeface="Arial" pitchFamily="34" charset="0"/>
                <a:ea typeface="Arial" pitchFamily="34" charset="-122"/>
                <a:cs typeface="Arial" pitchFamily="34" charset="-120"/>
              </a:rPr>
              <a:t>Catches = the rise each day</a:t>
            </a:r>
            <a:endParaRPr lang="en-US" sz="2000" dirty="0"/>
          </a:p>
        </p:txBody>
      </p:sp>
      <p:sp>
        <p:nvSpPr>
          <p:cNvPr id="7" name="Text 5"/>
          <p:cNvSpPr/>
          <p:nvPr/>
        </p:nvSpPr>
        <p:spPr>
          <a:xfrm>
            <a:off x="1174750" y="3351411"/>
            <a:ext cx="4539107" cy="8255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BFD3C6"/>
                </a:solidFill>
                <a:latin typeface="Arial" pitchFamily="34" charset="0"/>
                <a:ea typeface="Arial" pitchFamily="34" charset="-122"/>
                <a:cs typeface="Arial" pitchFamily="34" charset="-120"/>
              </a:rPr>
              <a:t>The glue card keeps every insect it caught. FlyBot counts the new ones since yesterday, skips card-change days, and reminds you when a card is due.</a:t>
            </a:r>
            <a:endParaRPr lang="en-US" sz="1400" dirty="0"/>
          </a:p>
        </p:txBody>
      </p:sp>
      <p:sp>
        <p:nvSpPr>
          <p:cNvPr id="8" name="Shape 6"/>
          <p:cNvSpPr/>
          <p:nvPr/>
        </p:nvSpPr>
        <p:spPr>
          <a:xfrm>
            <a:off x="6251575" y="2004616"/>
            <a:ext cx="5124450" cy="3834209"/>
          </a:xfrm>
          <a:prstGeom prst="roundRect">
            <a:avLst>
              <a:gd name="adj" fmla="val 3229"/>
            </a:avLst>
          </a:prstGeom>
          <a:solidFill>
            <a:srgbClr val="1E3A2C"/>
          </a:solidFill>
          <a:ln w="6350">
            <a:solidFill>
              <a:srgbClr val="2E4A3B"/>
            </a:solidFill>
            <a:prstDash val="solid"/>
          </a:ln>
        </p:spPr>
      </p:sp>
      <p:sp>
        <p:nvSpPr>
          <p:cNvPr id="9" name="Text 7"/>
          <p:cNvSpPr/>
          <p:nvPr/>
        </p:nvSpPr>
        <p:spPr>
          <a:xfrm>
            <a:off x="6610350" y="2363391"/>
            <a:ext cx="1397000" cy="314920"/>
          </a:xfrm>
          <a:prstGeom prst="roundRect">
            <a:avLst>
              <a:gd name="adj" fmla="val 50000"/>
            </a:avLst>
          </a:prstGeom>
          <a:solidFill>
            <a:srgbClr val="7FD3A8"/>
          </a:solidFill>
          <a:ln/>
        </p:spPr>
        <p:txBody>
          <a:bodyPr wrap="square" lIns="55481" tIns="4681" rIns="55481" bIns="0" rtlCol="0" anchor="t">
            <a:normAutofit/>
          </a:bodyPr>
          <a:lstStyle/>
          <a:p>
            <a:pPr algn="ctr" indent="0" marL="0">
              <a:lnSpc>
                <a:spcPts val="1680"/>
              </a:lnSpc>
              <a:buNone/>
            </a:pPr>
            <a:r>
              <a:rPr lang="en-US" sz="1200" b="1" dirty="0">
                <a:solidFill>
                  <a:srgbClr val="13261D"/>
                </a:solidFill>
                <a:latin typeface="Arial" pitchFamily="34" charset="0"/>
                <a:ea typeface="Arial" pitchFamily="34" charset="-122"/>
                <a:cs typeface="Arial" pitchFamily="34" charset="-120"/>
              </a:rPr>
              <a:t>Lure trap</a:t>
            </a:r>
            <a:endParaRPr lang="en-US" sz="1200" dirty="0"/>
          </a:p>
        </p:txBody>
      </p:sp>
      <p:sp>
        <p:nvSpPr>
          <p:cNvPr id="10" name="Text 8"/>
          <p:cNvSpPr/>
          <p:nvPr/>
        </p:nvSpPr>
        <p:spPr>
          <a:xfrm>
            <a:off x="6610350" y="2856111"/>
            <a:ext cx="4539107" cy="342900"/>
          </a:xfrm>
          <a:prstGeom prst="rect">
            <a:avLst/>
          </a:prstGeom>
          <a:noFill/>
          <a:ln/>
        </p:spPr>
        <p:txBody>
          <a:bodyPr wrap="square" lIns="0" tIns="0" rIns="0" bIns="0" rtlCol="0" anchor="t">
            <a:normAutofit/>
          </a:bodyPr>
          <a:lstStyle/>
          <a:p>
            <a:pPr algn="l" indent="0" marL="0">
              <a:lnSpc>
                <a:spcPts val="2500"/>
              </a:lnSpc>
              <a:buNone/>
            </a:pPr>
            <a:r>
              <a:rPr lang="en-US" sz="2000" b="1" dirty="0">
                <a:solidFill>
                  <a:srgbClr val="F5F7F1"/>
                </a:solidFill>
                <a:latin typeface="Arial" pitchFamily="34" charset="0"/>
                <a:ea typeface="Arial" pitchFamily="34" charset="-122"/>
                <a:cs typeface="Arial" pitchFamily="34" charset="-120"/>
              </a:rPr>
              <a:t>Judged by the day's average</a:t>
            </a:r>
            <a:endParaRPr lang="en-US" sz="2000" dirty="0"/>
          </a:p>
        </p:txBody>
      </p:sp>
      <p:sp>
        <p:nvSpPr>
          <p:cNvPr id="11" name="Text 9"/>
          <p:cNvSpPr/>
          <p:nvPr/>
        </p:nvSpPr>
        <p:spPr>
          <a:xfrm>
            <a:off x="6610350" y="3351411"/>
            <a:ext cx="4539107" cy="8255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BFD3C6"/>
                </a:solidFill>
                <a:latin typeface="Arial" pitchFamily="34" charset="0"/>
                <a:ea typeface="Arial" pitchFamily="34" charset="-122"/>
                <a:cs typeface="Arial" pitchFamily="34" charset="-120"/>
              </a:rPr>
              <a:t>Flies come and go, so FlyBot uses the average per photo over the day. One crowded photo no longer raises a false alarm.</a:t>
            </a:r>
            <a:endParaRPr lang="en-US" sz="1400" dirty="0"/>
          </a:p>
        </p:txBody>
      </p:sp>
      <p:sp>
        <p:nvSpPr>
          <p:cNvPr id="12" name="Text 1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898"/>
                </a:solidFill>
                <a:latin typeface="Arial" pitchFamily="34" charset="0"/>
                <a:ea typeface="Arial" pitchFamily="34" charset="-122"/>
                <a:cs typeface="Arial" pitchFamily="34" charset="-120"/>
              </a:rPr>
              <a:t>FlyBot · 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7331"/>
          </a:xfrm>
          <a:prstGeom prst="rect">
            <a:avLst/>
          </a:prstGeom>
          <a:noFill/>
          <a:ln/>
        </p:spPr>
        <p:txBody>
          <a:bodyPr wrap="square" lIns="0" tIns="0" rIns="0" bIns="0" rtlCol="0" anchor="t">
            <a:normAutofit/>
          </a:bodyPr>
          <a:lstStyle/>
          <a:p>
            <a:pPr algn="l" indent="0" marL="0">
              <a:lnSpc>
                <a:spcPts val="1675"/>
              </a:lnSpc>
              <a:buNone/>
            </a:pPr>
            <a:r>
              <a:rPr lang="en-US" sz="1196" b="1" spc="150" kern="0" dirty="0">
                <a:solidFill>
                  <a:srgbClr val="1D7A50"/>
                </a:solidFill>
                <a:latin typeface="Arial" pitchFamily="34" charset="0"/>
                <a:ea typeface="Arial" pitchFamily="34" charset="-122"/>
                <a:cs typeface="Arial" pitchFamily="34" charset="-120"/>
              </a:rPr>
              <a:t>CAMERAS</a:t>
            </a:r>
            <a:endParaRPr lang="en-US" sz="1196" dirty="0"/>
          </a:p>
        </p:txBody>
      </p:sp>
      <p:sp>
        <p:nvSpPr>
          <p:cNvPr id="3" name="Text 1"/>
          <p:cNvSpPr/>
          <p:nvPr>
            <p:ph type="title"/>
          </p:nvPr>
        </p:nvSpPr>
        <p:spPr>
          <a:xfrm>
            <a:off x="812800" y="1126331"/>
            <a:ext cx="10883392" cy="489744"/>
          </a:xfrm>
          <a:prstGeom prst="rect">
            <a:avLst/>
          </a:prstGeom>
          <a:noFill/>
          <a:ln/>
        </p:spPr>
        <p:txBody>
          <a:bodyPr wrap="square" lIns="0" tIns="0" rIns="0" bIns="0" rtlCol="0" anchor="t">
            <a:normAutofit/>
          </a:bodyPr>
          <a:lstStyle/>
          <a:p>
            <a:pPr algn="l" indent="0" marL="0">
              <a:lnSpc>
                <a:spcPts val="3668"/>
              </a:lnSpc>
              <a:buNone/>
            </a:pPr>
            <a:r>
              <a:rPr lang="en-US" sz="3190" b="1" i="0" dirty="0">
                <a:solidFill>
                  <a:srgbClr val="13261D"/>
                </a:solidFill>
                <a:latin typeface="Arial" pitchFamily="34" charset="0"/>
                <a:ea typeface="Arial" pitchFamily="34" charset="-122"/>
                <a:cs typeface="Arial" pitchFamily="34" charset="-120"/>
              </a:rPr>
              <a:t>Watch live, play back and maintain traps</a:t>
            </a:r>
            <a:endParaRPr lang="en-US" sz="3190" dirty="0"/>
          </a:p>
        </p:txBody>
      </p:sp>
      <p:sp>
        <p:nvSpPr>
          <p:cNvPr id="4" name="Shape 2"/>
          <p:cNvSpPr/>
          <p:nvPr/>
        </p:nvSpPr>
        <p:spPr>
          <a:xfrm>
            <a:off x="812800" y="1895475"/>
            <a:ext cx="6350000" cy="3968750"/>
          </a:xfrm>
          <a:prstGeom prst="roundRect">
            <a:avLst>
              <a:gd name="adj" fmla="val 2560"/>
            </a:avLst>
          </a:prstGeom>
          <a:solidFill>
            <a:srgbClr val="FFFFFF"/>
          </a:solidFill>
          <a:ln/>
          <a:effectLst>
            <a:outerShdw sx="100000" sy="100000" kx="0" ky="0" algn="bl" rotWithShape="0" blurRad="304800" dist="152400" dir="5400000">
              <a:srgbClr val="13261D">
                <a:alpha val="12000"/>
              </a:srgbClr>
            </a:outerShdw>
          </a:effectLst>
        </p:spPr>
      </p:sp>
      <p:pic>
        <p:nvPicPr>
          <p:cNvPr id="5" name="Image 0" descr="Camera page: recordings on a timeline, the 24-hour bar and the trap card change history">    </p:cNvPr>
          <p:cNvPicPr>
            <a:picLocks noChangeAspect="1"/>
          </p:cNvPicPr>
          <p:nvPr/>
        </p:nvPicPr>
        <p:blipFill>
          <a:blip r:embed="rId1"/>
          <a:srcRect l="-60" r="-60" t="0" b="0"/>
          <a:stretch/>
        </p:blipFill>
        <p:spPr>
          <a:xfrm>
            <a:off x="819150" y="1901825"/>
            <a:ext cx="6337300" cy="3956050"/>
          </a:xfrm>
          <a:prstGeom prst="roundRect">
            <a:avLst>
              <a:gd name="adj" fmla="val 2408"/>
            </a:avLst>
          </a:prstGeom>
        </p:spPr>
      </p:pic>
      <p:sp>
        <p:nvSpPr>
          <p:cNvPr id="6" name="Shape 3"/>
          <p:cNvSpPr/>
          <p:nvPr/>
        </p:nvSpPr>
        <p:spPr>
          <a:xfrm>
            <a:off x="815975" y="1898650"/>
            <a:ext cx="6343650" cy="3962400"/>
          </a:xfrm>
          <a:prstGeom prst="roundRect">
            <a:avLst>
              <a:gd name="adj" fmla="val 2484"/>
            </a:avLst>
          </a:prstGeom>
          <a:noFill/>
          <a:ln w="6350">
            <a:solidFill>
              <a:srgbClr val="DCE3DA"/>
            </a:solidFill>
            <a:prstDash val="solid"/>
          </a:ln>
        </p:spPr>
      </p:sp>
      <p:sp>
        <p:nvSpPr>
          <p:cNvPr id="7" name="Text 4"/>
          <p:cNvSpPr/>
          <p:nvPr/>
        </p:nvSpPr>
        <p:spPr>
          <a:xfrm>
            <a:off x="7569200" y="1895475"/>
            <a:ext cx="392430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3261D"/>
                </a:solidFill>
                <a:latin typeface="Arial" pitchFamily="34" charset="0"/>
                <a:ea typeface="Arial" pitchFamily="34" charset="-122"/>
                <a:cs typeface="Arial" pitchFamily="34" charset="-120"/>
              </a:rPr>
              <a:t>Live and snap now</a:t>
            </a:r>
            <a:endParaRPr lang="en-US" sz="1600" dirty="0"/>
          </a:p>
        </p:txBody>
      </p:sp>
      <p:sp>
        <p:nvSpPr>
          <p:cNvPr id="8" name="Text 5"/>
          <p:cNvSpPr/>
          <p:nvPr/>
        </p:nvSpPr>
        <p:spPr>
          <a:xfrm>
            <a:off x="7569200" y="2200275"/>
            <a:ext cx="3924300"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Arial" pitchFamily="34" charset="0"/>
                <a:ea typeface="Arial" pitchFamily="34" charset="-122"/>
                <a:cs typeface="Arial" pitchFamily="34" charset="-120"/>
              </a:rPr>
              <a:t>Live video from the camera; take and analyze a photo when you need one.</a:t>
            </a:r>
            <a:endParaRPr lang="en-US" sz="1300" dirty="0"/>
          </a:p>
        </p:txBody>
      </p:sp>
      <p:sp>
        <p:nvSpPr>
          <p:cNvPr id="9" name="Text 6"/>
          <p:cNvSpPr/>
          <p:nvPr/>
        </p:nvSpPr>
        <p:spPr>
          <a:xfrm>
            <a:off x="7569200" y="2949575"/>
            <a:ext cx="392430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3261D"/>
                </a:solidFill>
                <a:latin typeface="Arial" pitchFamily="34" charset="0"/>
                <a:ea typeface="Arial" pitchFamily="34" charset="-122"/>
                <a:cs typeface="Arial" pitchFamily="34" charset="-120"/>
              </a:rPr>
              <a:t>Timeline playback</a:t>
            </a:r>
            <a:endParaRPr lang="en-US" sz="1600" dirty="0"/>
          </a:p>
        </p:txBody>
      </p:sp>
      <p:sp>
        <p:nvSpPr>
          <p:cNvPr id="10" name="Text 7"/>
          <p:cNvSpPr/>
          <p:nvPr/>
        </p:nvSpPr>
        <p:spPr>
          <a:xfrm>
            <a:off x="7569200" y="3254375"/>
            <a:ext cx="3924300"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Arial" pitchFamily="34" charset="0"/>
                <a:ea typeface="Arial" pitchFamily="34" charset="-122"/>
                <a:cs typeface="Arial" pitchFamily="34" charset="-120"/>
              </a:rPr>
              <a:t>Memory card recordings laid out by hour, day by day.</a:t>
            </a:r>
            <a:endParaRPr lang="en-US" sz="1300" dirty="0"/>
          </a:p>
        </p:txBody>
      </p:sp>
      <p:sp>
        <p:nvSpPr>
          <p:cNvPr id="11" name="Text 8"/>
          <p:cNvSpPr/>
          <p:nvPr/>
        </p:nvSpPr>
        <p:spPr>
          <a:xfrm>
            <a:off x="7569200" y="4003675"/>
            <a:ext cx="392430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3261D"/>
                </a:solidFill>
                <a:latin typeface="Arial" pitchFamily="34" charset="0"/>
                <a:ea typeface="Arial" pitchFamily="34" charset="-122"/>
                <a:cs typeface="Arial" pitchFamily="34" charset="-120"/>
              </a:rPr>
              <a:t>Trap maintenance</a:t>
            </a:r>
            <a:endParaRPr lang="en-US" sz="1600" dirty="0"/>
          </a:p>
        </p:txBody>
      </p:sp>
      <p:sp>
        <p:nvSpPr>
          <p:cNvPr id="12" name="Text 9"/>
          <p:cNvSpPr/>
          <p:nvPr/>
        </p:nvSpPr>
        <p:spPr>
          <a:xfrm>
            <a:off x="7569200" y="4308475"/>
            <a:ext cx="3924300"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Arial" pitchFamily="34" charset="0"/>
                <a:ea typeface="Arial" pitchFamily="34" charset="-122"/>
                <a:cs typeface="Arial" pitchFamily="34" charset="-120"/>
              </a:rPr>
              <a:t>Log card changes and get a reminder when one is due.</a:t>
            </a:r>
            <a:endParaRPr lang="en-US" sz="1300" dirty="0"/>
          </a:p>
        </p:txBody>
      </p:sp>
      <p:sp>
        <p:nvSpPr>
          <p:cNvPr id="13" name="Text 1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B70"/>
                </a:solidFill>
                <a:latin typeface="Arial" pitchFamily="34" charset="0"/>
                <a:ea typeface="Arial" pitchFamily="34" charset="-122"/>
                <a:cs typeface="Arial" pitchFamily="34" charset="-120"/>
              </a:rPr>
              <a:t>FlyBot · 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7331"/>
          </a:xfrm>
          <a:prstGeom prst="rect">
            <a:avLst/>
          </a:prstGeom>
          <a:noFill/>
          <a:ln/>
        </p:spPr>
        <p:txBody>
          <a:bodyPr wrap="square" lIns="0" tIns="0" rIns="0" bIns="0" rtlCol="0" anchor="t">
            <a:normAutofit/>
          </a:bodyPr>
          <a:lstStyle/>
          <a:p>
            <a:pPr algn="l" indent="0" marL="0">
              <a:lnSpc>
                <a:spcPts val="1675"/>
              </a:lnSpc>
              <a:buNone/>
            </a:pPr>
            <a:r>
              <a:rPr lang="en-US" sz="1196" b="1" spc="150" kern="0" dirty="0">
                <a:solidFill>
                  <a:srgbClr val="1D7A50"/>
                </a:solidFill>
                <a:latin typeface="Arial" pitchFamily="34" charset="0"/>
                <a:ea typeface="Arial" pitchFamily="34" charset="-122"/>
                <a:cs typeface="Arial" pitchFamily="34" charset="-120"/>
              </a:rPr>
              <a:t>ALERTS</a:t>
            </a:r>
            <a:endParaRPr lang="en-US" sz="1196" dirty="0"/>
          </a:p>
        </p:txBody>
      </p:sp>
      <p:sp>
        <p:nvSpPr>
          <p:cNvPr id="3" name="Text 1"/>
          <p:cNvSpPr/>
          <p:nvPr>
            <p:ph type="title"/>
          </p:nvPr>
        </p:nvSpPr>
        <p:spPr>
          <a:xfrm>
            <a:off x="812800" y="1126331"/>
            <a:ext cx="10883392" cy="489744"/>
          </a:xfrm>
          <a:prstGeom prst="rect">
            <a:avLst/>
          </a:prstGeom>
          <a:noFill/>
          <a:ln/>
        </p:spPr>
        <p:txBody>
          <a:bodyPr wrap="square" lIns="0" tIns="0" rIns="0" bIns="0" rtlCol="0" anchor="t">
            <a:normAutofit/>
          </a:bodyPr>
          <a:lstStyle/>
          <a:p>
            <a:pPr algn="l" indent="0" marL="0">
              <a:lnSpc>
                <a:spcPts val="3668"/>
              </a:lnSpc>
              <a:buNone/>
            </a:pPr>
            <a:r>
              <a:rPr lang="en-US" sz="3190" b="1" i="0" dirty="0">
                <a:solidFill>
                  <a:srgbClr val="13261D"/>
                </a:solidFill>
                <a:latin typeface="Arial" pitchFamily="34" charset="0"/>
                <a:ea typeface="Arial" pitchFamily="34" charset="-122"/>
                <a:cs typeface="Arial" pitchFamily="34" charset="-120"/>
              </a:rPr>
              <a:t>Know the moment you need to go out</a:t>
            </a:r>
            <a:endParaRPr lang="en-US" sz="3190" dirty="0"/>
          </a:p>
        </p:txBody>
      </p:sp>
      <p:sp>
        <p:nvSpPr>
          <p:cNvPr id="4" name="Shape 2"/>
          <p:cNvSpPr/>
          <p:nvPr/>
        </p:nvSpPr>
        <p:spPr>
          <a:xfrm>
            <a:off x="812800" y="1895475"/>
            <a:ext cx="6350000" cy="3968750"/>
          </a:xfrm>
          <a:prstGeom prst="roundRect">
            <a:avLst>
              <a:gd name="adj" fmla="val 2560"/>
            </a:avLst>
          </a:prstGeom>
          <a:solidFill>
            <a:srgbClr val="FFFFFF"/>
          </a:solidFill>
          <a:ln/>
          <a:effectLst>
            <a:outerShdw sx="100000" sy="100000" kx="0" ky="0" algn="bl" rotWithShape="0" blurRad="304800" dist="152400" dir="5400000">
              <a:srgbClr val="13261D">
                <a:alpha val="12000"/>
              </a:srgbClr>
            </a:outerShdw>
          </a:effectLst>
        </p:spPr>
      </p:sp>
      <p:pic>
        <p:nvPicPr>
          <p:cNvPr id="5" name="Image 0" descr="Notification list: sudden surge, pest threshold reached, camera offline, trap card due">    </p:cNvPr>
          <p:cNvPicPr>
            <a:picLocks noChangeAspect="1"/>
          </p:cNvPicPr>
          <p:nvPr/>
        </p:nvPicPr>
        <p:blipFill>
          <a:blip r:embed="rId1"/>
          <a:srcRect l="-60" r="-60" t="0" b="0"/>
          <a:stretch/>
        </p:blipFill>
        <p:spPr>
          <a:xfrm>
            <a:off x="819150" y="1901825"/>
            <a:ext cx="6337300" cy="3956050"/>
          </a:xfrm>
          <a:prstGeom prst="roundRect">
            <a:avLst>
              <a:gd name="adj" fmla="val 2408"/>
            </a:avLst>
          </a:prstGeom>
        </p:spPr>
      </p:pic>
      <p:sp>
        <p:nvSpPr>
          <p:cNvPr id="6" name="Shape 3"/>
          <p:cNvSpPr/>
          <p:nvPr/>
        </p:nvSpPr>
        <p:spPr>
          <a:xfrm>
            <a:off x="815975" y="1898650"/>
            <a:ext cx="6343650" cy="3962400"/>
          </a:xfrm>
          <a:prstGeom prst="roundRect">
            <a:avLst>
              <a:gd name="adj" fmla="val 2484"/>
            </a:avLst>
          </a:prstGeom>
          <a:noFill/>
          <a:ln w="6350">
            <a:solidFill>
              <a:srgbClr val="DCE3DA"/>
            </a:solidFill>
            <a:prstDash val="solid"/>
          </a:ln>
        </p:spPr>
      </p:sp>
      <p:sp>
        <p:nvSpPr>
          <p:cNvPr id="7" name="Text 4"/>
          <p:cNvSpPr/>
          <p:nvPr/>
        </p:nvSpPr>
        <p:spPr>
          <a:xfrm>
            <a:off x="7569200" y="1895475"/>
            <a:ext cx="392430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3261D"/>
                </a:solidFill>
                <a:latin typeface="Arial" pitchFamily="34" charset="0"/>
                <a:ea typeface="Arial" pitchFamily="34" charset="-122"/>
                <a:cs typeface="Arial" pitchFamily="34" charset="-120"/>
              </a:rPr>
              <a:t>At the right time</a:t>
            </a:r>
            <a:endParaRPr lang="en-US" sz="1600" dirty="0"/>
          </a:p>
        </p:txBody>
      </p:sp>
      <p:sp>
        <p:nvSpPr>
          <p:cNvPr id="8" name="Text 5"/>
          <p:cNvSpPr/>
          <p:nvPr/>
        </p:nvSpPr>
        <p:spPr>
          <a:xfrm>
            <a:off x="7569200" y="2200275"/>
            <a:ext cx="3924300"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Arial" pitchFamily="34" charset="0"/>
                <a:ea typeface="Arial" pitchFamily="34" charset="-122"/>
                <a:cs typeface="Arial" pitchFamily="34" charset="-120"/>
              </a:rPr>
              <a:t>Trap threshold reached, sudden surge, camera offline, card due, OK to harvest.</a:t>
            </a:r>
            <a:endParaRPr lang="en-US" sz="1300" dirty="0"/>
          </a:p>
        </p:txBody>
      </p:sp>
      <p:sp>
        <p:nvSpPr>
          <p:cNvPr id="9" name="Text 6"/>
          <p:cNvSpPr/>
          <p:nvPr/>
        </p:nvSpPr>
        <p:spPr>
          <a:xfrm>
            <a:off x="7569200" y="2949575"/>
            <a:ext cx="392430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3261D"/>
                </a:solidFill>
                <a:latin typeface="Arial" pitchFamily="34" charset="0"/>
                <a:ea typeface="Arial" pitchFamily="34" charset="-122"/>
                <a:cs typeface="Arial" pitchFamily="34" charset="-120"/>
              </a:rPr>
              <a:t>On the right channel</a:t>
            </a:r>
            <a:endParaRPr lang="en-US" sz="1600" dirty="0"/>
          </a:p>
        </p:txBody>
      </p:sp>
      <p:sp>
        <p:nvSpPr>
          <p:cNvPr id="10" name="Text 7"/>
          <p:cNvSpPr/>
          <p:nvPr/>
        </p:nvSpPr>
        <p:spPr>
          <a:xfrm>
            <a:off x="7569200" y="3254375"/>
            <a:ext cx="3924300"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Arial" pitchFamily="34" charset="0"/>
                <a:ea typeface="Arial" pitchFamily="34" charset="-122"/>
                <a:cs typeface="Arial" pitchFamily="34" charset="-120"/>
              </a:rPr>
              <a:t>In the app, push, email, Telegram; a 6:30 morning brief if turned on.</a:t>
            </a:r>
            <a:endParaRPr lang="en-US" sz="1300" dirty="0"/>
          </a:p>
        </p:txBody>
      </p:sp>
      <p:sp>
        <p:nvSpPr>
          <p:cNvPr id="11" name="Text 8"/>
          <p:cNvSpPr/>
          <p:nvPr/>
        </p:nvSpPr>
        <p:spPr>
          <a:xfrm>
            <a:off x="7569200" y="4003675"/>
            <a:ext cx="392430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3261D"/>
                </a:solidFill>
                <a:latin typeface="Arial" pitchFamily="34" charset="0"/>
                <a:ea typeface="Arial" pitchFamily="34" charset="-122"/>
                <a:cs typeface="Arial" pitchFamily="34" charset="-120"/>
              </a:rPr>
              <a:t>Never noisy</a:t>
            </a:r>
            <a:endParaRPr lang="en-US" sz="1600" dirty="0"/>
          </a:p>
        </p:txBody>
      </p:sp>
      <p:sp>
        <p:nvSpPr>
          <p:cNvPr id="12" name="Text 9"/>
          <p:cNvSpPr/>
          <p:nvPr/>
        </p:nvSpPr>
        <p:spPr>
          <a:xfrm>
            <a:off x="7569200" y="4308475"/>
            <a:ext cx="3924300"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Arial" pitchFamily="34" charset="0"/>
                <a:ea typeface="Arial" pitchFamily="34" charset="-122"/>
                <a:cs typeface="Arial" pitchFamily="34" charset="-120"/>
              </a:rPr>
              <a:t>Pick the alert types, quiet hours and a cool-down between alerts.</a:t>
            </a:r>
            <a:endParaRPr lang="en-US" sz="1300" dirty="0"/>
          </a:p>
        </p:txBody>
      </p:sp>
      <p:sp>
        <p:nvSpPr>
          <p:cNvPr id="13" name="Text 1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B70"/>
                </a:solidFill>
                <a:latin typeface="Arial" pitchFamily="34" charset="0"/>
                <a:ea typeface="Arial" pitchFamily="34" charset="-122"/>
                <a:cs typeface="Arial" pitchFamily="34" charset="-120"/>
              </a:rPr>
              <a:t>FlyBot · 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7331"/>
          </a:xfrm>
          <a:prstGeom prst="rect">
            <a:avLst/>
          </a:prstGeom>
          <a:noFill/>
          <a:ln/>
        </p:spPr>
        <p:txBody>
          <a:bodyPr wrap="square" lIns="0" tIns="0" rIns="0" bIns="0" rtlCol="0" anchor="t">
            <a:normAutofit/>
          </a:bodyPr>
          <a:lstStyle/>
          <a:p>
            <a:pPr algn="l" indent="0" marL="0">
              <a:lnSpc>
                <a:spcPts val="1675"/>
              </a:lnSpc>
              <a:buNone/>
            </a:pPr>
            <a:r>
              <a:rPr lang="en-US" sz="1196" b="1" spc="150" kern="0" dirty="0">
                <a:solidFill>
                  <a:srgbClr val="1D7A50"/>
                </a:solidFill>
                <a:latin typeface="Arial" pitchFamily="34" charset="0"/>
                <a:ea typeface="Arial" pitchFamily="34" charset="-122"/>
                <a:cs typeface="Arial" pitchFamily="34" charset="-120"/>
              </a:rPr>
              <a:t>ANALYTICS AND HISTORY</a:t>
            </a:r>
            <a:endParaRPr lang="en-US" sz="1196" dirty="0"/>
          </a:p>
        </p:txBody>
      </p:sp>
      <p:sp>
        <p:nvSpPr>
          <p:cNvPr id="3" name="Text 1"/>
          <p:cNvSpPr/>
          <p:nvPr>
            <p:ph type="title"/>
          </p:nvPr>
        </p:nvSpPr>
        <p:spPr>
          <a:xfrm>
            <a:off x="812800" y="1126331"/>
            <a:ext cx="10883392" cy="489744"/>
          </a:xfrm>
          <a:prstGeom prst="rect">
            <a:avLst/>
          </a:prstGeom>
          <a:noFill/>
          <a:ln/>
        </p:spPr>
        <p:txBody>
          <a:bodyPr wrap="square" lIns="0" tIns="0" rIns="0" bIns="0" rtlCol="0" anchor="t">
            <a:normAutofit/>
          </a:bodyPr>
          <a:lstStyle/>
          <a:p>
            <a:pPr algn="l" indent="0" marL="0">
              <a:lnSpc>
                <a:spcPts val="3668"/>
              </a:lnSpc>
              <a:buNone/>
            </a:pPr>
            <a:r>
              <a:rPr lang="en-US" sz="3190" b="1" i="0" dirty="0">
                <a:solidFill>
                  <a:srgbClr val="13261D"/>
                </a:solidFill>
                <a:latin typeface="Arial" pitchFamily="34" charset="0"/>
                <a:ea typeface="Arial" pitchFamily="34" charset="-122"/>
                <a:cs typeface="Arial" pitchFamily="34" charset="-120"/>
              </a:rPr>
              <a:t>Every photo, filtered and exported</a:t>
            </a:r>
            <a:endParaRPr lang="en-US" sz="3190" dirty="0"/>
          </a:p>
        </p:txBody>
      </p:sp>
      <p:sp>
        <p:nvSpPr>
          <p:cNvPr id="4" name="Shape 2"/>
          <p:cNvSpPr/>
          <p:nvPr/>
        </p:nvSpPr>
        <p:spPr>
          <a:xfrm>
            <a:off x="812800" y="1895475"/>
            <a:ext cx="6350000" cy="3968750"/>
          </a:xfrm>
          <a:prstGeom prst="roundRect">
            <a:avLst>
              <a:gd name="adj" fmla="val 2560"/>
            </a:avLst>
          </a:prstGeom>
          <a:solidFill>
            <a:srgbClr val="FFFFFF"/>
          </a:solidFill>
          <a:ln/>
          <a:effectLst>
            <a:outerShdw sx="100000" sy="100000" kx="0" ky="0" algn="bl" rotWithShape="0" blurRad="304800" dist="152400" dir="5400000">
              <a:srgbClr val="13261D">
                <a:alpha val="12000"/>
              </a:srgbClr>
            </a:outerShdw>
          </a:effectLst>
        </p:spPr>
      </p:sp>
      <p:pic>
        <p:nvPicPr>
          <p:cNvPr id="5" name="Image 0" descr="Detection history: table of photos with counts, alert status and species, and the export menu with PDF and Excel with photos">    </p:cNvPr>
          <p:cNvPicPr>
            <a:picLocks noChangeAspect="1"/>
          </p:cNvPicPr>
          <p:nvPr/>
        </p:nvPicPr>
        <p:blipFill>
          <a:blip r:embed="rId1"/>
          <a:srcRect l="-60" r="-60" t="0" b="0"/>
          <a:stretch/>
        </p:blipFill>
        <p:spPr>
          <a:xfrm>
            <a:off x="819150" y="1901825"/>
            <a:ext cx="6337300" cy="3956050"/>
          </a:xfrm>
          <a:prstGeom prst="roundRect">
            <a:avLst>
              <a:gd name="adj" fmla="val 2408"/>
            </a:avLst>
          </a:prstGeom>
        </p:spPr>
      </p:pic>
      <p:sp>
        <p:nvSpPr>
          <p:cNvPr id="6" name="Shape 3"/>
          <p:cNvSpPr/>
          <p:nvPr/>
        </p:nvSpPr>
        <p:spPr>
          <a:xfrm>
            <a:off x="815975" y="1898650"/>
            <a:ext cx="6343650" cy="3962400"/>
          </a:xfrm>
          <a:prstGeom prst="roundRect">
            <a:avLst>
              <a:gd name="adj" fmla="val 2484"/>
            </a:avLst>
          </a:prstGeom>
          <a:noFill/>
          <a:ln w="6350">
            <a:solidFill>
              <a:srgbClr val="DCE3DA"/>
            </a:solidFill>
            <a:prstDash val="solid"/>
          </a:ln>
        </p:spPr>
      </p:sp>
      <p:sp>
        <p:nvSpPr>
          <p:cNvPr id="7" name="Text 4"/>
          <p:cNvSpPr/>
          <p:nvPr/>
        </p:nvSpPr>
        <p:spPr>
          <a:xfrm>
            <a:off x="7569200" y="1895475"/>
            <a:ext cx="392430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3261D"/>
                </a:solidFill>
                <a:latin typeface="Arial" pitchFamily="34" charset="0"/>
                <a:ea typeface="Arial" pitchFamily="34" charset="-122"/>
                <a:cs typeface="Arial" pitchFamily="34" charset="-120"/>
              </a:rPr>
              <a:t>In-depth analysis</a:t>
            </a:r>
            <a:endParaRPr lang="en-US" sz="1600" dirty="0"/>
          </a:p>
        </p:txBody>
      </p:sp>
      <p:sp>
        <p:nvSpPr>
          <p:cNvPr id="8" name="Text 5"/>
          <p:cNvSpPr/>
          <p:nvPr/>
        </p:nvSpPr>
        <p:spPr>
          <a:xfrm>
            <a:off x="7569200" y="2200275"/>
            <a:ext cx="3924300"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Arial" pitchFamily="34" charset="0"/>
                <a:ea typeface="Arial" pitchFamily="34" charset="-122"/>
                <a:cs typeface="Arial" pitchFamily="34" charset="-120"/>
              </a:rPr>
              <a:t>Compare traps, temperature against catches, the busiest hours.</a:t>
            </a:r>
            <a:endParaRPr lang="en-US" sz="1300" dirty="0"/>
          </a:p>
        </p:txBody>
      </p:sp>
      <p:sp>
        <p:nvSpPr>
          <p:cNvPr id="9" name="Text 6"/>
          <p:cNvSpPr/>
          <p:nvPr/>
        </p:nvSpPr>
        <p:spPr>
          <a:xfrm>
            <a:off x="7569200" y="2949575"/>
            <a:ext cx="392430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3261D"/>
                </a:solidFill>
                <a:latin typeface="Arial" pitchFamily="34" charset="0"/>
                <a:ea typeface="Arial" pitchFamily="34" charset="-122"/>
                <a:cs typeface="Arial" pitchFamily="34" charset="-120"/>
              </a:rPr>
              <a:t>Filters that fit</a:t>
            </a:r>
            <a:endParaRPr lang="en-US" sz="1600" dirty="0"/>
          </a:p>
        </p:txBody>
      </p:sp>
      <p:sp>
        <p:nvSpPr>
          <p:cNvPr id="10" name="Text 7"/>
          <p:cNvSpPr/>
          <p:nvPr/>
        </p:nvSpPr>
        <p:spPr>
          <a:xfrm>
            <a:off x="7569200" y="3254375"/>
            <a:ext cx="3924300"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Arial" pitchFamily="34" charset="0"/>
                <a:ea typeface="Arial" pitchFamily="34" charset="-122"/>
                <a:cs typeface="Arial" pitchFamily="34" charset="-120"/>
              </a:rPr>
              <a:t>By camera, period, alert level and review status.</a:t>
            </a:r>
            <a:endParaRPr lang="en-US" sz="1300" dirty="0"/>
          </a:p>
        </p:txBody>
      </p:sp>
      <p:sp>
        <p:nvSpPr>
          <p:cNvPr id="11" name="Text 8"/>
          <p:cNvSpPr/>
          <p:nvPr/>
        </p:nvSpPr>
        <p:spPr>
          <a:xfrm>
            <a:off x="7569200" y="3756025"/>
            <a:ext cx="392430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3261D"/>
                </a:solidFill>
                <a:latin typeface="Arial" pitchFamily="34" charset="0"/>
                <a:ea typeface="Arial" pitchFamily="34" charset="-122"/>
                <a:cs typeface="Arial" pitchFamily="34" charset="-120"/>
              </a:rPr>
              <a:t>Export with photos</a:t>
            </a:r>
            <a:endParaRPr lang="en-US" sz="1600" dirty="0"/>
          </a:p>
        </p:txBody>
      </p:sp>
      <p:sp>
        <p:nvSpPr>
          <p:cNvPr id="12" name="Text 9"/>
          <p:cNvSpPr/>
          <p:nvPr/>
        </p:nvSpPr>
        <p:spPr>
          <a:xfrm>
            <a:off x="7569200" y="4060825"/>
            <a:ext cx="3924300"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Arial" pitchFamily="34" charset="0"/>
                <a:ea typeface="Arial" pitchFamily="34" charset="-122"/>
                <a:cs typeface="Arial" pitchFamily="34" charset="-120"/>
              </a:rPr>
              <a:t>PDF and Excel with boxed photos, one sheet per camera.</a:t>
            </a:r>
            <a:endParaRPr lang="en-US" sz="1300" dirty="0"/>
          </a:p>
        </p:txBody>
      </p:sp>
      <p:sp>
        <p:nvSpPr>
          <p:cNvPr id="13" name="Text 1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B70"/>
                </a:solidFill>
                <a:latin typeface="Arial" pitchFamily="34" charset="0"/>
                <a:ea typeface="Arial" pitchFamily="34" charset="-122"/>
                <a:cs typeface="Arial" pitchFamily="34" charset="-120"/>
              </a:rPr>
              <a:t>FlyBot ·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7331"/>
          </a:xfrm>
          <a:prstGeom prst="rect">
            <a:avLst/>
          </a:prstGeom>
          <a:noFill/>
          <a:ln/>
        </p:spPr>
        <p:txBody>
          <a:bodyPr wrap="square" lIns="0" tIns="0" rIns="0" bIns="0" rtlCol="0" anchor="t">
            <a:normAutofit/>
          </a:bodyPr>
          <a:lstStyle/>
          <a:p>
            <a:pPr algn="l" indent="0" marL="0">
              <a:lnSpc>
                <a:spcPts val="1675"/>
              </a:lnSpc>
              <a:buNone/>
            </a:pPr>
            <a:r>
              <a:rPr lang="en-US" sz="1196" b="1" spc="150" kern="0" dirty="0">
                <a:solidFill>
                  <a:srgbClr val="1D7A50"/>
                </a:solidFill>
                <a:latin typeface="Arial" pitchFamily="34" charset="0"/>
                <a:ea typeface="Arial" pitchFamily="34" charset="-122"/>
                <a:cs typeface="Arial" pitchFamily="34" charset="-120"/>
              </a:rPr>
              <a:t>REPORTS</a:t>
            </a:r>
            <a:endParaRPr lang="en-US" sz="1196" dirty="0"/>
          </a:p>
        </p:txBody>
      </p:sp>
      <p:sp>
        <p:nvSpPr>
          <p:cNvPr id="3" name="Text 1"/>
          <p:cNvSpPr/>
          <p:nvPr>
            <p:ph type="title"/>
          </p:nvPr>
        </p:nvSpPr>
        <p:spPr>
          <a:xfrm>
            <a:off x="812800" y="1126331"/>
            <a:ext cx="10883392" cy="489744"/>
          </a:xfrm>
          <a:prstGeom prst="rect">
            <a:avLst/>
          </a:prstGeom>
          <a:noFill/>
          <a:ln/>
        </p:spPr>
        <p:txBody>
          <a:bodyPr wrap="square" lIns="0" tIns="0" rIns="0" bIns="0" rtlCol="0" anchor="t">
            <a:normAutofit/>
          </a:bodyPr>
          <a:lstStyle/>
          <a:p>
            <a:pPr algn="l" indent="0" marL="0">
              <a:lnSpc>
                <a:spcPts val="3668"/>
              </a:lnSpc>
              <a:buNone/>
            </a:pPr>
            <a:r>
              <a:rPr lang="en-US" sz="3190" b="1" i="0" dirty="0">
                <a:solidFill>
                  <a:srgbClr val="13261D"/>
                </a:solidFill>
                <a:latin typeface="Arial" pitchFamily="34" charset="0"/>
                <a:ea typeface="Arial" pitchFamily="34" charset="-122"/>
                <a:cs typeface="Arial" pitchFamily="34" charset="-120"/>
              </a:rPr>
              <a:t>Reports that build and send themselves</a:t>
            </a:r>
            <a:endParaRPr lang="en-US" sz="3190" dirty="0"/>
          </a:p>
        </p:txBody>
      </p:sp>
      <p:sp>
        <p:nvSpPr>
          <p:cNvPr id="4" name="Shape 2"/>
          <p:cNvSpPr/>
          <p:nvPr/>
        </p:nvSpPr>
        <p:spPr>
          <a:xfrm>
            <a:off x="812800" y="1895475"/>
            <a:ext cx="6350000" cy="3968750"/>
          </a:xfrm>
          <a:prstGeom prst="roundRect">
            <a:avLst>
              <a:gd name="adj" fmla="val 2560"/>
            </a:avLst>
          </a:prstGeom>
          <a:solidFill>
            <a:srgbClr val="FFFFFF"/>
          </a:solidFill>
          <a:ln/>
          <a:effectLst>
            <a:outerShdw sx="100000" sy="100000" kx="0" ky="0" algn="bl" rotWithShape="0" blurRad="304800" dist="152400" dir="5400000">
              <a:srgbClr val="13261D">
                <a:alpha val="12000"/>
              </a:srgbClr>
            </a:outerShdw>
          </a:effectLst>
        </p:spPr>
      </p:sp>
      <p:pic>
        <p:nvPicPr>
          <p:cNvPr id="5" name="Image 0" descr="Season report: key figures, flies per day and insect species, with Export PDF, Email and Share buttons">    </p:cNvPr>
          <p:cNvPicPr>
            <a:picLocks noChangeAspect="1"/>
          </p:cNvPicPr>
          <p:nvPr/>
        </p:nvPicPr>
        <p:blipFill>
          <a:blip r:embed="rId1"/>
          <a:srcRect l="-60" r="-60" t="0" b="0"/>
          <a:stretch/>
        </p:blipFill>
        <p:spPr>
          <a:xfrm>
            <a:off x="819150" y="1901825"/>
            <a:ext cx="6337300" cy="3956050"/>
          </a:xfrm>
          <a:prstGeom prst="roundRect">
            <a:avLst>
              <a:gd name="adj" fmla="val 2408"/>
            </a:avLst>
          </a:prstGeom>
        </p:spPr>
      </p:pic>
      <p:sp>
        <p:nvSpPr>
          <p:cNvPr id="6" name="Shape 3"/>
          <p:cNvSpPr/>
          <p:nvPr/>
        </p:nvSpPr>
        <p:spPr>
          <a:xfrm>
            <a:off x="815975" y="1898650"/>
            <a:ext cx="6343650" cy="3962400"/>
          </a:xfrm>
          <a:prstGeom prst="roundRect">
            <a:avLst>
              <a:gd name="adj" fmla="val 2484"/>
            </a:avLst>
          </a:prstGeom>
          <a:noFill/>
          <a:ln w="6350">
            <a:solidFill>
              <a:srgbClr val="DCE3DA"/>
            </a:solidFill>
            <a:prstDash val="solid"/>
          </a:ln>
        </p:spPr>
      </p:sp>
      <p:sp>
        <p:nvSpPr>
          <p:cNvPr id="7" name="Text 4"/>
          <p:cNvSpPr/>
          <p:nvPr/>
        </p:nvSpPr>
        <p:spPr>
          <a:xfrm>
            <a:off x="7569200" y="1895475"/>
            <a:ext cx="392430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3261D"/>
                </a:solidFill>
                <a:latin typeface="Arial" pitchFamily="34" charset="0"/>
                <a:ea typeface="Arial" pitchFamily="34" charset="-122"/>
                <a:cs typeface="Arial" pitchFamily="34" charset="-120"/>
              </a:rPr>
              <a:t>Pick the blocks</a:t>
            </a:r>
            <a:endParaRPr lang="en-US" sz="1600" dirty="0"/>
          </a:p>
        </p:txBody>
      </p:sp>
      <p:sp>
        <p:nvSpPr>
          <p:cNvPr id="8" name="Text 5"/>
          <p:cNvSpPr/>
          <p:nvPr/>
        </p:nvSpPr>
        <p:spPr>
          <a:xfrm>
            <a:off x="7569200" y="2200275"/>
            <a:ext cx="3924300"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Arial" pitchFamily="34" charset="0"/>
                <a:ea typeface="Arial" pitchFamily="34" charset="-122"/>
                <a:cs typeface="Arial" pitchFamily="34" charset="-120"/>
              </a:rPr>
              <a:t>Figures, charts, tables; 7 days to 12 months, against the period before.</a:t>
            </a:r>
            <a:endParaRPr lang="en-US" sz="1300" dirty="0"/>
          </a:p>
        </p:txBody>
      </p:sp>
      <p:sp>
        <p:nvSpPr>
          <p:cNvPr id="9" name="Text 6"/>
          <p:cNvSpPr/>
          <p:nvPr/>
        </p:nvSpPr>
        <p:spPr>
          <a:xfrm>
            <a:off x="7569200" y="2949575"/>
            <a:ext cx="392430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3261D"/>
                </a:solidFill>
                <a:latin typeface="Arial" pitchFamily="34" charset="0"/>
                <a:ea typeface="Arial" pitchFamily="34" charset="-122"/>
                <a:cs typeface="Arial" pitchFamily="34" charset="-120"/>
              </a:rPr>
              <a:t>On a schedule</a:t>
            </a:r>
            <a:endParaRPr lang="en-US" sz="1600" dirty="0"/>
          </a:p>
        </p:txBody>
      </p:sp>
      <p:sp>
        <p:nvSpPr>
          <p:cNvPr id="10" name="Text 7"/>
          <p:cNvSpPr/>
          <p:nvPr/>
        </p:nvSpPr>
        <p:spPr>
          <a:xfrm>
            <a:off x="7569200" y="3254375"/>
            <a:ext cx="3924300"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Arial" pitchFamily="34" charset="0"/>
                <a:ea typeface="Arial" pitchFamily="34" charset="-122"/>
                <a:cs typeface="Arial" pitchFamily="34" charset="-120"/>
              </a:rPr>
              <a:t>Weekly or monthly, with the PDF, by email and Telegram.</a:t>
            </a:r>
            <a:endParaRPr lang="en-US" sz="1300" dirty="0"/>
          </a:p>
        </p:txBody>
      </p:sp>
      <p:sp>
        <p:nvSpPr>
          <p:cNvPr id="11" name="Text 8"/>
          <p:cNvSpPr/>
          <p:nvPr/>
        </p:nvSpPr>
        <p:spPr>
          <a:xfrm>
            <a:off x="7569200" y="4003675"/>
            <a:ext cx="392430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3261D"/>
                </a:solidFill>
                <a:latin typeface="Arial" pitchFamily="34" charset="0"/>
                <a:ea typeface="Arial" pitchFamily="34" charset="-122"/>
                <a:cs typeface="Arial" pitchFamily="34" charset="-120"/>
              </a:rPr>
              <a:t>Sharing that ends</a:t>
            </a:r>
            <a:endParaRPr lang="en-US" sz="1600" dirty="0"/>
          </a:p>
        </p:txBody>
      </p:sp>
      <p:sp>
        <p:nvSpPr>
          <p:cNvPr id="12" name="Text 9"/>
          <p:cNvSpPr/>
          <p:nvPr/>
        </p:nvSpPr>
        <p:spPr>
          <a:xfrm>
            <a:off x="7569200" y="4308475"/>
            <a:ext cx="3924300"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Arial" pitchFamily="34" charset="0"/>
                <a:ea typeface="Arial" pitchFamily="34" charset="-122"/>
                <a:cs typeface="Arial" pitchFamily="34" charset="-120"/>
              </a:rPr>
              <a:t>Share with colleagues or a public link that expires.</a:t>
            </a:r>
            <a:endParaRPr lang="en-US" sz="1300" dirty="0"/>
          </a:p>
        </p:txBody>
      </p:sp>
      <p:sp>
        <p:nvSpPr>
          <p:cNvPr id="13" name="Text 1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B70"/>
                </a:solidFill>
                <a:latin typeface="Arial" pitchFamily="34" charset="0"/>
                <a:ea typeface="Arial" pitchFamily="34" charset="-122"/>
                <a:cs typeface="Arial" pitchFamily="34" charset="-120"/>
              </a:rPr>
              <a:t>FlyBot · 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326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C230"/>
                </a:solidFill>
                <a:latin typeface="Arial" pitchFamily="34" charset="0"/>
                <a:ea typeface="Arial" pitchFamily="34" charset="-122"/>
                <a:cs typeface="Arial" pitchFamily="34" charset="-120"/>
              </a:rPr>
              <a:t>AI ASSISTANT</a:t>
            </a:r>
            <a:endParaRPr lang="en-US" sz="1200" dirty="0"/>
          </a:p>
        </p:txBody>
      </p:sp>
      <p:sp>
        <p:nvSpPr>
          <p:cNvPr id="3" name="Text 1"/>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F5F7F1"/>
                </a:solidFill>
                <a:latin typeface="Arial" pitchFamily="34" charset="0"/>
                <a:ea typeface="Arial" pitchFamily="34" charset="-122"/>
                <a:cs typeface="Arial" pitchFamily="34" charset="-120"/>
              </a:rPr>
              <a:t>Ask in plain words; it looks up and acts</a:t>
            </a:r>
            <a:endParaRPr lang="en-US" sz="3200" dirty="0"/>
          </a:p>
        </p:txBody>
      </p:sp>
      <p:sp>
        <p:nvSpPr>
          <p:cNvPr id="4" name="Shape 2"/>
          <p:cNvSpPr/>
          <p:nvPr/>
        </p:nvSpPr>
        <p:spPr>
          <a:xfrm>
            <a:off x="815975" y="1953816"/>
            <a:ext cx="3181350" cy="3281759"/>
          </a:xfrm>
          <a:prstGeom prst="roundRect">
            <a:avLst>
              <a:gd name="adj" fmla="val 3892"/>
            </a:avLst>
          </a:prstGeom>
          <a:solidFill>
            <a:srgbClr val="1E3A2C"/>
          </a:solidFill>
          <a:ln w="6350">
            <a:solidFill>
              <a:srgbClr val="2E4A3B"/>
            </a:solidFill>
            <a:prstDash val="solid"/>
          </a:ln>
        </p:spPr>
      </p:sp>
      <p:pic>
        <p:nvPicPr>
          <p:cNvPr id="5" name="Image 0" descr="Chat">    </p:cNvPr>
          <p:cNvPicPr>
            <a:picLocks noChangeAspect="1"/>
          </p:cNvPicPr>
          <p:nvPr/>
        </p:nvPicPr>
        <p:blipFill>
          <a:blip r:embed="rId1"/>
          <a:srcRect l="0" r="0" t="0" b="0"/>
          <a:stretch/>
        </p:blipFill>
        <p:spPr>
          <a:xfrm>
            <a:off x="1073150" y="2210991"/>
            <a:ext cx="355600" cy="355600"/>
          </a:xfrm>
          <a:prstGeom prst="rect">
            <a:avLst/>
          </a:prstGeom>
        </p:spPr>
      </p:pic>
      <p:sp>
        <p:nvSpPr>
          <p:cNvPr id="6" name="Text 3"/>
          <p:cNvSpPr/>
          <p:nvPr/>
        </p:nvSpPr>
        <p:spPr>
          <a:xfrm>
            <a:off x="1073150" y="2693591"/>
            <a:ext cx="2747010"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5F7F1"/>
                </a:solidFill>
                <a:latin typeface="Arial" pitchFamily="34" charset="0"/>
                <a:ea typeface="Arial" pitchFamily="34" charset="-122"/>
                <a:cs typeface="Arial" pitchFamily="34" charset="-120"/>
              </a:rPr>
              <a:t>You ask</a:t>
            </a:r>
            <a:endParaRPr lang="en-US" sz="1800" dirty="0"/>
          </a:p>
        </p:txBody>
      </p:sp>
      <p:sp>
        <p:nvSpPr>
          <p:cNvPr id="7" name="Text 4"/>
          <p:cNvSpPr/>
          <p:nvPr/>
        </p:nvSpPr>
        <p:spPr>
          <a:xfrm>
            <a:off x="1073150" y="3094831"/>
            <a:ext cx="2747010" cy="7683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BFD3C6"/>
                </a:solidFill>
                <a:latin typeface="Arial" pitchFamily="34" charset="0"/>
                <a:ea typeface="Arial" pitchFamily="34" charset="-122"/>
                <a:cs typeface="Arial" pitchFamily="34" charset="-120"/>
              </a:rPr>
              <a:t>"Which trap is worst?"</a:t>
            </a:r>
            <a:endParaRPr lang="en-US" sz="1300" dirty="0"/>
          </a:p>
          <a:p>
            <a:pPr algn="l" indent="0" marL="0">
              <a:lnSpc>
                <a:spcPts val="1950"/>
              </a:lnSpc>
              <a:buNone/>
            </a:pPr>
            <a:r>
              <a:rPr lang="en-US" sz="1300" dirty="0">
                <a:solidFill>
                  <a:srgbClr val="BFD3C6"/>
                </a:solidFill>
                <a:latin typeface="Arial" pitchFamily="34" charset="0"/>
                <a:ea typeface="Arial" pitchFamily="34" charset="-122"/>
                <a:cs typeface="Arial" pitchFamily="34" charset="-120"/>
              </a:rPr>
              <a:t>"Did last week's spray work?"</a:t>
            </a:r>
            <a:endParaRPr lang="en-US" sz="1300" dirty="0"/>
          </a:p>
          <a:p>
            <a:pPr algn="l" indent="0" marL="0">
              <a:lnSpc>
                <a:spcPts val="1950"/>
              </a:lnSpc>
              <a:buNone/>
            </a:pPr>
            <a:r>
              <a:rPr lang="en-US" sz="1300" dirty="0">
                <a:solidFill>
                  <a:srgbClr val="BFD3C6"/>
                </a:solidFill>
                <a:latin typeface="Arial" pitchFamily="34" charset="0"/>
                <a:ea typeface="Arial" pitchFamily="34" charset="-122"/>
                <a:cs typeface="Arial" pitchFamily="34" charset="-120"/>
              </a:rPr>
              <a:t>"I replaced the card on trap A1."</a:t>
            </a:r>
            <a:endParaRPr lang="en-US" sz="1300" dirty="0"/>
          </a:p>
        </p:txBody>
      </p:sp>
      <p:pic>
        <p:nvPicPr>
          <p:cNvPr id="8" name="Image 1" descr="arrow-right">    </p:cNvPr>
          <p:cNvPicPr>
            <a:picLocks noChangeAspect="1"/>
          </p:cNvPicPr>
          <p:nvPr/>
        </p:nvPicPr>
        <p:blipFill>
          <a:blip r:embed="rId2"/>
          <a:srcRect l="0" r="0" t="0" b="0"/>
          <a:stretch/>
        </p:blipFill>
        <p:spPr>
          <a:xfrm>
            <a:off x="4102100" y="3505795"/>
            <a:ext cx="304800" cy="177800"/>
          </a:xfrm>
          <a:prstGeom prst="rect">
            <a:avLst/>
          </a:prstGeom>
        </p:spPr>
      </p:pic>
      <p:sp>
        <p:nvSpPr>
          <p:cNvPr id="9" name="Shape 5"/>
          <p:cNvSpPr/>
          <p:nvPr/>
        </p:nvSpPr>
        <p:spPr>
          <a:xfrm>
            <a:off x="4511675" y="1953816"/>
            <a:ext cx="3181350" cy="3281759"/>
          </a:xfrm>
          <a:prstGeom prst="roundRect">
            <a:avLst>
              <a:gd name="adj" fmla="val 3892"/>
            </a:avLst>
          </a:prstGeom>
          <a:solidFill>
            <a:srgbClr val="1E3A2C"/>
          </a:solidFill>
          <a:ln w="6350">
            <a:solidFill>
              <a:srgbClr val="2E4A3B"/>
            </a:solidFill>
            <a:prstDash val="solid"/>
          </a:ln>
        </p:spPr>
      </p:sp>
      <p:pic>
        <p:nvPicPr>
          <p:cNvPr id="10" name="Image 2" descr="Tool">    </p:cNvPr>
          <p:cNvPicPr>
            <a:picLocks noChangeAspect="1"/>
          </p:cNvPicPr>
          <p:nvPr/>
        </p:nvPicPr>
        <p:blipFill>
          <a:blip r:embed="rId3"/>
          <a:srcRect l="0" r="0" t="0" b="0"/>
          <a:stretch/>
        </p:blipFill>
        <p:spPr>
          <a:xfrm>
            <a:off x="4768850" y="2210991"/>
            <a:ext cx="355600" cy="355600"/>
          </a:xfrm>
          <a:prstGeom prst="rect">
            <a:avLst/>
          </a:prstGeom>
        </p:spPr>
      </p:pic>
      <p:sp>
        <p:nvSpPr>
          <p:cNvPr id="11" name="Text 6"/>
          <p:cNvSpPr/>
          <p:nvPr/>
        </p:nvSpPr>
        <p:spPr>
          <a:xfrm>
            <a:off x="4768850" y="2693591"/>
            <a:ext cx="2747010"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5F7F1"/>
                </a:solidFill>
                <a:latin typeface="Arial" pitchFamily="34" charset="0"/>
                <a:ea typeface="Arial" pitchFamily="34" charset="-122"/>
                <a:cs typeface="Arial" pitchFamily="34" charset="-120"/>
              </a:rPr>
              <a:t>It picks its tools</a:t>
            </a:r>
            <a:endParaRPr lang="en-US" sz="1800" dirty="0"/>
          </a:p>
        </p:txBody>
      </p:sp>
      <p:sp>
        <p:nvSpPr>
          <p:cNvPr id="12" name="Text 7"/>
          <p:cNvSpPr/>
          <p:nvPr/>
        </p:nvSpPr>
        <p:spPr>
          <a:xfrm>
            <a:off x="4768850" y="3094831"/>
            <a:ext cx="2747010" cy="7683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BFD3C6"/>
                </a:solidFill>
                <a:latin typeface="Arial" pitchFamily="34" charset="0"/>
                <a:ea typeface="Arial" pitchFamily="34" charset="-122"/>
                <a:cs typeface="Arial" pitchFamily="34" charset="-120"/>
              </a:rPr>
              <a:t>Trap figures, week-on-week, alerts, reports, logbook; looks at a photo; takes a photo, emails a report.</a:t>
            </a:r>
            <a:endParaRPr lang="en-US" sz="1300" dirty="0"/>
          </a:p>
        </p:txBody>
      </p:sp>
      <p:pic>
        <p:nvPicPr>
          <p:cNvPr id="13" name="Image 3" descr="arrow-right">    </p:cNvPr>
          <p:cNvPicPr>
            <a:picLocks noChangeAspect="1"/>
          </p:cNvPicPr>
          <p:nvPr/>
        </p:nvPicPr>
        <p:blipFill>
          <a:blip r:embed="rId4"/>
          <a:srcRect l="0" r="0" t="0" b="0"/>
          <a:stretch/>
        </p:blipFill>
        <p:spPr>
          <a:xfrm>
            <a:off x="7797800" y="3505795"/>
            <a:ext cx="304800" cy="177800"/>
          </a:xfrm>
          <a:prstGeom prst="rect">
            <a:avLst/>
          </a:prstGeom>
        </p:spPr>
      </p:pic>
      <p:sp>
        <p:nvSpPr>
          <p:cNvPr id="14" name="Shape 8"/>
          <p:cNvSpPr/>
          <p:nvPr/>
        </p:nvSpPr>
        <p:spPr>
          <a:xfrm>
            <a:off x="8204200" y="1950641"/>
            <a:ext cx="3175000" cy="3288109"/>
          </a:xfrm>
          <a:prstGeom prst="roundRect">
            <a:avLst>
              <a:gd name="adj" fmla="val 4000"/>
            </a:avLst>
          </a:prstGeom>
          <a:solidFill>
            <a:srgbClr val="F5F7F1"/>
          </a:solidFill>
          <a:ln/>
        </p:spPr>
      </p:sp>
      <p:pic>
        <p:nvPicPr>
          <p:cNvPr id="15" name="Image 4" descr="CheckCircle">    </p:cNvPr>
          <p:cNvPicPr>
            <a:picLocks noChangeAspect="1"/>
          </p:cNvPicPr>
          <p:nvPr/>
        </p:nvPicPr>
        <p:blipFill>
          <a:blip r:embed="rId5"/>
          <a:srcRect l="0" r="0" t="0" b="0"/>
          <a:stretch/>
        </p:blipFill>
        <p:spPr>
          <a:xfrm>
            <a:off x="8458200" y="2204641"/>
            <a:ext cx="355600" cy="355600"/>
          </a:xfrm>
          <a:prstGeom prst="rect">
            <a:avLst/>
          </a:prstGeom>
        </p:spPr>
      </p:pic>
      <p:sp>
        <p:nvSpPr>
          <p:cNvPr id="16" name="Text 9"/>
          <p:cNvSpPr/>
          <p:nvPr/>
        </p:nvSpPr>
        <p:spPr>
          <a:xfrm>
            <a:off x="8458200" y="2687241"/>
            <a:ext cx="2747010"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61D"/>
                </a:solidFill>
                <a:latin typeface="Arial" pitchFamily="34" charset="0"/>
                <a:ea typeface="Arial" pitchFamily="34" charset="-122"/>
                <a:cs typeface="Arial" pitchFamily="34" charset="-120"/>
              </a:rPr>
              <a:t>Answers and guides</a:t>
            </a:r>
            <a:endParaRPr lang="en-US" sz="1800" dirty="0"/>
          </a:p>
        </p:txBody>
      </p:sp>
      <p:sp>
        <p:nvSpPr>
          <p:cNvPr id="17" name="Text 10"/>
          <p:cNvSpPr/>
          <p:nvPr/>
        </p:nvSpPr>
        <p:spPr>
          <a:xfrm>
            <a:off x="8458200" y="3088481"/>
            <a:ext cx="2747010" cy="10160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Arial" pitchFamily="34" charset="0"/>
                <a:ea typeface="Arial" pitchFamily="34" charset="-122"/>
                <a:cs typeface="Arial" pitchFamily="34" charset="-120"/>
              </a:rPr>
              <a:t>Streams its answer with photos and charts, opens the right screen. Changes are saved only on your Confirm.</a:t>
            </a:r>
            <a:endParaRPr lang="en-US" sz="1300" dirty="0"/>
          </a:p>
        </p:txBody>
      </p:sp>
      <p:sp>
        <p:nvSpPr>
          <p:cNvPr id="18" name="Text 11"/>
          <p:cNvSpPr/>
          <p:nvPr/>
        </p:nvSpPr>
        <p:spPr>
          <a:xfrm>
            <a:off x="812800" y="5594350"/>
            <a:ext cx="10883392"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BFD3C6"/>
                </a:solidFill>
                <a:latin typeface="Arial" pitchFamily="34" charset="0"/>
                <a:ea typeface="Arial" pitchFamily="34" charset="-122"/>
                <a:cs typeface="Arial" pitchFamily="34" charset="-120"/>
              </a:rPr>
              <a:t>The assistant only sees the cameras you may see, and never changes settings or accounts.</a:t>
            </a:r>
            <a:endParaRPr lang="en-US" sz="1300" dirty="0"/>
          </a:p>
        </p:txBody>
      </p:sp>
      <p:sp>
        <p:nvSpPr>
          <p:cNvPr id="19"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898"/>
                </a:solidFill>
                <a:latin typeface="Arial" pitchFamily="34" charset="0"/>
                <a:ea typeface="Arial" pitchFamily="34" charset="-122"/>
                <a:cs typeface="Arial" pitchFamily="34" charset="-120"/>
              </a:rPr>
              <a:t>FlyBot · 12 · Full guide: </a:t>
            </a:r>
            <a:r>
              <a:rPr lang="en-US" sz="1200" u="sng" dirty="0">
                <a:solidFill>
                  <a:srgbClr val="8FA898"/>
                </a:solidFill>
                <a:latin typeface="Arial" pitchFamily="34" charset="0"/>
                <a:ea typeface="Arial" pitchFamily="34" charset="-122"/>
                <a:cs typeface="Arial" pitchFamily="34" charset="-120"/>
                <a:hlinkClick r:id="rId6" invalidUrl="" action="" tgtFrame="" tooltip="" history="1" highlightClick="0" endSnd="0">
                  <a:extLst>
                    <a:ext uri="{A12FA001-AC4F-418D-AE19-62706E023703}">
                      <ahyp:hlinkClr xmlns:ahyp="http://schemas.microsoft.com/office/drawing/2018/hyperlinkcolor" val="tx"/>
                    </a:ext>
                  </a:extLst>
                </a:hlinkClick>
              </a:rPr>
              <a:t>ezviz.agrhub.com/manual</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7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D7A50"/>
                </a:solidFill>
                <a:latin typeface="Arial" pitchFamily="34" charset="0"/>
                <a:ea typeface="Arial" pitchFamily="34" charset="-122"/>
                <a:cs typeface="Arial" pitchFamily="34" charset="-120"/>
              </a:rPr>
              <a:t>THE ASSISTANT IN THE APP</a:t>
            </a:r>
            <a:endParaRPr lang="en-US" sz="1200" dirty="0"/>
          </a:p>
        </p:txBody>
      </p:sp>
      <p:sp>
        <p:nvSpPr>
          <p:cNvPr id="3" name="Text 1"/>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3261D"/>
                </a:solidFill>
                <a:latin typeface="Arial" pitchFamily="34" charset="0"/>
                <a:ea typeface="Arial" pitchFamily="34" charset="-122"/>
                <a:cs typeface="Arial" pitchFamily="34" charset="-120"/>
              </a:rPr>
              <a:t>Answers with photos, charts and buttons</a:t>
            </a:r>
            <a:endParaRPr lang="en-US" sz="3200" dirty="0"/>
          </a:p>
        </p:txBody>
      </p:sp>
      <p:sp>
        <p:nvSpPr>
          <p:cNvPr id="4" name="Text 2"/>
          <p:cNvSpPr/>
          <p:nvPr/>
        </p:nvSpPr>
        <p:spPr>
          <a:xfrm>
            <a:off x="812800" y="1849041"/>
            <a:ext cx="256387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61D"/>
                </a:solidFill>
                <a:latin typeface="Arial" pitchFamily="34" charset="0"/>
                <a:ea typeface="Arial" pitchFamily="34" charset="-122"/>
                <a:cs typeface="Arial" pitchFamily="34" charset="-120"/>
              </a:rPr>
              <a:t>Latest AI photos</a:t>
            </a:r>
            <a:endParaRPr lang="en-US" sz="1200" dirty="0"/>
          </a:p>
        </p:txBody>
      </p:sp>
      <p:sp>
        <p:nvSpPr>
          <p:cNvPr id="5" name="Shape 3"/>
          <p:cNvSpPr/>
          <p:nvPr/>
        </p:nvSpPr>
        <p:spPr>
          <a:xfrm>
            <a:off x="812800" y="2138561"/>
            <a:ext cx="2489200" cy="3683000"/>
          </a:xfrm>
          <a:prstGeom prst="roundRect">
            <a:avLst>
              <a:gd name="adj" fmla="val 4082"/>
            </a:avLst>
          </a:prstGeom>
          <a:solidFill>
            <a:srgbClr val="FFFFFF"/>
          </a:solidFill>
          <a:ln/>
          <a:effectLst>
            <a:outerShdw sx="100000" sy="100000" kx="0" ky="0" algn="bl" rotWithShape="0" blurRad="203200" dist="101600" dir="5400000">
              <a:srgbClr val="13261D">
                <a:alpha val="10000"/>
              </a:srgbClr>
            </a:outerShdw>
          </a:effectLst>
        </p:spPr>
      </p:sp>
      <p:pic>
        <p:nvPicPr>
          <p:cNvPr id="6" name="Image 0" descr="The assistant answers with the 4 latest trap photos and their counts">    </p:cNvPr>
          <p:cNvPicPr>
            <a:picLocks noChangeAspect="1"/>
          </p:cNvPicPr>
          <p:nvPr/>
        </p:nvPicPr>
        <p:blipFill>
          <a:blip r:embed="rId1"/>
          <a:srcRect l="0" r="0" t="-79" b="-79"/>
          <a:stretch/>
        </p:blipFill>
        <p:spPr>
          <a:xfrm>
            <a:off x="819150" y="2144911"/>
            <a:ext cx="2476500" cy="3670300"/>
          </a:xfrm>
          <a:prstGeom prst="roundRect">
            <a:avLst>
              <a:gd name="adj" fmla="val 3846"/>
            </a:avLst>
          </a:prstGeom>
        </p:spPr>
      </p:pic>
      <p:sp>
        <p:nvSpPr>
          <p:cNvPr id="7" name="Shape 4"/>
          <p:cNvSpPr/>
          <p:nvPr/>
        </p:nvSpPr>
        <p:spPr>
          <a:xfrm>
            <a:off x="815975" y="2141736"/>
            <a:ext cx="2482850" cy="3676650"/>
          </a:xfrm>
          <a:prstGeom prst="roundRect">
            <a:avLst>
              <a:gd name="adj" fmla="val 3964"/>
            </a:avLst>
          </a:prstGeom>
          <a:noFill/>
          <a:ln w="6350">
            <a:solidFill>
              <a:srgbClr val="DCE3DA"/>
            </a:solidFill>
            <a:prstDash val="solid"/>
          </a:ln>
        </p:spPr>
      </p:sp>
      <p:sp>
        <p:nvSpPr>
          <p:cNvPr id="8" name="Text 5"/>
          <p:cNvSpPr/>
          <p:nvPr/>
        </p:nvSpPr>
        <p:spPr>
          <a:xfrm>
            <a:off x="3505200" y="1849041"/>
            <a:ext cx="256387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61D"/>
                </a:solidFill>
                <a:latin typeface="Arial" pitchFamily="34" charset="0"/>
                <a:ea typeface="Arial" pitchFamily="34" charset="-122"/>
                <a:cs typeface="Arial" pitchFamily="34" charset="-120"/>
              </a:rPr>
              <a:t>Charts in the chat</a:t>
            </a:r>
            <a:endParaRPr lang="en-US" sz="1200" dirty="0"/>
          </a:p>
        </p:txBody>
      </p:sp>
      <p:sp>
        <p:nvSpPr>
          <p:cNvPr id="9" name="Shape 6"/>
          <p:cNvSpPr/>
          <p:nvPr/>
        </p:nvSpPr>
        <p:spPr>
          <a:xfrm>
            <a:off x="3505200" y="2138561"/>
            <a:ext cx="2489200" cy="2794000"/>
          </a:xfrm>
          <a:prstGeom prst="roundRect">
            <a:avLst>
              <a:gd name="adj" fmla="val 4082"/>
            </a:avLst>
          </a:prstGeom>
          <a:solidFill>
            <a:srgbClr val="FFFFFF"/>
          </a:solidFill>
          <a:ln/>
          <a:effectLst>
            <a:outerShdw sx="100000" sy="100000" kx="0" ky="0" algn="bl" rotWithShape="0" blurRad="203200" dist="101600" dir="5400000">
              <a:srgbClr val="13261D">
                <a:alpha val="10000"/>
              </a:srgbClr>
            </a:outerShdw>
          </a:effectLst>
        </p:spPr>
      </p:sp>
      <p:pic>
        <p:nvPicPr>
          <p:cNvPr id="10" name="Image 1" descr="The assistant answers about the last 24 hours with a catches-by-hour chart">    </p:cNvPr>
          <p:cNvPicPr>
            <a:picLocks noChangeAspect="1"/>
          </p:cNvPicPr>
          <p:nvPr/>
        </p:nvPicPr>
        <p:blipFill>
          <a:blip r:embed="rId2"/>
          <a:srcRect l="0" r="0" t="-61" b="-61"/>
          <a:stretch/>
        </p:blipFill>
        <p:spPr>
          <a:xfrm>
            <a:off x="3511550" y="2144911"/>
            <a:ext cx="2476500" cy="2781300"/>
          </a:xfrm>
          <a:prstGeom prst="roundRect">
            <a:avLst>
              <a:gd name="adj" fmla="val 3846"/>
            </a:avLst>
          </a:prstGeom>
        </p:spPr>
      </p:pic>
      <p:sp>
        <p:nvSpPr>
          <p:cNvPr id="11" name="Shape 7"/>
          <p:cNvSpPr/>
          <p:nvPr/>
        </p:nvSpPr>
        <p:spPr>
          <a:xfrm>
            <a:off x="3508375" y="2141736"/>
            <a:ext cx="2482850" cy="2787650"/>
          </a:xfrm>
          <a:prstGeom prst="roundRect">
            <a:avLst>
              <a:gd name="adj" fmla="val 3964"/>
            </a:avLst>
          </a:prstGeom>
          <a:noFill/>
          <a:ln w="6350">
            <a:solidFill>
              <a:srgbClr val="DCE3DA"/>
            </a:solidFill>
            <a:prstDash val="solid"/>
          </a:ln>
        </p:spPr>
      </p:sp>
      <p:sp>
        <p:nvSpPr>
          <p:cNvPr id="12" name="Text 8"/>
          <p:cNvSpPr/>
          <p:nvPr/>
        </p:nvSpPr>
        <p:spPr>
          <a:xfrm>
            <a:off x="6197600" y="1849041"/>
            <a:ext cx="256387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61D"/>
                </a:solidFill>
                <a:latin typeface="Arial" pitchFamily="34" charset="0"/>
                <a:ea typeface="Arial" pitchFamily="34" charset="-122"/>
                <a:cs typeface="Arial" pitchFamily="34" charset="-120"/>
              </a:rPr>
              <a:t>Ask about a photo</a:t>
            </a:r>
            <a:endParaRPr lang="en-US" sz="1200" dirty="0"/>
          </a:p>
        </p:txBody>
      </p:sp>
      <p:sp>
        <p:nvSpPr>
          <p:cNvPr id="13" name="Shape 9"/>
          <p:cNvSpPr/>
          <p:nvPr/>
        </p:nvSpPr>
        <p:spPr>
          <a:xfrm>
            <a:off x="6197600" y="2138561"/>
            <a:ext cx="2489200" cy="3448050"/>
          </a:xfrm>
          <a:prstGeom prst="roundRect">
            <a:avLst>
              <a:gd name="adj" fmla="val 4082"/>
            </a:avLst>
          </a:prstGeom>
          <a:solidFill>
            <a:srgbClr val="FFFFFF"/>
          </a:solidFill>
          <a:ln/>
          <a:effectLst>
            <a:outerShdw sx="100000" sy="100000" kx="0" ky="0" algn="bl" rotWithShape="0" blurRad="203200" dist="101600" dir="5400000">
              <a:srgbClr val="13261D">
                <a:alpha val="10000"/>
              </a:srgbClr>
            </a:outerShdw>
          </a:effectLst>
        </p:spPr>
      </p:sp>
      <p:pic>
        <p:nvPicPr>
          <p:cNvPr id="14" name="Image 2" descr="The assistant looks at a trap photo and comments on the count and the image quality">    </p:cNvPr>
          <p:cNvPicPr>
            <a:picLocks noChangeAspect="1"/>
          </p:cNvPicPr>
          <p:nvPr/>
        </p:nvPicPr>
        <p:blipFill>
          <a:blip r:embed="rId3"/>
          <a:srcRect l="0" r="0" t="-106" b="-106"/>
          <a:stretch/>
        </p:blipFill>
        <p:spPr>
          <a:xfrm>
            <a:off x="6203950" y="2144911"/>
            <a:ext cx="2476500" cy="3435350"/>
          </a:xfrm>
          <a:prstGeom prst="roundRect">
            <a:avLst>
              <a:gd name="adj" fmla="val 3846"/>
            </a:avLst>
          </a:prstGeom>
        </p:spPr>
      </p:pic>
      <p:sp>
        <p:nvSpPr>
          <p:cNvPr id="15" name="Shape 10"/>
          <p:cNvSpPr/>
          <p:nvPr/>
        </p:nvSpPr>
        <p:spPr>
          <a:xfrm>
            <a:off x="6200775" y="2141736"/>
            <a:ext cx="2482850" cy="3441700"/>
          </a:xfrm>
          <a:prstGeom prst="roundRect">
            <a:avLst>
              <a:gd name="adj" fmla="val 3964"/>
            </a:avLst>
          </a:prstGeom>
          <a:noFill/>
          <a:ln w="6350">
            <a:solidFill>
              <a:srgbClr val="DCE3DA"/>
            </a:solidFill>
            <a:prstDash val="solid"/>
          </a:ln>
        </p:spPr>
      </p:sp>
      <p:sp>
        <p:nvSpPr>
          <p:cNvPr id="16" name="Text 11"/>
          <p:cNvSpPr/>
          <p:nvPr/>
        </p:nvSpPr>
        <p:spPr>
          <a:xfrm>
            <a:off x="8890000" y="1849041"/>
            <a:ext cx="256387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61D"/>
                </a:solidFill>
                <a:latin typeface="Arial" pitchFamily="34" charset="0"/>
                <a:ea typeface="Arial" pitchFamily="34" charset="-122"/>
                <a:cs typeface="Arial" pitchFamily="34" charset="-120"/>
              </a:rPr>
              <a:t>Saved on your Confirm</a:t>
            </a:r>
            <a:endParaRPr lang="en-US" sz="1200" dirty="0"/>
          </a:p>
        </p:txBody>
      </p:sp>
      <p:sp>
        <p:nvSpPr>
          <p:cNvPr id="17" name="Shape 12"/>
          <p:cNvSpPr/>
          <p:nvPr/>
        </p:nvSpPr>
        <p:spPr>
          <a:xfrm>
            <a:off x="8890000" y="2138561"/>
            <a:ext cx="2489200" cy="2152650"/>
          </a:xfrm>
          <a:prstGeom prst="roundRect">
            <a:avLst>
              <a:gd name="adj" fmla="val 4720"/>
            </a:avLst>
          </a:prstGeom>
          <a:solidFill>
            <a:srgbClr val="FFFFFF"/>
          </a:solidFill>
          <a:ln/>
          <a:effectLst>
            <a:outerShdw sx="100000" sy="100000" kx="0" ky="0" algn="bl" rotWithShape="0" blurRad="203200" dist="101600" dir="5400000">
              <a:srgbClr val="13261D">
                <a:alpha val="10000"/>
              </a:srgbClr>
            </a:outerShdw>
          </a:effectLst>
        </p:spPr>
      </p:sp>
      <p:pic>
        <p:nvPicPr>
          <p:cNvPr id="18" name="Image 3" descr="A sticky card change card with Confirm and Cancel buttons">    </p:cNvPr>
          <p:cNvPicPr>
            <a:picLocks noChangeAspect="1"/>
          </p:cNvPicPr>
          <p:nvPr/>
        </p:nvPicPr>
        <p:blipFill>
          <a:blip r:embed="rId4"/>
          <a:srcRect l="0" r="0" t="-8" b="-8"/>
          <a:stretch/>
        </p:blipFill>
        <p:spPr>
          <a:xfrm>
            <a:off x="8896350" y="2144911"/>
            <a:ext cx="2476500" cy="2139950"/>
          </a:xfrm>
          <a:prstGeom prst="roundRect">
            <a:avLst>
              <a:gd name="adj" fmla="val 4451"/>
            </a:avLst>
          </a:prstGeom>
        </p:spPr>
      </p:pic>
      <p:sp>
        <p:nvSpPr>
          <p:cNvPr id="19" name="Shape 13"/>
          <p:cNvSpPr/>
          <p:nvPr/>
        </p:nvSpPr>
        <p:spPr>
          <a:xfrm>
            <a:off x="8893175" y="2141736"/>
            <a:ext cx="2482850" cy="2146300"/>
          </a:xfrm>
          <a:prstGeom prst="roundRect">
            <a:avLst>
              <a:gd name="adj" fmla="val 4586"/>
            </a:avLst>
          </a:prstGeom>
          <a:noFill/>
          <a:ln w="6350">
            <a:solidFill>
              <a:srgbClr val="DCE3DA"/>
            </a:solidFill>
            <a:prstDash val="solid"/>
          </a:ln>
        </p:spPr>
      </p:sp>
      <p:sp>
        <p:nvSpPr>
          <p:cNvPr id="20"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B70"/>
                </a:solidFill>
                <a:latin typeface="Arial" pitchFamily="34" charset="0"/>
                <a:ea typeface="Arial" pitchFamily="34" charset="-122"/>
                <a:cs typeface="Arial" pitchFamily="34" charset="-120"/>
              </a:rPr>
              <a:t>FlyBot · 13 · Full guide: </a:t>
            </a:r>
            <a:r>
              <a:rPr lang="en-US" sz="1200" u="sng" dirty="0">
                <a:solidFill>
                  <a:srgbClr val="6B7B70"/>
                </a:solidFill>
                <a:latin typeface="Arial" pitchFamily="34" charset="0"/>
                <a:ea typeface="Arial" pitchFamily="34" charset="-122"/>
                <a:cs typeface="Arial" pitchFamily="34" charset="-120"/>
                <a:hlinkClick r:id="rId5" invalidUrl="" action="" tgtFrame="" tooltip="" history="1" highlightClick="0" endSnd="0">
                  <a:extLst>
                    <a:ext uri="{A12FA001-AC4F-418D-AE19-62706E023703}">
                      <ahyp:hlinkClr xmlns:ahyp="http://schemas.microsoft.com/office/drawing/2018/hyperlinkcolor" val="tx"/>
                    </a:ext>
                  </a:extLst>
                </a:hlinkClick>
              </a:rPr>
              <a:t>ezviz.agrhub.com/manual</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7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7331"/>
          </a:xfrm>
          <a:prstGeom prst="rect">
            <a:avLst/>
          </a:prstGeom>
          <a:noFill/>
          <a:ln/>
        </p:spPr>
        <p:txBody>
          <a:bodyPr wrap="square" lIns="0" tIns="0" rIns="0" bIns="0" rtlCol="0" anchor="t">
            <a:normAutofit/>
          </a:bodyPr>
          <a:lstStyle/>
          <a:p>
            <a:pPr algn="l" indent="0" marL="0">
              <a:lnSpc>
                <a:spcPts val="1675"/>
              </a:lnSpc>
              <a:buNone/>
            </a:pPr>
            <a:r>
              <a:rPr lang="en-US" sz="1196" b="1" spc="150" kern="0" dirty="0">
                <a:solidFill>
                  <a:srgbClr val="1D7A50"/>
                </a:solidFill>
                <a:latin typeface="Arial" pitchFamily="34" charset="0"/>
                <a:ea typeface="Arial" pitchFamily="34" charset="-122"/>
                <a:cs typeface="Arial" pitchFamily="34" charset="-120"/>
              </a:rPr>
              <a:t>FARMS, MAP AND LOGBOOK</a:t>
            </a:r>
            <a:endParaRPr lang="en-US" sz="1196" dirty="0"/>
          </a:p>
        </p:txBody>
      </p:sp>
      <p:sp>
        <p:nvSpPr>
          <p:cNvPr id="3" name="Text 1"/>
          <p:cNvSpPr/>
          <p:nvPr>
            <p:ph type="title"/>
          </p:nvPr>
        </p:nvSpPr>
        <p:spPr>
          <a:xfrm>
            <a:off x="812800" y="1126331"/>
            <a:ext cx="10883392" cy="489744"/>
          </a:xfrm>
          <a:prstGeom prst="rect">
            <a:avLst/>
          </a:prstGeom>
          <a:noFill/>
          <a:ln/>
        </p:spPr>
        <p:txBody>
          <a:bodyPr wrap="square" lIns="0" tIns="0" rIns="0" bIns="0" rtlCol="0" anchor="t">
            <a:normAutofit/>
          </a:bodyPr>
          <a:lstStyle/>
          <a:p>
            <a:pPr algn="l" indent="0" marL="0">
              <a:lnSpc>
                <a:spcPts val="3668"/>
              </a:lnSpc>
              <a:buNone/>
            </a:pPr>
            <a:r>
              <a:rPr lang="en-US" sz="3190" b="1" i="0" dirty="0">
                <a:solidFill>
                  <a:srgbClr val="13261D"/>
                </a:solidFill>
                <a:latin typeface="Arial" pitchFamily="34" charset="0"/>
                <a:ea typeface="Arial" pitchFamily="34" charset="-122"/>
                <a:cs typeface="Arial" pitchFamily="34" charset="-120"/>
              </a:rPr>
              <a:t>See which treatments really work</a:t>
            </a:r>
            <a:endParaRPr lang="en-US" sz="3190" dirty="0"/>
          </a:p>
        </p:txBody>
      </p:sp>
      <p:sp>
        <p:nvSpPr>
          <p:cNvPr id="4" name="Shape 2"/>
          <p:cNvSpPr/>
          <p:nvPr/>
        </p:nvSpPr>
        <p:spPr>
          <a:xfrm>
            <a:off x="812800" y="1895475"/>
            <a:ext cx="6350000" cy="3968750"/>
          </a:xfrm>
          <a:prstGeom prst="roundRect">
            <a:avLst>
              <a:gd name="adj" fmla="val 2560"/>
            </a:avLst>
          </a:prstGeom>
          <a:solidFill>
            <a:srgbClr val="FFFFFF"/>
          </a:solidFill>
          <a:ln/>
          <a:effectLst>
            <a:outerShdw sx="100000" sy="100000" kx="0" ky="0" algn="bl" rotWithShape="0" blurRad="304800" dist="152400" dir="5400000">
              <a:srgbClr val="13261D">
                <a:alpha val="12000"/>
              </a:srgbClr>
            </a:outerShdw>
          </a:effectLst>
        </p:spPr>
      </p:sp>
      <p:pic>
        <p:nvPicPr>
          <p:cNvPr id="5" name="Image 0" descr="Farm logbook: sprays and orchard sanitation with their measured effect, when harvest is allowed, and the buttons to export and email the VietGAP record">    </p:cNvPr>
          <p:cNvPicPr>
            <a:picLocks noChangeAspect="1"/>
          </p:cNvPicPr>
          <p:nvPr/>
        </p:nvPicPr>
        <p:blipFill>
          <a:blip r:embed="rId1"/>
          <a:srcRect l="-60" r="-60" t="0" b="0"/>
          <a:stretch/>
        </p:blipFill>
        <p:spPr>
          <a:xfrm>
            <a:off x="819150" y="1901825"/>
            <a:ext cx="6337300" cy="3956050"/>
          </a:xfrm>
          <a:prstGeom prst="roundRect">
            <a:avLst>
              <a:gd name="adj" fmla="val 2408"/>
            </a:avLst>
          </a:prstGeom>
        </p:spPr>
      </p:pic>
      <p:sp>
        <p:nvSpPr>
          <p:cNvPr id="6" name="Shape 3"/>
          <p:cNvSpPr/>
          <p:nvPr/>
        </p:nvSpPr>
        <p:spPr>
          <a:xfrm>
            <a:off x="815975" y="1898650"/>
            <a:ext cx="6343650" cy="3962400"/>
          </a:xfrm>
          <a:prstGeom prst="roundRect">
            <a:avLst>
              <a:gd name="adj" fmla="val 2484"/>
            </a:avLst>
          </a:prstGeom>
          <a:noFill/>
          <a:ln w="6350">
            <a:solidFill>
              <a:srgbClr val="DCE3DA"/>
            </a:solidFill>
            <a:prstDash val="solid"/>
          </a:ln>
        </p:spPr>
      </p:sp>
      <p:sp>
        <p:nvSpPr>
          <p:cNvPr id="7" name="Text 4"/>
          <p:cNvSpPr/>
          <p:nvPr/>
        </p:nvSpPr>
        <p:spPr>
          <a:xfrm>
            <a:off x="7569200" y="1895475"/>
            <a:ext cx="392430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3261D"/>
                </a:solidFill>
                <a:latin typeface="Arial" pitchFamily="34" charset="0"/>
                <a:ea typeface="Arial" pitchFamily="34" charset="-122"/>
                <a:cs typeface="Arial" pitchFamily="34" charset="-120"/>
              </a:rPr>
              <a:t>Farms, plots and map</a:t>
            </a:r>
            <a:endParaRPr lang="en-US" sz="1600" dirty="0"/>
          </a:p>
        </p:txBody>
      </p:sp>
      <p:sp>
        <p:nvSpPr>
          <p:cNvPr id="8" name="Text 5"/>
          <p:cNvSpPr/>
          <p:nvPr/>
        </p:nvSpPr>
        <p:spPr>
          <a:xfrm>
            <a:off x="7569200" y="2200275"/>
            <a:ext cx="3924300"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Arial" pitchFamily="34" charset="0"/>
                <a:ea typeface="Arial" pitchFamily="34" charset="-122"/>
                <a:cs typeface="Arial" pitchFamily="34" charset="-120"/>
              </a:rPr>
              <a:t>Traps belong to plots; a heat map shows the pest hot spots.</a:t>
            </a:r>
            <a:endParaRPr lang="en-US" sz="1300" dirty="0"/>
          </a:p>
        </p:txBody>
      </p:sp>
      <p:sp>
        <p:nvSpPr>
          <p:cNvPr id="9" name="Text 6"/>
          <p:cNvSpPr/>
          <p:nvPr/>
        </p:nvSpPr>
        <p:spPr>
          <a:xfrm>
            <a:off x="7569200" y="2949575"/>
            <a:ext cx="392430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3261D"/>
                </a:solidFill>
                <a:latin typeface="Arial" pitchFamily="34" charset="0"/>
                <a:ea typeface="Arial" pitchFamily="34" charset="-122"/>
                <a:cs typeface="Arial" pitchFamily="34" charset="-120"/>
              </a:rPr>
              <a:t>Treatment log</a:t>
            </a:r>
            <a:endParaRPr lang="en-US" sz="1600" dirty="0"/>
          </a:p>
        </p:txBody>
      </p:sp>
      <p:sp>
        <p:nvSpPr>
          <p:cNvPr id="10" name="Text 7"/>
          <p:cNvSpPr/>
          <p:nvPr/>
        </p:nvSpPr>
        <p:spPr>
          <a:xfrm>
            <a:off x="7569200" y="3254375"/>
            <a:ext cx="3924300"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Arial" pitchFamily="34" charset="0"/>
                <a:ea typeface="Arial" pitchFamily="34" charset="-122"/>
                <a:cs typeface="Arial" pitchFamily="34" charset="-120"/>
              </a:rPr>
              <a:t>Every spray or bait with its measured effect; when harvest is allowed again.</a:t>
            </a:r>
            <a:endParaRPr lang="en-US" sz="1300" dirty="0"/>
          </a:p>
        </p:txBody>
      </p:sp>
      <p:sp>
        <p:nvSpPr>
          <p:cNvPr id="11" name="Text 8"/>
          <p:cNvSpPr/>
          <p:nvPr/>
        </p:nvSpPr>
        <p:spPr>
          <a:xfrm>
            <a:off x="7569200" y="4003675"/>
            <a:ext cx="392430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3261D"/>
                </a:solidFill>
                <a:latin typeface="Arial" pitchFamily="34" charset="0"/>
                <a:ea typeface="Arial" pitchFamily="34" charset="-122"/>
                <a:cs typeface="Arial" pitchFamily="34" charset="-120"/>
              </a:rPr>
              <a:t>VietGAP record</a:t>
            </a:r>
            <a:endParaRPr lang="en-US" sz="1600" dirty="0"/>
          </a:p>
        </p:txBody>
      </p:sp>
      <p:sp>
        <p:nvSpPr>
          <p:cNvPr id="12" name="Text 9"/>
          <p:cNvSpPr/>
          <p:nvPr/>
        </p:nvSpPr>
        <p:spPr>
          <a:xfrm>
            <a:off x="7569200" y="4308475"/>
            <a:ext cx="3924300"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Arial" pitchFamily="34" charset="0"/>
                <a:ea typeface="Arial" pitchFamily="34" charset="-122"/>
                <a:cs typeface="Arial" pitchFamily="34" charset="-120"/>
              </a:rPr>
              <a:t>The pesticide use record in the VietGAP layout, emailed as a PDF on the 1st.</a:t>
            </a:r>
            <a:endParaRPr lang="en-US" sz="1300" dirty="0"/>
          </a:p>
        </p:txBody>
      </p:sp>
      <p:sp>
        <p:nvSpPr>
          <p:cNvPr id="13" name="Text 1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B70"/>
                </a:solidFill>
                <a:latin typeface="Arial" pitchFamily="34" charset="0"/>
                <a:ea typeface="Arial" pitchFamily="34" charset="-122"/>
                <a:cs typeface="Arial" pitchFamily="34" charset="-120"/>
              </a:rPr>
              <a:t>FlyBot · 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7F1"/>
        </a:solidFill>
      </p:bgPr>
    </p:bg>
    <p:spTree>
      <p:nvGrpSpPr>
        <p:cNvPr id="1" name=""/>
        <p:cNvGrpSpPr/>
        <p:nvPr/>
      </p:nvGrpSpPr>
      <p:grpSpPr>
        <a:xfrm>
          <a:off x="0" y="0"/>
          <a:ext cx="0" cy="0"/>
          <a:chOff x="0" y="0"/>
          <a:chExt cx="0" cy="0"/>
        </a:xfrm>
      </p:grpSpPr>
      <p:sp>
        <p:nvSpPr>
          <p:cNvPr id="2" name="Shape 0"/>
          <p:cNvSpPr/>
          <p:nvPr/>
        </p:nvSpPr>
        <p:spPr>
          <a:xfrm>
            <a:off x="812800" y="838200"/>
            <a:ext cx="2298700" cy="4978400"/>
          </a:xfrm>
          <a:prstGeom prst="roundRect">
            <a:avLst>
              <a:gd name="adj" fmla="val 8840"/>
            </a:avLst>
          </a:prstGeom>
          <a:solidFill>
            <a:srgbClr val="FFFFFF"/>
          </a:solidFill>
          <a:ln/>
          <a:effectLst>
            <a:outerShdw sx="100000" sy="100000" kx="0" ky="0" algn="bl" rotWithShape="0" blurRad="304800" dist="152400" dir="5400000">
              <a:srgbClr val="13261D">
                <a:alpha val="12000"/>
              </a:srgbClr>
            </a:outerShdw>
          </a:effectLst>
        </p:spPr>
      </p:sp>
      <p:pic>
        <p:nvPicPr>
          <p:cNvPr id="3" name="Image 0" descr="FlyBot on a phone: the overview with an area inside its pre-harvest interval, and the bottom navigation bar">    </p:cNvPr>
          <p:cNvPicPr>
            <a:picLocks noChangeAspect="1"/>
          </p:cNvPicPr>
          <p:nvPr/>
        </p:nvPicPr>
        <p:blipFill>
          <a:blip r:embed="rId1"/>
          <a:srcRect l="0" r="0" t="-188" b="-188"/>
          <a:stretch/>
        </p:blipFill>
        <p:spPr>
          <a:xfrm>
            <a:off x="819150" y="844550"/>
            <a:ext cx="2286000" cy="4965700"/>
          </a:xfrm>
          <a:prstGeom prst="roundRect">
            <a:avLst>
              <a:gd name="adj" fmla="val 8611"/>
            </a:avLst>
          </a:prstGeom>
        </p:spPr>
      </p:pic>
      <p:sp>
        <p:nvSpPr>
          <p:cNvPr id="4" name="Shape 1"/>
          <p:cNvSpPr/>
          <p:nvPr/>
        </p:nvSpPr>
        <p:spPr>
          <a:xfrm>
            <a:off x="815975" y="841375"/>
            <a:ext cx="2292350" cy="4972050"/>
          </a:xfrm>
          <a:prstGeom prst="roundRect">
            <a:avLst>
              <a:gd name="adj" fmla="val 8726"/>
            </a:avLst>
          </a:prstGeom>
          <a:noFill/>
          <a:ln w="6350">
            <a:solidFill>
              <a:srgbClr val="DCE3DA"/>
            </a:solidFill>
            <a:prstDash val="solid"/>
          </a:ln>
        </p:spPr>
      </p:sp>
      <p:sp>
        <p:nvSpPr>
          <p:cNvPr id="5" name="Text 2"/>
          <p:cNvSpPr/>
          <p:nvPr/>
        </p:nvSpPr>
        <p:spPr>
          <a:xfrm>
            <a:off x="3721100" y="1750120"/>
            <a:ext cx="7887843"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D7A50"/>
                </a:solidFill>
                <a:latin typeface="Arial" pitchFamily="34" charset="0"/>
                <a:ea typeface="Arial" pitchFamily="34" charset="-122"/>
                <a:cs typeface="Arial" pitchFamily="34" charset="-120"/>
              </a:rPr>
              <a:t>PHONE AND TEAM</a:t>
            </a:r>
            <a:endParaRPr lang="en-US" sz="1200" dirty="0"/>
          </a:p>
        </p:txBody>
      </p:sp>
      <p:sp>
        <p:nvSpPr>
          <p:cNvPr id="6" name="Text 3"/>
          <p:cNvSpPr/>
          <p:nvPr>
            <p:ph type="title"/>
          </p:nvPr>
        </p:nvSpPr>
        <p:spPr>
          <a:xfrm>
            <a:off x="3721100" y="2065040"/>
            <a:ext cx="7887843" cy="960041"/>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3261D"/>
                </a:solidFill>
                <a:latin typeface="Arial" pitchFamily="34" charset="0"/>
                <a:ea typeface="Arial" pitchFamily="34" charset="-122"/>
                <a:cs typeface="Arial" pitchFamily="34" charset="-120"/>
              </a:rPr>
              <a:t>The whole team on board, each with the right access</a:t>
            </a:r>
            <a:endParaRPr lang="en-US" sz="3200" dirty="0"/>
          </a:p>
        </p:txBody>
      </p:sp>
      <p:sp>
        <p:nvSpPr>
          <p:cNvPr id="7" name="Text 4"/>
          <p:cNvSpPr/>
          <p:nvPr/>
        </p:nvSpPr>
        <p:spPr>
          <a:xfrm>
            <a:off x="3721100" y="3304480"/>
            <a:ext cx="352425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3261D"/>
                </a:solidFill>
                <a:latin typeface="Arial" pitchFamily="34" charset="0"/>
                <a:ea typeface="Arial" pitchFamily="34" charset="-122"/>
                <a:cs typeface="Arial" pitchFamily="34" charset="-120"/>
              </a:rPr>
              <a:t>Installs like an app</a:t>
            </a:r>
            <a:endParaRPr lang="en-US" sz="1600" dirty="0"/>
          </a:p>
        </p:txBody>
      </p:sp>
      <p:sp>
        <p:nvSpPr>
          <p:cNvPr id="8" name="Text 5"/>
          <p:cNvSpPr/>
          <p:nvPr/>
        </p:nvSpPr>
        <p:spPr>
          <a:xfrm>
            <a:off x="3721100" y="3609280"/>
            <a:ext cx="3524250"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Arial" pitchFamily="34" charset="0"/>
                <a:ea typeface="Arial" pitchFamily="34" charset="-122"/>
                <a:cs typeface="Arial" pitchFamily="34" charset="-120"/>
              </a:rPr>
              <a:t>Push notifications, English and Vietnamese; opens even without signal.</a:t>
            </a:r>
            <a:endParaRPr lang="en-US" sz="1300" dirty="0"/>
          </a:p>
        </p:txBody>
      </p:sp>
      <p:sp>
        <p:nvSpPr>
          <p:cNvPr id="9" name="Text 6"/>
          <p:cNvSpPr/>
          <p:nvPr/>
        </p:nvSpPr>
        <p:spPr>
          <a:xfrm>
            <a:off x="7550150" y="3304480"/>
            <a:ext cx="3943922"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3261D"/>
                </a:solidFill>
                <a:latin typeface="Arial" pitchFamily="34" charset="0"/>
                <a:ea typeface="Arial" pitchFamily="34" charset="-122"/>
                <a:cs typeface="Arial" pitchFamily="34" charset="-120"/>
              </a:rPr>
              <a:t>Roles</a:t>
            </a:r>
            <a:endParaRPr lang="en-US" sz="1600" dirty="0"/>
          </a:p>
        </p:txBody>
      </p:sp>
      <p:sp>
        <p:nvSpPr>
          <p:cNvPr id="10" name="Text 7"/>
          <p:cNvSpPr/>
          <p:nvPr/>
        </p:nvSpPr>
        <p:spPr>
          <a:xfrm>
            <a:off x="7550150" y="3609280"/>
            <a:ext cx="3943922"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Arial" pitchFamily="34" charset="0"/>
                <a:ea typeface="Arial" pitchFamily="34" charset="-122"/>
                <a:cs typeface="Arial" pitchFamily="34" charset="-120"/>
              </a:rPr>
              <a:t>Admin, manager, viewer; share single cameras or a whole organization.</a:t>
            </a:r>
            <a:endParaRPr lang="en-US" sz="1300" dirty="0"/>
          </a:p>
        </p:txBody>
      </p:sp>
      <p:sp>
        <p:nvSpPr>
          <p:cNvPr id="11" name="Text 8"/>
          <p:cNvSpPr/>
          <p:nvPr/>
        </p:nvSpPr>
        <p:spPr>
          <a:xfrm>
            <a:off x="3721100" y="4256980"/>
            <a:ext cx="352425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3261D"/>
                </a:solidFill>
                <a:latin typeface="Arial" pitchFamily="34" charset="0"/>
                <a:ea typeface="Arial" pitchFamily="34" charset="-122"/>
                <a:cs typeface="Arial" pitchFamily="34" charset="-120"/>
              </a:rPr>
              <a:t>Connects to your systems</a:t>
            </a:r>
            <a:endParaRPr lang="en-US" sz="1600" dirty="0"/>
          </a:p>
        </p:txBody>
      </p:sp>
      <p:sp>
        <p:nvSpPr>
          <p:cNvPr id="12" name="Text 9"/>
          <p:cNvSpPr/>
          <p:nvPr/>
        </p:nvSpPr>
        <p:spPr>
          <a:xfrm>
            <a:off x="3721100" y="4561780"/>
            <a:ext cx="3524250"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Arial" pitchFamily="34" charset="0"/>
                <a:ea typeface="Arial" pitchFamily="34" charset="-122"/>
                <a:cs typeface="Arial" pitchFamily="34" charset="-120"/>
              </a:rPr>
              <a:t>API keys and webhooks to bring the data into your own software.</a:t>
            </a:r>
            <a:endParaRPr lang="en-US" sz="1300" dirty="0"/>
          </a:p>
        </p:txBody>
      </p:sp>
      <p:sp>
        <p:nvSpPr>
          <p:cNvPr id="13" name="Text 10"/>
          <p:cNvSpPr/>
          <p:nvPr/>
        </p:nvSpPr>
        <p:spPr>
          <a:xfrm>
            <a:off x="7550150" y="4256980"/>
            <a:ext cx="3943922"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3261D"/>
                </a:solidFill>
                <a:latin typeface="Arial" pitchFamily="34" charset="0"/>
                <a:ea typeface="Arial" pitchFamily="34" charset="-122"/>
                <a:cs typeface="Arial" pitchFamily="34" charset="-120"/>
              </a:rPr>
              <a:t>Operations in view</a:t>
            </a:r>
            <a:endParaRPr lang="en-US" sz="1600" dirty="0"/>
          </a:p>
        </p:txBody>
      </p:sp>
      <p:sp>
        <p:nvSpPr>
          <p:cNvPr id="14" name="Text 11"/>
          <p:cNvSpPr/>
          <p:nvPr/>
        </p:nvSpPr>
        <p:spPr>
          <a:xfrm>
            <a:off x="7550150" y="4561780"/>
            <a:ext cx="3943922"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Arial" pitchFamily="34" charset="0"/>
                <a:ea typeface="Arial" pitchFamily="34" charset="-122"/>
                <a:cs typeface="Arial" pitchFamily="34" charset="-120"/>
              </a:rPr>
              <a:t>An activity log and a capture pipeline monitor for admins.</a:t>
            </a:r>
            <a:endParaRPr lang="en-US" sz="1300" dirty="0"/>
          </a:p>
        </p:txBody>
      </p:sp>
      <p:sp>
        <p:nvSpPr>
          <p:cNvPr id="15"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B70"/>
                </a:solidFill>
                <a:latin typeface="Arial" pitchFamily="34" charset="0"/>
                <a:ea typeface="Arial" pitchFamily="34" charset="-122"/>
                <a:cs typeface="Arial" pitchFamily="34" charset="-120"/>
              </a:rPr>
              <a:t>FlyBot · 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3261D"/>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C230"/>
                </a:solidFill>
                <a:latin typeface="Arial" pitchFamily="34" charset="0"/>
                <a:ea typeface="Arial" pitchFamily="34" charset="-122"/>
                <a:cs typeface="Arial" pitchFamily="34" charset="-120"/>
              </a:rPr>
              <a:t>GET STARTED</a:t>
            </a:r>
            <a:endParaRPr lang="en-US" sz="1200" dirty="0"/>
          </a:p>
        </p:txBody>
      </p:sp>
      <p:sp>
        <p:nvSpPr>
          <p:cNvPr id="3" name="Text 1"/>
          <p:cNvSpPr/>
          <p:nvPr>
            <p:ph type="title"/>
          </p:nvPr>
        </p:nvSpPr>
        <p:spPr>
          <a:xfrm>
            <a:off x="812800" y="1026120"/>
            <a:ext cx="10883392" cy="1049338"/>
          </a:xfrm>
          <a:prstGeom prst="rect">
            <a:avLst/>
          </a:prstGeom>
          <a:noFill/>
          <a:ln/>
        </p:spPr>
        <p:txBody>
          <a:bodyPr wrap="square" lIns="0" tIns="0" rIns="0" bIns="0" rtlCol="0" anchor="t">
            <a:normAutofit/>
          </a:bodyPr>
          <a:lstStyle/>
          <a:p>
            <a:pPr algn="l" indent="0" marL="0">
              <a:lnSpc>
                <a:spcPts val="4032"/>
              </a:lnSpc>
              <a:buNone/>
            </a:pPr>
            <a:r>
              <a:rPr lang="en-US" sz="3600" b="1" i="0" dirty="0">
                <a:solidFill>
                  <a:srgbClr val="F5F7F1"/>
                </a:solidFill>
                <a:latin typeface="Arial" pitchFamily="34" charset="0"/>
                <a:ea typeface="Arial" pitchFamily="34" charset="-122"/>
                <a:cs typeface="Arial" pitchFamily="34" charset="-120"/>
              </a:rPr>
              <a:t>Three steps to your first self-reporting trap</a:t>
            </a:r>
            <a:endParaRPr lang="en-US" sz="3600" dirty="0"/>
          </a:p>
        </p:txBody>
      </p:sp>
      <p:sp>
        <p:nvSpPr>
          <p:cNvPr id="4" name="Shape 2"/>
          <p:cNvSpPr/>
          <p:nvPr/>
        </p:nvSpPr>
        <p:spPr>
          <a:xfrm>
            <a:off x="812800" y="2418358"/>
            <a:ext cx="3386634" cy="0"/>
          </a:xfrm>
          <a:prstGeom prst="line">
            <a:avLst/>
          </a:prstGeom>
          <a:noFill/>
          <a:ln w="25400">
            <a:solidFill>
              <a:srgbClr val="F2C230"/>
            </a:solidFill>
            <a:prstDash val="solid"/>
          </a:ln>
        </p:spPr>
      </p:sp>
      <p:sp>
        <p:nvSpPr>
          <p:cNvPr id="5" name="Text 3"/>
          <p:cNvSpPr/>
          <p:nvPr/>
        </p:nvSpPr>
        <p:spPr>
          <a:xfrm>
            <a:off x="812800" y="2634258"/>
            <a:ext cx="3488233"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2C230"/>
                </a:solidFill>
                <a:latin typeface="Arial" pitchFamily="34" charset="0"/>
                <a:ea typeface="Arial" pitchFamily="34" charset="-122"/>
                <a:cs typeface="Arial" pitchFamily="34" charset="-120"/>
              </a:rPr>
              <a:t>01</a:t>
            </a:r>
            <a:endParaRPr lang="en-US" sz="2200" dirty="0"/>
          </a:p>
        </p:txBody>
      </p:sp>
      <p:sp>
        <p:nvSpPr>
          <p:cNvPr id="6" name="Text 4"/>
          <p:cNvSpPr/>
          <p:nvPr/>
        </p:nvSpPr>
        <p:spPr>
          <a:xfrm>
            <a:off x="812800" y="3152378"/>
            <a:ext cx="3488233" cy="311150"/>
          </a:xfrm>
          <a:prstGeom prst="rect">
            <a:avLst/>
          </a:prstGeom>
          <a:noFill/>
          <a:ln/>
        </p:spPr>
        <p:txBody>
          <a:bodyPr wrap="square" lIns="0" tIns="0" rIns="0" bIns="0" rtlCol="0" anchor="t">
            <a:normAutofit/>
          </a:bodyPr>
          <a:lstStyle/>
          <a:p>
            <a:pPr algn="l" indent="0" marL="0">
              <a:lnSpc>
                <a:spcPts val="2250"/>
              </a:lnSpc>
              <a:buNone/>
            </a:pPr>
            <a:r>
              <a:rPr lang="en-US" sz="1800" b="1" dirty="0">
                <a:solidFill>
                  <a:srgbClr val="F5F7F1"/>
                </a:solidFill>
                <a:latin typeface="Arial" pitchFamily="34" charset="0"/>
                <a:ea typeface="Arial" pitchFamily="34" charset="-122"/>
                <a:cs typeface="Arial" pitchFamily="34" charset="-120"/>
              </a:rPr>
              <a:t>Mount a camera on the trap</a:t>
            </a:r>
            <a:endParaRPr lang="en-US" sz="1800" dirty="0"/>
          </a:p>
        </p:txBody>
      </p:sp>
      <p:sp>
        <p:nvSpPr>
          <p:cNvPr id="7" name="Text 5"/>
          <p:cNvSpPr/>
          <p:nvPr/>
        </p:nvSpPr>
        <p:spPr>
          <a:xfrm>
            <a:off x="812800" y="3565128"/>
            <a:ext cx="3488233"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BFD3C6"/>
                </a:solidFill>
                <a:latin typeface="Arial" pitchFamily="34" charset="0"/>
                <a:ea typeface="Arial" pitchFamily="34" charset="-122"/>
                <a:cs typeface="Arial" pitchFamily="34" charset="-120"/>
              </a:rPr>
              <a:t>An EZVIZ camera facing the sticky card or the lure trap.</a:t>
            </a:r>
            <a:endParaRPr lang="en-US" sz="1300" dirty="0"/>
          </a:p>
        </p:txBody>
      </p:sp>
      <p:sp>
        <p:nvSpPr>
          <p:cNvPr id="8" name="Shape 6"/>
          <p:cNvSpPr/>
          <p:nvPr/>
        </p:nvSpPr>
        <p:spPr>
          <a:xfrm>
            <a:off x="4402634" y="2418358"/>
            <a:ext cx="3386733" cy="0"/>
          </a:xfrm>
          <a:prstGeom prst="line">
            <a:avLst/>
          </a:prstGeom>
          <a:noFill/>
          <a:ln w="25400">
            <a:solidFill>
              <a:srgbClr val="F2C230"/>
            </a:solidFill>
            <a:prstDash val="solid"/>
          </a:ln>
        </p:spPr>
      </p:sp>
      <p:sp>
        <p:nvSpPr>
          <p:cNvPr id="9" name="Text 7"/>
          <p:cNvSpPr/>
          <p:nvPr/>
        </p:nvSpPr>
        <p:spPr>
          <a:xfrm>
            <a:off x="4402634" y="2634258"/>
            <a:ext cx="3488335"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2C230"/>
                </a:solidFill>
                <a:latin typeface="Arial" pitchFamily="34" charset="0"/>
                <a:ea typeface="Arial" pitchFamily="34" charset="-122"/>
                <a:cs typeface="Arial" pitchFamily="34" charset="-120"/>
              </a:rPr>
              <a:t>02</a:t>
            </a:r>
            <a:endParaRPr lang="en-US" sz="2200" dirty="0"/>
          </a:p>
        </p:txBody>
      </p:sp>
      <p:sp>
        <p:nvSpPr>
          <p:cNvPr id="10" name="Text 8"/>
          <p:cNvSpPr/>
          <p:nvPr/>
        </p:nvSpPr>
        <p:spPr>
          <a:xfrm>
            <a:off x="4402634" y="3152378"/>
            <a:ext cx="3488335" cy="311150"/>
          </a:xfrm>
          <a:prstGeom prst="rect">
            <a:avLst/>
          </a:prstGeom>
          <a:noFill/>
          <a:ln/>
        </p:spPr>
        <p:txBody>
          <a:bodyPr wrap="square" lIns="0" tIns="0" rIns="0" bIns="0" rtlCol="0" anchor="t">
            <a:normAutofit/>
          </a:bodyPr>
          <a:lstStyle/>
          <a:p>
            <a:pPr algn="l" indent="0" marL="0">
              <a:lnSpc>
                <a:spcPts val="2250"/>
              </a:lnSpc>
              <a:buNone/>
            </a:pPr>
            <a:r>
              <a:rPr lang="en-US" sz="1800" b="1" dirty="0">
                <a:solidFill>
                  <a:srgbClr val="F5F7F1"/>
                </a:solidFill>
                <a:latin typeface="Arial" pitchFamily="34" charset="0"/>
                <a:ea typeface="Arial" pitchFamily="34" charset="-122"/>
                <a:cs typeface="Arial" pitchFamily="34" charset="-120"/>
              </a:rPr>
              <a:t>Add it to FlyBot</a:t>
            </a:r>
            <a:endParaRPr lang="en-US" sz="1800" dirty="0"/>
          </a:p>
        </p:txBody>
      </p:sp>
      <p:sp>
        <p:nvSpPr>
          <p:cNvPr id="11" name="Text 9"/>
          <p:cNvSpPr/>
          <p:nvPr/>
        </p:nvSpPr>
        <p:spPr>
          <a:xfrm>
            <a:off x="4402634" y="3565128"/>
            <a:ext cx="3488335"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BFD3C6"/>
                </a:solidFill>
                <a:latin typeface="Arial" pitchFamily="34" charset="0"/>
                <a:ea typeface="Arial" pitchFamily="34" charset="-122"/>
                <a:cs typeface="Arial" pitchFamily="34" charset="-120"/>
              </a:rPr>
              <a:t>Enter the serial number and verification code, pick the trap kind and schedule.</a:t>
            </a:r>
            <a:endParaRPr lang="en-US" sz="1300" dirty="0"/>
          </a:p>
        </p:txBody>
      </p:sp>
      <p:sp>
        <p:nvSpPr>
          <p:cNvPr id="12" name="Shape 10"/>
          <p:cNvSpPr/>
          <p:nvPr/>
        </p:nvSpPr>
        <p:spPr>
          <a:xfrm>
            <a:off x="7992566" y="2418358"/>
            <a:ext cx="3386634" cy="0"/>
          </a:xfrm>
          <a:prstGeom prst="line">
            <a:avLst/>
          </a:prstGeom>
          <a:noFill/>
          <a:ln w="25400">
            <a:solidFill>
              <a:srgbClr val="F2C230"/>
            </a:solidFill>
            <a:prstDash val="solid"/>
          </a:ln>
        </p:spPr>
      </p:sp>
      <p:sp>
        <p:nvSpPr>
          <p:cNvPr id="13" name="Text 11"/>
          <p:cNvSpPr/>
          <p:nvPr/>
        </p:nvSpPr>
        <p:spPr>
          <a:xfrm>
            <a:off x="7992566" y="2634258"/>
            <a:ext cx="3488233"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2C230"/>
                </a:solidFill>
                <a:latin typeface="Arial" pitchFamily="34" charset="0"/>
                <a:ea typeface="Arial" pitchFamily="34" charset="-122"/>
                <a:cs typeface="Arial" pitchFamily="34" charset="-120"/>
              </a:rPr>
              <a:t>03</a:t>
            </a:r>
            <a:endParaRPr lang="en-US" sz="2200" dirty="0"/>
          </a:p>
        </p:txBody>
      </p:sp>
      <p:sp>
        <p:nvSpPr>
          <p:cNvPr id="14" name="Text 12"/>
          <p:cNvSpPr/>
          <p:nvPr/>
        </p:nvSpPr>
        <p:spPr>
          <a:xfrm>
            <a:off x="7992566" y="3152378"/>
            <a:ext cx="3488233" cy="311150"/>
          </a:xfrm>
          <a:prstGeom prst="rect">
            <a:avLst/>
          </a:prstGeom>
          <a:noFill/>
          <a:ln/>
        </p:spPr>
        <p:txBody>
          <a:bodyPr wrap="square" lIns="0" tIns="0" rIns="0" bIns="0" rtlCol="0" anchor="t">
            <a:normAutofit/>
          </a:bodyPr>
          <a:lstStyle/>
          <a:p>
            <a:pPr algn="l" indent="0" marL="0">
              <a:lnSpc>
                <a:spcPts val="2250"/>
              </a:lnSpc>
              <a:buNone/>
            </a:pPr>
            <a:r>
              <a:rPr lang="en-US" sz="1800" b="1" dirty="0">
                <a:solidFill>
                  <a:srgbClr val="F5F7F1"/>
                </a:solidFill>
                <a:latin typeface="Arial" pitchFamily="34" charset="0"/>
                <a:ea typeface="Arial" pitchFamily="34" charset="-122"/>
                <a:cs typeface="Arial" pitchFamily="34" charset="-120"/>
              </a:rPr>
              <a:t>Set thresholds and channels</a:t>
            </a:r>
            <a:endParaRPr lang="en-US" sz="1800" dirty="0"/>
          </a:p>
        </p:txBody>
      </p:sp>
      <p:sp>
        <p:nvSpPr>
          <p:cNvPr id="15" name="Text 13"/>
          <p:cNvSpPr/>
          <p:nvPr/>
        </p:nvSpPr>
        <p:spPr>
          <a:xfrm>
            <a:off x="7992566" y="3565128"/>
            <a:ext cx="3488233"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BFD3C6"/>
                </a:solidFill>
                <a:latin typeface="Arial" pitchFamily="34" charset="0"/>
                <a:ea typeface="Arial" pitchFamily="34" charset="-122"/>
                <a:cs typeface="Arial" pitchFamily="34" charset="-120"/>
              </a:rPr>
              <a:t>A threshold per trap; alerts by phone, email and Telegram.</a:t>
            </a:r>
            <a:endParaRPr lang="en-US" sz="1300" dirty="0"/>
          </a:p>
        </p:txBody>
      </p:sp>
      <p:pic>
        <p:nvPicPr>
          <p:cNvPr id="16" name="Image 0" descr="QR code opening ezviz.agrhub.com">    </p:cNvPr>
          <p:cNvPicPr>
            <a:picLocks noChangeAspect="1"/>
          </p:cNvPicPr>
          <p:nvPr/>
        </p:nvPicPr>
        <p:blipFill>
          <a:blip r:embed="rId1"/>
          <a:srcRect l="0" r="0" t="0" b="0"/>
          <a:stretch/>
        </p:blipFill>
        <p:spPr>
          <a:xfrm>
            <a:off x="812800" y="4416028"/>
            <a:ext cx="1143000" cy="1143000"/>
          </a:xfrm>
          <a:prstGeom prst="roundRect">
            <a:avLst>
              <a:gd name="adj" fmla="val 6667"/>
            </a:avLst>
          </a:prstGeom>
        </p:spPr>
      </p:pic>
      <p:sp>
        <p:nvSpPr>
          <p:cNvPr id="17" name="Text 14"/>
          <p:cNvSpPr/>
          <p:nvPr/>
        </p:nvSpPr>
        <p:spPr>
          <a:xfrm>
            <a:off x="2108200" y="4722118"/>
            <a:ext cx="1460659"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5F7F1"/>
                </a:solidFill>
                <a:latin typeface="Arial" pitchFamily="34" charset="0"/>
                <a:ea typeface="Arial" pitchFamily="34" charset="-122"/>
                <a:cs typeface="Arial" pitchFamily="34" charset="-120"/>
              </a:rPr>
              <a:t>Open the app</a:t>
            </a:r>
            <a:endParaRPr lang="en-US" sz="1500" dirty="0"/>
          </a:p>
        </p:txBody>
      </p:sp>
      <p:sp>
        <p:nvSpPr>
          <p:cNvPr id="18" name="Text 15"/>
          <p:cNvSpPr/>
          <p:nvPr/>
        </p:nvSpPr>
        <p:spPr>
          <a:xfrm>
            <a:off x="2108200" y="5039618"/>
            <a:ext cx="1460659"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BFD3C6"/>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ezviz.agrhub.com</a:t>
            </a:r>
            <a:endParaRPr lang="en-US" sz="1200" dirty="0"/>
          </a:p>
        </p:txBody>
      </p:sp>
      <p:pic>
        <p:nvPicPr>
          <p:cNvPr id="19" name="Image 1" descr="QR code opening the FlyBot product tour">    </p:cNvPr>
          <p:cNvPicPr>
            <a:picLocks noChangeAspect="1"/>
          </p:cNvPicPr>
          <p:nvPr/>
        </p:nvPicPr>
        <p:blipFill>
          <a:blip r:embed="rId3"/>
          <a:srcRect l="0" r="0" t="0" b="0"/>
          <a:stretch/>
        </p:blipFill>
        <p:spPr>
          <a:xfrm>
            <a:off x="3782616" y="4416028"/>
            <a:ext cx="1143000" cy="1143000"/>
          </a:xfrm>
          <a:prstGeom prst="roundRect">
            <a:avLst>
              <a:gd name="adj" fmla="val 6667"/>
            </a:avLst>
          </a:prstGeom>
        </p:spPr>
      </p:pic>
      <p:sp>
        <p:nvSpPr>
          <p:cNvPr id="20" name="Text 16"/>
          <p:cNvSpPr/>
          <p:nvPr/>
        </p:nvSpPr>
        <p:spPr>
          <a:xfrm>
            <a:off x="5078016" y="4722118"/>
            <a:ext cx="2785943"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5F7F1"/>
                </a:solidFill>
                <a:latin typeface="Arial" pitchFamily="34" charset="0"/>
                <a:ea typeface="Arial" pitchFamily="34" charset="-122"/>
                <a:cs typeface="Arial" pitchFamily="34" charset="-120"/>
              </a:rPr>
              <a:t>Watch the 86-second tour</a:t>
            </a:r>
            <a:endParaRPr lang="en-US" sz="1500" dirty="0"/>
          </a:p>
        </p:txBody>
      </p:sp>
      <p:sp>
        <p:nvSpPr>
          <p:cNvPr id="21" name="Text 17"/>
          <p:cNvSpPr/>
          <p:nvPr/>
        </p:nvSpPr>
        <p:spPr>
          <a:xfrm>
            <a:off x="5078016" y="5039618"/>
            <a:ext cx="2391268"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BFD3C6"/>
                </a:solidFill>
                <a:latin typeface="Arial" pitchFamily="34" charset="0"/>
                <a:ea typeface="Arial" pitchFamily="34" charset="-122"/>
                <a:cs typeface="Arial" pitchFamily="34" charset="-120"/>
                <a:hlinkClick r:id="rId4" invalidUrl="" action="" tgtFrame="" tooltip="" history="1" highlightClick="0" endSnd="0">
                  <a:extLst>
                    <a:ext uri="{A12FA001-AC4F-418D-AE19-62706E023703}">
                      <ahyp:hlinkClr xmlns:ahyp="http://schemas.microsoft.com/office/drawing/2018/hyperlinkcolor" val="tx"/>
                    </a:ext>
                  </a:extLst>
                </a:hlinkClick>
              </a:rPr>
              <a:t>Scan with your phone camera</a:t>
            </a:r>
            <a:endParaRPr lang="en-US" sz="1200" dirty="0"/>
          </a:p>
        </p:txBody>
      </p:sp>
      <p:sp>
        <p:nvSpPr>
          <p:cNvPr id="22" name="Text 1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898"/>
                </a:solidFill>
                <a:latin typeface="Arial" pitchFamily="34" charset="0"/>
                <a:ea typeface="Arial" pitchFamily="34" charset="-122"/>
                <a:cs typeface="Arial" pitchFamily="34" charset="-120"/>
              </a:rPr>
              <a:t>Contact: </a:t>
            </a:r>
            <a:r>
              <a:rPr lang="en-US" sz="1200" dirty="0">
                <a:solidFill>
                  <a:srgbClr val="8FA898"/>
                </a:solidFill>
                <a:latin typeface="Arial" pitchFamily="34" charset="0"/>
                <a:ea typeface="Arial" pitchFamily="34" charset="-122"/>
                <a:cs typeface="Arial" pitchFamily="34" charset="-120"/>
              </a:rPr>
              <a:t>contact@agrhub.com</a:t>
            </a:r>
            <a:r>
              <a:rPr lang="en-US" sz="1200" dirty="0">
                <a:solidFill>
                  <a:srgbClr val="8FA898"/>
                </a:solidFill>
                <a:latin typeface="Arial" pitchFamily="34" charset="0"/>
                <a:ea typeface="Arial" pitchFamily="34" charset="-122"/>
                <a:cs typeface="Arial" pitchFamily="34" charset="-120"/>
              </a:rPr>
              <a:t> · </a:t>
            </a:r>
            <a:r>
              <a:rPr lang="en-US" sz="1200" u="sng" dirty="0">
                <a:solidFill>
                  <a:srgbClr val="8FA898"/>
                </a:solidFill>
                <a:latin typeface="Arial" pitchFamily="34" charset="0"/>
                <a:ea typeface="Arial" pitchFamily="34" charset="-122"/>
                <a:cs typeface="Arial" pitchFamily="34" charset="-120"/>
                <a:hlinkClick r:id="rId5" invalidUrl="" action="" tgtFrame="" tooltip="" history="1" highlightClick="0" endSnd="0">
                  <a:extLst>
                    <a:ext uri="{A12FA001-AC4F-418D-AE19-62706E023703}">
                      <ahyp:hlinkClr xmlns:ahyp="http://schemas.microsoft.com/office/drawing/2018/hyperlinkcolor" val="tx"/>
                    </a:ext>
                  </a:extLst>
                </a:hlinkClick>
              </a:rPr>
              <a:t>ezviz.agrhub.com</a:t>
            </a:r>
            <a:r>
              <a:rPr lang="en-US" sz="1200" dirty="0">
                <a:solidFill>
                  <a:srgbClr val="8FA898"/>
                </a:solidFill>
                <a:latin typeface="Arial" pitchFamily="34" charset="0"/>
                <a:ea typeface="Arial" pitchFamily="34" charset="-122"/>
                <a:cs typeface="Arial" pitchFamily="34" charset="-120"/>
              </a:rPr>
              <a:t> · </a:t>
            </a:r>
            <a:r>
              <a:rPr lang="en-US" sz="1200" u="sng" dirty="0">
                <a:solidFill>
                  <a:srgbClr val="8FA898"/>
                </a:solidFill>
                <a:latin typeface="Arial" pitchFamily="34" charset="0"/>
                <a:ea typeface="Arial" pitchFamily="34" charset="-122"/>
                <a:cs typeface="Arial" pitchFamily="34" charset="-120"/>
                <a:hlinkClick r:id="rId6" invalidUrl="" action="" tgtFrame="" tooltip="" history="1" highlightClick="0" endSnd="0">
                  <a:extLst>
                    <a:ext uri="{A12FA001-AC4F-418D-AE19-62706E023703}">
                      <ahyp:hlinkClr xmlns:ahyp="http://schemas.microsoft.com/office/drawing/2018/hyperlinkcolor" val="tx"/>
                    </a:ext>
                  </a:extLst>
                </a:hlinkClick>
              </a:rPr>
              <a:t>Guide</a:t>
            </a:r>
            <a:r>
              <a:rPr lang="en-US" sz="1200" dirty="0">
                <a:solidFill>
                  <a:srgbClr val="8FA898"/>
                </a:solidFill>
                <a:latin typeface="Arial" pitchFamily="34" charset="0"/>
                <a:ea typeface="Arial" pitchFamily="34" charset="-122"/>
                <a:cs typeface="Arial" pitchFamily="34" charset="-120"/>
              </a:rPr>
              <a:t> · </a:t>
            </a:r>
            <a:r>
              <a:rPr lang="en-US" sz="1200" u="sng" dirty="0">
                <a:solidFill>
                  <a:srgbClr val="8FA898"/>
                </a:solidFill>
                <a:latin typeface="Arial" pitchFamily="34" charset="0"/>
                <a:ea typeface="Arial" pitchFamily="34" charset="-122"/>
                <a:cs typeface="Arial" pitchFamily="34" charset="-120"/>
                <a:hlinkClick r:id="rId7" invalidUrl="" action="" tgtFrame="" tooltip="" history="1" highlightClick="0" endSnd="0">
                  <a:extLst>
                    <a:ext uri="{A12FA001-AC4F-418D-AE19-62706E023703}">
                      <ahyp:hlinkClr xmlns:ahyp="http://schemas.microsoft.com/office/drawing/2018/hyperlinkcolor" val="tx"/>
                    </a:ext>
                  </a:extLst>
                </a:hlinkClick>
              </a:rPr>
              <a:t>Product tour</a:t>
            </a:r>
            <a:endParaRPr lang="en-US" sz="1200" dirty="0"/>
          </a:p>
        </p:txBody>
      </p:sp>
    </p:spTree>
  </p:cSld>
  <p:clrMapOvr>
    <a:masterClrMapping/>
  </p:clrMapOvr>
</p:sld>
</file>

<file path=ppt/theme/theme1.xml><?xml version="1.0" encoding="utf-8"?>
<a:theme xmlns:a="http://schemas.openxmlformats.org/drawingml/2006/main" name="FlyBot – Product overview">
  <a:themeElements>
    <a:clrScheme name="FlyBot – Product overview">
      <a:dk1>
        <a:srgbClr val="13261D"/>
      </a:dk1>
      <a:lt1>
        <a:srgbClr val="F5F7F1"/>
      </a:lt1>
      <a:dk2>
        <a:srgbClr val="4C5A52"/>
      </a:dk2>
      <a:lt2>
        <a:srgbClr val="DEE2DC"/>
      </a:lt2>
      <a:accent1>
        <a:srgbClr val="F2C230"/>
      </a:accent1>
      <a:accent2>
        <a:srgbClr val="1D7A50"/>
      </a:accent2>
      <a:accent3>
        <a:srgbClr val="7FD3A8"/>
      </a:accent3>
      <a:accent4>
        <a:srgbClr val="4A5A50"/>
      </a:accent4>
      <a:accent5>
        <a:srgbClr val="BFD3C6"/>
      </a:accent5>
      <a:accent6>
        <a:srgbClr val="6B7B70"/>
      </a:accent6>
      <a:hlink>
        <a:srgbClr val="0563C1"/>
      </a:hlink>
      <a:folHlink>
        <a:srgbClr val="954F72"/>
      </a:folHlink>
    </a:clrScheme>
    <a:fontScheme name="FlyBot – Product overview">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FlyBot – Product overview</dc:title>
  <dc:subject/>
  <dc:creator/>
  <cp:lastModifiedBy/>
  <cp:revision>1</cp:revision>
  <dcterms:created xsi:type="dcterms:W3CDTF">2026-10-13T01:02:24Z</dcterms:created>
  <dcterms:modified xsi:type="dcterms:W3CDTF">2026-10-13T01:02:24Z</dcterms:modified>
</cp:coreProperties>
</file>