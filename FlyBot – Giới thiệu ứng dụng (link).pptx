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webp" ContentType="image/webp"/>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FlyBot: hệ thống bẫy côn trùng có camera, AI tự đếm côn trùng trên tấm bẫy và báo cho người trồng khi mật độ vượt ngưỡng.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trồng hiện kiểm bẫy bằng cách đi từng bẫy và đếm tay. Việc này tốn công, số liệu khó so sánh, và thường phát hiện bùng phát quá muộn.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bước: camera chụp tấm bẫy theo lịch, AI nhận dạng và đếm từng con, hệ thống tính số ruồi mới vào bẫy mỗi ngày, rồi cảnh báo và gửi báo cáo.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82 giây giới thiệu các màn hình chính. Video tự chạy khi trình chiếu đến trang này; bấm vào video để tạm dừng.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Màn hình Tổng quan: số ruồi vào bẫy hôm nay, chỉ số ruồi/bẫy/ngày 7 ngày so với tuần trước, mức nguy cơ của từng bẫy so với ngưỡng riêng, biểu đồ 14 ngày và dự báo.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khoanh từng con côn trùng trên ảnh, ghi tên loài và độ tin cậy. Người dùng có thể xác nhận hoặc sửa số đếm; các ảnh đã duyệt được dùng để huấn luyện lại AI. Ảnh lỗi nhận dạng được tự động thử lại. Mô hình RF-DETR huấn luyện trên 1.573 ảnh với hơn 85.000 con ruồi đánh dấu; trên 76 ảnh kiểm thử, độ nhạy 92%, độ chính xác 93%, mAP@50 96%.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Chọn loại bẫy khi thêm camera. Bẫy dính: số ruồi mới mỗi ngày là phần tăng so với hôm trước. Bẫy dẫn dụ: dùng trung bình mỗi ảnh trong ngày cho cảnh báo, báo cáo, tổng quan và bản đồ.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Camera: xem hình trực tiếp, chụp ngay, xem lại các đoạn ghi hình trên thẻ nhớ theo dòng thời gian, ghi nhận thay tấm bẫy và xem lịch sử nhận diện của riêng camera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Cảnh báo khi số ruồi chạm ngưỡng riêng của từng bẫy, khi tăng đột biến, khi camera mất kết nối, khi đến hạn thay tấm bẫy và khi AI lỗi nhiều lần. Gửi trong ứng dụng, thông báo đẩy, email và Telegram.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Trang Analytics có biểu đồ xu hướng, phân tích chuyên sâu theo bẫy và theo giờ, và lịch sử mọi ảnh đã phân tích. Có thể lọc và xuất toàn bộ kết quả ra PDF hoặc Excel kèm ảnh.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Báo cáo: chọn khối, khoảng thời gian và bộ lọc cho từng khối, xuất PDF, chia sẻ cho người khác hoặc qua link công khai có thời hạn, và gửi tự động hằng tuần hoặc hằng tháng qua email và Telegram.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Trợ lý AI (nút Assistant ở góc trên) là một agent: nó tự gọi các công cụ của FlyBot để lấy số liệu thật trước khi trả lời, so sánh các tuần, đọc cảnh báo, báo cáo và nhật ký vườn (kèm hiệu quả từng lần xử lý), có thể nhìn trực tiếp một ảnh (nút "Hỏi trợ lý về ảnh này"), chụp ảnh từ camera, gửi báo cáo PDF qua email và mở đúng màn hình. Câu trả lời hiện dần kèm thẻ ảnh, biểu đồ, so sánh. Ghi nhận thay tấm keo hay một lần phun thuốc chỉ được lưu khi người dùng bấm Xác nhận. Cuộc trò chuyện được giữ 7 ngày. Trợ lý dùng cùng quy tắc quyền xem camera như ứng dụng và không được đổi cài đặt hay tài khoản.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ví dụ trong khung chat: hỏi ảnh mới nhất thì trợ lý trả lời kèm ảnh nhận dạng; hỏi 24 giờ qua thì có biểu đồ theo giờ; bấm "Hỏi trợ lý về ảnh này" thì AI xem ảnh và nhận xét; nói "đã thay tấm keo" thì trợ lý chuẩn bị thẻ, chỉ ghi khi bạn bấm Xác nhận.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Quản lý vườn và lô, đặt bẫy trên bản đồ, xem bản đồ nhiệt. Nhật ký vườn ghi lại các lần xử lý và tự tính hiệu quả trên số côn trùng vào bẫy, xuất được sổ ghi chép theo VietGAP.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FlyBot dùng được trên điện thoại như một ứng dụng, có thông báo đẩy, tiếng Việt và tiếng Anh. Phân quyền theo vai trò, chia sẻ camera và tổ chức, có API và webhook, nhật ký hoạt động và màn hình theo dõi luồng chụp ảnh cho quản trị viên.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bước: lắp camera EZVIZ trước tấm bẫy, thêm camera bằng số serial và mã xác thực rồi chọn loại bẫy, đặt ngưỡng cảnh báo và kênh nhận. Liên hệ contact@agrhub.com hoặc truy cập https://ezviz.agrhub.com. Hai mã QR mở ứng dụng và video giới thiệu trên điện thoại.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7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6331"/>
            <a:ext cx="10566400" cy="464344"/>
          </a:xfrm>
          <a:prstGeom prst="rect">
            <a:avLst/>
          </a:prstGeom>
          <a:noFill/>
          <a:ln/>
        </p:spPr>
        <p:txBody>
          <a:bodyPr wrap="square" lIns="0" tIns="0" rIns="0" bIns="0" rtlCol="0" anchor="t"/>
          <a:lstStyle>
            <a:lvl1pPr algn="l" indent="0" marL="0">
              <a:lnSpc>
                <a:spcPct val="115000"/>
              </a:lnSpc>
              <a:buNone/>
              <a:defRPr lang="vi-VN" sz="3190" dirty="0">
                <a:solidFill>
                  <a:srgbClr val="13261D"/>
                </a:solidFill>
                <a:latin typeface="Arial" pitchFamily="34" charset="0"/>
                <a:ea typeface="Arial" pitchFamily="34" charset="-122"/>
                <a:cs typeface="Arial" pitchFamily="34" charset="-120"/>
              </a:defRPr>
            </a:lvl1pPr>
          </a:lstStyle>
          <a:p>
            <a:pPr algn="l" indent="0" marL="0">
              <a:lnSpc>
                <a:spcPct val="115000"/>
              </a:lnSpc>
              <a:buNone/>
            </a:pPr>
            <a:endParaRPr lang="vi-VN" sz="3190" dirty="0"/>
          </a:p>
        </p:txBody>
      </p:sp>
      <p:sp>
        <p:nvSpPr>
          <p:cNvPr id="3" name="Text Placeholder 2"/>
          <p:cNvSpPr/>
          <p:nvPr>
            <p:ph idx="101" type="body"/>
          </p:nvPr>
        </p:nvSpPr>
        <p:spPr>
          <a:xfrm>
            <a:off x="812800" y="1895475"/>
            <a:ext cx="10566400" cy="4149725"/>
          </a:xfrm>
          <a:prstGeom prst="rect">
            <a:avLst/>
          </a:prstGeom>
          <a:noFill/>
          <a:ln/>
        </p:spPr>
        <p:txBody>
          <a:bodyPr wrap="square" lIns="0" tIns="0" rIns="0" bIns="0" rtlCol="0" anchor="t"/>
          <a:lstStyle>
            <a:lvl1pPr algn="l" indent="0" marL="0">
              <a:lnSpc>
                <a:spcPct val="140000"/>
              </a:lnSpc>
              <a:buNone/>
              <a:defRPr lang="vi-VN" sz="1600" dirty="0">
                <a:solidFill>
                  <a:srgbClr val="13261D"/>
                </a:solidFill>
                <a:latin typeface="Arial" pitchFamily="34" charset="0"/>
                <a:ea typeface="Arial" pitchFamily="34" charset="-122"/>
                <a:cs typeface="Arial" pitchFamily="34" charset="-120"/>
              </a:defRPr>
            </a:lvl1pPr>
          </a:lstStyle>
          <a:p>
            <a:pPr algn="l" indent="0" marL="0">
              <a:lnSpc>
                <a:spcPct val="140000"/>
              </a:lnSpc>
              <a:buNone/>
            </a:pPr>
            <a:endParaRPr lang="vi-VN"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7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6331"/>
            <a:ext cx="10566400" cy="464344"/>
          </a:xfrm>
          <a:prstGeom prst="rect">
            <a:avLst/>
          </a:prstGeom>
          <a:noFill/>
          <a:ln/>
        </p:spPr>
        <p:txBody>
          <a:bodyPr wrap="square" lIns="0" tIns="0" rIns="0" bIns="0" rtlCol="0" anchor="t"/>
          <a:lstStyle>
            <a:lvl1pPr algn="l" indent="0" marL="0">
              <a:lnSpc>
                <a:spcPct val="115000"/>
              </a:lnSpc>
              <a:buNone/>
              <a:defRPr lang="vi-VN" sz="3190" dirty="0">
                <a:solidFill>
                  <a:srgbClr val="13261D"/>
                </a:solidFill>
                <a:latin typeface="Arial" pitchFamily="34" charset="0"/>
                <a:ea typeface="Arial" pitchFamily="34" charset="-122"/>
                <a:cs typeface="Arial" pitchFamily="34" charset="-120"/>
              </a:defRPr>
            </a:lvl1pPr>
          </a:lstStyle>
          <a:p>
            <a:pPr algn="l" indent="0" marL="0">
              <a:lnSpc>
                <a:spcPct val="115000"/>
              </a:lnSpc>
              <a:buNone/>
            </a:pPr>
            <a:endParaRPr lang="vi-VN" sz="3190" dirty="0"/>
          </a:p>
        </p:txBody>
      </p:sp>
      <p:sp>
        <p:nvSpPr>
          <p:cNvPr id="3" name="Text Placeholder 2"/>
          <p:cNvSpPr/>
          <p:nvPr>
            <p:ph idx="101" type="body"/>
          </p:nvPr>
        </p:nvSpPr>
        <p:spPr>
          <a:xfrm>
            <a:off x="812800" y="1895475"/>
            <a:ext cx="10566400" cy="4149725"/>
          </a:xfrm>
          <a:prstGeom prst="rect">
            <a:avLst/>
          </a:prstGeom>
          <a:noFill/>
          <a:ln/>
        </p:spPr>
        <p:txBody>
          <a:bodyPr wrap="square" lIns="0" tIns="0" rIns="0" bIns="0" rtlCol="0" anchor="t"/>
          <a:lstStyle>
            <a:lvl1pPr algn="l" indent="0" marL="0">
              <a:lnSpc>
                <a:spcPct val="140000"/>
              </a:lnSpc>
              <a:buNone/>
              <a:defRPr lang="vi-VN" sz="1600" dirty="0">
                <a:solidFill>
                  <a:srgbClr val="13261D"/>
                </a:solidFill>
                <a:latin typeface="Arial" pitchFamily="34" charset="0"/>
                <a:ea typeface="Arial" pitchFamily="34" charset="-122"/>
                <a:cs typeface="Arial" pitchFamily="34" charset="-120"/>
              </a:defRPr>
            </a:lvl1pPr>
          </a:lstStyle>
          <a:p>
            <a:pPr algn="l" indent="0" marL="0">
              <a:lnSpc>
                <a:spcPct val="140000"/>
              </a:lnSpc>
              <a:buNone/>
            </a:pPr>
            <a:endParaRPr lang="vi-VN"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ezviz.agrhub.com" TargetMode="External"/><Relationship Id="rId1" Type="http://schemas.openxmlformats.org/officeDocument/2006/relationships/image" Target="../media/image-1-1.png"/><Relationship Id="rId3" Type="http://schemas.openxmlformats.org/officeDocument/2006/relationships/image" Target="../media/image-1-2.webp"/><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ezviz.agrhub.com/media/flybot-tour-vi.mp4" TargetMode="External"/><Relationship Id="rId2" Type="http://schemas.openxmlformats.org/officeDocument/2006/relationships/image" Target="../media/image-4-1.webp"/><Relationship Id="rId3" Type="http://schemas.openxmlformats.org/officeDocument/2006/relationships/slideLayout" Target="../slideLayouts/slideLayout2.xml"/><Relationship Id="rId4" Type="http://schemas.openxmlformats.org/officeDocument/2006/relationships/notesSlide" Target="../notesSlides/notesSlide4.xml"/><Relationship Id="rId5" Type="http://schemas.openxmlformats.org/officeDocument/2006/relationships/hyperlink" Target="https://ezviz.agrhub.com/media/flybot-tour-vi.mp4" TargetMode="External"/></Relationships>
</file>

<file path=ppt/slides/_rels/slide5.xml.rels><?xml version="1.0" encoding="UTF-8" standalone="yes"?>
<Relationships xmlns="http://schemas.openxmlformats.org/package/2006/relationships"><Relationship Id="rId1" Type="http://schemas.openxmlformats.org/officeDocument/2006/relationships/image" Target="../media/image-5-1.webp"/><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webp"/><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webp"/><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webp"/><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webp"/><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webp"/><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6" Type="http://schemas.openxmlformats.org/officeDocument/2006/relationships/hyperlink" Target="https://ezviz.agrhub.com/manual?tab=assistant" TargetMode="External"/><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5" Type="http://schemas.openxmlformats.org/officeDocument/2006/relationships/hyperlink" Target="https://ezviz.agrhub.com/manual?tab=assistant" TargetMode="External"/><Relationship Id="rId1" Type="http://schemas.openxmlformats.org/officeDocument/2006/relationships/image" Target="../media/image-13-1.webp"/><Relationship Id="rId2" Type="http://schemas.openxmlformats.org/officeDocument/2006/relationships/image" Target="../media/image-13-2.webp"/><Relationship Id="rId3" Type="http://schemas.openxmlformats.org/officeDocument/2006/relationships/image" Target="../media/image-13-3.webp"/><Relationship Id="rId4" Type="http://schemas.openxmlformats.org/officeDocument/2006/relationships/image" Target="../media/image-13-4.webp"/><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webp"/><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webp"/><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hyperlink" Target="https://ezviz.agrhub.com" TargetMode="External"/><Relationship Id="rId4" Type="http://schemas.openxmlformats.org/officeDocument/2006/relationships/hyperlink" Target="https://ezviz.agrhub.com/media/flybot-tour-vi.mp4" TargetMode="External"/><Relationship Id="rId5" Type="http://schemas.openxmlformats.org/officeDocument/2006/relationships/hyperlink" Target="https://ezviz.agrhub.com" TargetMode="External"/><Relationship Id="rId6" Type="http://schemas.openxmlformats.org/officeDocument/2006/relationships/hyperlink" Target="https://ezviz.agrhub.com/manual" TargetMode="External"/><Relationship Id="rId7" Type="http://schemas.openxmlformats.org/officeDocument/2006/relationships/hyperlink" Target="https://ezviz.agrhub.com/media/flybot-tour-vi.mp4" TargetMode="External"/><Relationship Id="rId1" Type="http://schemas.openxmlformats.org/officeDocument/2006/relationships/image" Target="../media/image-16-1.png"/><Relationship Id="rId3" Type="http://schemas.openxmlformats.org/officeDocument/2006/relationships/image" Target="../media/image-16-2.png"/><Relationship Id="rId8" Type="http://schemas.openxmlformats.org/officeDocument/2006/relationships/slideLayout" Target="../slideLayouts/slideLayout2.xml"/><Relationship Id="rId9"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61D"/>
        </a:solidFill>
      </p:bgPr>
    </p:bg>
    <p:spTree>
      <p:nvGrpSpPr>
        <p:cNvPr id="1" name=""/>
        <p:cNvGrpSpPr/>
        <p:nvPr/>
      </p:nvGrpSpPr>
      <p:grpSpPr>
        <a:xfrm>
          <a:off x="0" y="0"/>
          <a:ext cx="0" cy="0"/>
          <a:chOff x="0" y="0"/>
          <a:chExt cx="0" cy="0"/>
        </a:xfrm>
      </p:grpSpPr>
      <p:pic>
        <p:nvPicPr>
          <p:cNvPr id="2" name="Image 0" descr="Logo FlyBot">    </p:cNvPr>
          <p:cNvPicPr>
            <a:picLocks noChangeAspect="1"/>
          </p:cNvPicPr>
          <p:nvPr/>
        </p:nvPicPr>
        <p:blipFill>
          <a:blip r:embed="rId1"/>
          <a:srcRect l="0" r="0" t="0" b="0"/>
          <a:stretch/>
        </p:blipFill>
        <p:spPr>
          <a:xfrm>
            <a:off x="812800" y="901898"/>
            <a:ext cx="711200" cy="711200"/>
          </a:xfrm>
          <a:prstGeom prst="rect">
            <a:avLst/>
          </a:prstGeom>
        </p:spPr>
      </p:pic>
      <p:sp>
        <p:nvSpPr>
          <p:cNvPr id="3" name="Text 0"/>
          <p:cNvSpPr/>
          <p:nvPr/>
        </p:nvSpPr>
        <p:spPr>
          <a:xfrm>
            <a:off x="1676400" y="1061938"/>
            <a:ext cx="1114544" cy="416520"/>
          </a:xfrm>
          <a:prstGeom prst="rect">
            <a:avLst/>
          </a:prstGeom>
          <a:noFill/>
          <a:ln/>
        </p:spPr>
        <p:txBody>
          <a:bodyPr wrap="square" lIns="0" tIns="0" rIns="0" bIns="0" rtlCol="0" anchor="t">
            <a:normAutofit/>
          </a:bodyPr>
          <a:lstStyle/>
          <a:p>
            <a:pPr algn="l" indent="0" marL="0">
              <a:lnSpc>
                <a:spcPts val="3080"/>
              </a:lnSpc>
              <a:buNone/>
            </a:pPr>
            <a:r>
              <a:rPr lang="vi-VN" sz="2200" b="1" dirty="0">
                <a:solidFill>
                  <a:srgbClr val="F5F7F1"/>
                </a:solidFill>
                <a:latin typeface="Arial" pitchFamily="34" charset="0"/>
                <a:ea typeface="Arial" pitchFamily="34" charset="-122"/>
                <a:cs typeface="Arial" pitchFamily="34" charset="-120"/>
              </a:rPr>
              <a:t>FlyBot</a:t>
            </a:r>
            <a:endParaRPr lang="vi-VN" sz="2200" dirty="0"/>
          </a:p>
        </p:txBody>
      </p:sp>
      <p:sp>
        <p:nvSpPr>
          <p:cNvPr id="4" name="Text 1"/>
          <p:cNvSpPr/>
          <p:nvPr>
            <p:ph type="title"/>
          </p:nvPr>
        </p:nvSpPr>
        <p:spPr>
          <a:xfrm>
            <a:off x="812800" y="1867098"/>
            <a:ext cx="4970780" cy="2148681"/>
          </a:xfrm>
          <a:prstGeom prst="rect">
            <a:avLst/>
          </a:prstGeom>
          <a:noFill/>
          <a:ln/>
        </p:spPr>
        <p:txBody>
          <a:bodyPr wrap="square" lIns="0" tIns="0" rIns="0" bIns="0" rtlCol="0" anchor="t">
            <a:normAutofit/>
          </a:bodyPr>
          <a:lstStyle/>
          <a:p>
            <a:pPr algn="l" indent="0" marL="0">
              <a:lnSpc>
                <a:spcPts val="4180"/>
              </a:lnSpc>
              <a:buNone/>
            </a:pPr>
            <a:r>
              <a:rPr lang="vi-VN" sz="3800" b="1" i="0" dirty="0">
                <a:solidFill>
                  <a:srgbClr val="F5F7F1"/>
                </a:solidFill>
                <a:latin typeface="Arial" pitchFamily="34" charset="0"/>
                <a:ea typeface="Arial" pitchFamily="34" charset="-122"/>
                <a:cs typeface="Arial" pitchFamily="34" charset="-120"/>
              </a:rPr>
              <a:t>Bẫy côn trùng thông minh: camera chụp, AI đếm</a:t>
            </a:r>
            <a:endParaRPr lang="vi-VN" sz="3800" dirty="0"/>
          </a:p>
        </p:txBody>
      </p:sp>
      <p:sp>
        <p:nvSpPr>
          <p:cNvPr id="5" name="Text 2"/>
          <p:cNvSpPr/>
          <p:nvPr/>
        </p:nvSpPr>
        <p:spPr>
          <a:xfrm>
            <a:off x="812800" y="4244380"/>
            <a:ext cx="4970780" cy="614561"/>
          </a:xfrm>
          <a:prstGeom prst="rect">
            <a:avLst/>
          </a:prstGeom>
          <a:noFill/>
          <a:ln/>
        </p:spPr>
        <p:txBody>
          <a:bodyPr wrap="square" lIns="0" tIns="0" rIns="0" bIns="0" rtlCol="0" anchor="t">
            <a:normAutofit/>
          </a:bodyPr>
          <a:lstStyle/>
          <a:p>
            <a:pPr algn="l" indent="0" marL="0">
              <a:lnSpc>
                <a:spcPts val="2320"/>
              </a:lnSpc>
              <a:buNone/>
            </a:pPr>
            <a:r>
              <a:rPr lang="vi-VN" sz="1600" dirty="0">
                <a:solidFill>
                  <a:srgbClr val="BFD3C6"/>
                </a:solidFill>
                <a:latin typeface="Arial" pitchFamily="34" charset="0"/>
                <a:ea typeface="Arial" pitchFamily="34" charset="-122"/>
                <a:cs typeface="Arial" pitchFamily="34" charset="-120"/>
              </a:rPr>
              <a:t>Theo dõi ruồi vàng và côn trùng gây hại trên từng bẫy, mỗi ngày, ngay trên điện thoại.</a:t>
            </a:r>
            <a:endParaRPr lang="vi-VN" sz="1600" dirty="0"/>
          </a:p>
        </p:txBody>
      </p:sp>
      <p:sp>
        <p:nvSpPr>
          <p:cNvPr id="6" name="Text 3"/>
          <p:cNvSpPr/>
          <p:nvPr/>
        </p:nvSpPr>
        <p:spPr>
          <a:xfrm>
            <a:off x="812800" y="5087541"/>
            <a:ext cx="3683000" cy="365720"/>
          </a:xfrm>
          <a:prstGeom prst="roundRect">
            <a:avLst>
              <a:gd name="adj" fmla="val 50000"/>
            </a:avLst>
          </a:prstGeom>
          <a:solidFill>
            <a:srgbClr val="F2C230"/>
          </a:solidFill>
          <a:ln/>
        </p:spPr>
        <p:txBody>
          <a:bodyPr wrap="square" lIns="48169" tIns="22642" rIns="48169" bIns="0" rtlCol="0" anchor="t">
            <a:normAutofit/>
          </a:bodyPr>
          <a:lstStyle/>
          <a:p>
            <a:pPr algn="ctr" indent="0" marL="0">
              <a:lnSpc>
                <a:spcPts val="1680"/>
              </a:lnSpc>
              <a:buNone/>
            </a:pPr>
            <a:r>
              <a:rPr lang="vi-VN" sz="1200" b="1" dirty="0">
                <a:solidFill>
                  <a:srgbClr val="13261D"/>
                </a:solidFill>
                <a:latin typeface="Arial" pitchFamily="34" charset="0"/>
                <a:ea typeface="Arial" pitchFamily="34" charset="-122"/>
                <a:cs typeface="Arial" pitchFamily="34" charset="-120"/>
              </a:rPr>
              <a:t>Web · Điện thoại · Tiếng Việt và English</a:t>
            </a:r>
            <a:endParaRPr lang="vi-VN" sz="1200" dirty="0"/>
          </a:p>
        </p:txBody>
      </p:sp>
      <p:sp>
        <p:nvSpPr>
          <p:cNvPr id="7" name="Text 4"/>
          <p:cNvSpPr/>
          <p:nvPr/>
        </p:nvSpPr>
        <p:spPr>
          <a:xfrm>
            <a:off x="812800" y="5707261"/>
            <a:ext cx="4970780" cy="274241"/>
          </a:xfrm>
          <a:prstGeom prst="rect">
            <a:avLst/>
          </a:prstGeom>
          <a:noFill/>
          <a:ln/>
        </p:spPr>
        <p:txBody>
          <a:bodyPr wrap="square" lIns="0" tIns="0" rIns="0" bIns="0" rtlCol="0" anchor="t">
            <a:normAutofit/>
          </a:bodyPr>
          <a:lstStyle/>
          <a:p>
            <a:pPr algn="l" indent="0" marL="0">
              <a:lnSpc>
                <a:spcPts val="1960"/>
              </a:lnSpc>
              <a:buNone/>
            </a:pPr>
            <a:r>
              <a:rPr lang="vi-VN" sz="1400" b="1" u="sng" dirty="0">
                <a:solidFill>
                  <a:srgbClr val="F2C230"/>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ezviz.agrhub.com</a:t>
            </a:r>
            <a:endParaRPr lang="vi-VN" sz="1400" dirty="0"/>
          </a:p>
        </p:txBody>
      </p:sp>
      <p:pic>
        <p:nvPicPr>
          <p:cNvPr id="8" name="Image 1" descr="Màn hình Tổng quan của FlyBot: ruồi vào bẫy hôm nay, ruồi/bẫy/ngày và danh sách bẫy">    </p:cNvPr>
          <p:cNvPicPr>
            <a:picLocks noChangeAspect="1"/>
          </p:cNvPicPr>
          <p:nvPr/>
        </p:nvPicPr>
        <p:blipFill>
          <a:blip r:embed="rId3"/>
          <a:srcRect l="-72" r="-72" t="0" b="0"/>
          <a:stretch/>
        </p:blipFill>
        <p:spPr>
          <a:xfrm>
            <a:off x="6051550" y="1768475"/>
            <a:ext cx="5321300" cy="3321050"/>
          </a:xfrm>
          <a:prstGeom prst="roundRect">
            <a:avLst>
              <a:gd name="adj" fmla="val 2868"/>
            </a:avLst>
          </a:prstGeom>
          <a:effectLst>
            <a:outerShdw sx="100000" sy="100000" kx="0" ky="0" algn="bl" rotWithShape="0" blurRad="406400" dist="203200" dir="5400000">
              <a:srgbClr val="000000">
                <a:alpha val="35000"/>
              </a:srgbClr>
            </a:outerShdw>
          </a:effectLst>
        </p:spPr>
      </p:pic>
      <p:sp>
        <p:nvSpPr>
          <p:cNvPr id="9" name="Shape 5"/>
          <p:cNvSpPr/>
          <p:nvPr/>
        </p:nvSpPr>
        <p:spPr>
          <a:xfrm>
            <a:off x="6048375" y="1765300"/>
            <a:ext cx="5327650" cy="3327400"/>
          </a:xfrm>
          <a:prstGeom prst="roundRect">
            <a:avLst>
              <a:gd name="adj" fmla="val 2958"/>
            </a:avLst>
          </a:prstGeom>
          <a:noFill/>
          <a:ln w="6350">
            <a:solidFill>
              <a:srgbClr val="2E4A3B"/>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vi-VN" sz="1200" b="1" spc="150" kern="0" dirty="0">
                <a:solidFill>
                  <a:srgbClr val="1D7A50"/>
                </a:solidFill>
                <a:latin typeface="Arial" pitchFamily="34" charset="0"/>
                <a:ea typeface="Arial" pitchFamily="34" charset="-122"/>
                <a:cs typeface="Arial" pitchFamily="34" charset="-120"/>
              </a:rPr>
              <a:t>VẤN ĐỀ</a:t>
            </a:r>
            <a:endParaRPr lang="vi-VN" sz="1200" dirty="0"/>
          </a:p>
        </p:txBody>
      </p:sp>
      <p:sp>
        <p:nvSpPr>
          <p:cNvPr id="3" name="Text 1"/>
          <p:cNvSpPr/>
          <p:nvPr>
            <p:ph type="title"/>
          </p:nvPr>
        </p:nvSpPr>
        <p:spPr>
          <a:xfrm>
            <a:off x="812800" y="1127720"/>
            <a:ext cx="11379200" cy="492720"/>
          </a:xfrm>
          <a:prstGeom prst="rect">
            <a:avLst/>
          </a:prstGeom>
          <a:noFill/>
          <a:ln/>
        </p:spPr>
        <p:txBody>
          <a:bodyPr wrap="square" lIns="0" tIns="0" rIns="0" bIns="0" rtlCol="0" anchor="t">
            <a:normAutofit/>
          </a:bodyPr>
          <a:lstStyle/>
          <a:p>
            <a:pPr algn="l" indent="0" marL="0">
              <a:lnSpc>
                <a:spcPts val="3680"/>
              </a:lnSpc>
              <a:buNone/>
            </a:pPr>
            <a:r>
              <a:rPr lang="vi-VN" sz="3200" b="1" i="0" dirty="0">
                <a:solidFill>
                  <a:srgbClr val="13261D"/>
                </a:solidFill>
                <a:latin typeface="Arial" pitchFamily="34" charset="0"/>
                <a:ea typeface="Arial" pitchFamily="34" charset="-122"/>
                <a:cs typeface="Arial" pitchFamily="34" charset="-120"/>
              </a:rPr>
              <a:t>Kiểm bẫy thủ công tốn công và luôn đi sau dịch hại</a:t>
            </a:r>
            <a:endParaRPr lang="vi-VN" sz="3200" dirty="0"/>
          </a:p>
        </p:txBody>
      </p:sp>
      <p:sp>
        <p:nvSpPr>
          <p:cNvPr id="4" name="Shape 2"/>
          <p:cNvSpPr/>
          <p:nvPr/>
        </p:nvSpPr>
        <p:spPr>
          <a:xfrm>
            <a:off x="815975" y="2004616"/>
            <a:ext cx="3380284" cy="3834209"/>
          </a:xfrm>
          <a:prstGeom prst="roundRect">
            <a:avLst>
              <a:gd name="adj" fmla="val 3663"/>
            </a:avLst>
          </a:prstGeom>
          <a:solidFill>
            <a:srgbClr val="FFFFFF"/>
          </a:solidFill>
          <a:ln w="6350">
            <a:solidFill>
              <a:srgbClr val="DCE3DA"/>
            </a:solidFill>
            <a:prstDash val="solid"/>
          </a:ln>
        </p:spPr>
      </p:sp>
      <p:pic>
        <p:nvPicPr>
          <p:cNvPr id="5" name="Image 0" descr="Users">    </p:cNvPr>
          <p:cNvPicPr>
            <a:picLocks noChangeAspect="1"/>
          </p:cNvPicPr>
          <p:nvPr/>
        </p:nvPicPr>
        <p:blipFill>
          <a:blip r:embed="rId1"/>
          <a:srcRect l="0" r="0" t="0" b="0"/>
          <a:stretch/>
        </p:blipFill>
        <p:spPr>
          <a:xfrm>
            <a:off x="1123950" y="2312591"/>
            <a:ext cx="406400" cy="406400"/>
          </a:xfrm>
          <a:prstGeom prst="rect">
            <a:avLst/>
          </a:prstGeom>
        </p:spPr>
      </p:pic>
      <p:sp>
        <p:nvSpPr>
          <p:cNvPr id="6" name="Text 3"/>
          <p:cNvSpPr/>
          <p:nvPr/>
        </p:nvSpPr>
        <p:spPr>
          <a:xfrm>
            <a:off x="1123950" y="2871391"/>
            <a:ext cx="2847264" cy="635000"/>
          </a:xfrm>
          <a:prstGeom prst="rect">
            <a:avLst/>
          </a:prstGeom>
          <a:noFill/>
          <a:ln/>
        </p:spPr>
        <p:txBody>
          <a:bodyPr wrap="square" lIns="0" tIns="0" rIns="0" bIns="0" rtlCol="0" anchor="t">
            <a:normAutofit/>
          </a:bodyPr>
          <a:lstStyle/>
          <a:p>
            <a:pPr algn="l" indent="0" marL="0">
              <a:lnSpc>
                <a:spcPts val="2400"/>
              </a:lnSpc>
              <a:buNone/>
            </a:pPr>
            <a:r>
              <a:rPr lang="vi-VN" sz="2000" b="1" dirty="0">
                <a:solidFill>
                  <a:srgbClr val="13261D"/>
                </a:solidFill>
                <a:latin typeface="Arial" pitchFamily="34" charset="0"/>
                <a:ea typeface="Arial" pitchFamily="34" charset="-122"/>
                <a:cs typeface="Arial" pitchFamily="34" charset="-120"/>
              </a:rPr>
              <a:t>Đi từng bẫy, đếm bằng tay</a:t>
            </a:r>
            <a:endParaRPr lang="vi-VN" sz="2000" dirty="0"/>
          </a:p>
        </p:txBody>
      </p:sp>
      <p:sp>
        <p:nvSpPr>
          <p:cNvPr id="7" name="Text 4"/>
          <p:cNvSpPr/>
          <p:nvPr/>
        </p:nvSpPr>
        <p:spPr>
          <a:xfrm>
            <a:off x="1123950" y="3633391"/>
            <a:ext cx="2847264" cy="825500"/>
          </a:xfrm>
          <a:prstGeom prst="rect">
            <a:avLst/>
          </a:prstGeom>
          <a:noFill/>
          <a:ln/>
        </p:spPr>
        <p:txBody>
          <a:bodyPr wrap="square" lIns="0" tIns="0" rIns="0" bIns="0" rtlCol="0" anchor="t">
            <a:normAutofit/>
          </a:bodyPr>
          <a:lstStyle/>
          <a:p>
            <a:pPr algn="l" indent="0" marL="0">
              <a:lnSpc>
                <a:spcPts val="2100"/>
              </a:lnSpc>
              <a:buNone/>
            </a:pPr>
            <a:r>
              <a:rPr lang="vi-VN" sz="1400" dirty="0">
                <a:solidFill>
                  <a:srgbClr val="4A5A50"/>
                </a:solidFill>
                <a:latin typeface="Arial" pitchFamily="34" charset="0"/>
                <a:ea typeface="Arial" pitchFamily="34" charset="-122"/>
                <a:cs typeface="Arial" pitchFamily="34" charset="-120"/>
              </a:rPr>
              <a:t>Mỗi lần kiểm tra mất nhiều giờ công, và số đếm phụ thuộc vào người đếm.</a:t>
            </a:r>
            <a:endParaRPr lang="vi-VN" sz="1400" dirty="0"/>
          </a:p>
        </p:txBody>
      </p:sp>
      <p:sp>
        <p:nvSpPr>
          <p:cNvPr id="8" name="Shape 5"/>
          <p:cNvSpPr/>
          <p:nvPr/>
        </p:nvSpPr>
        <p:spPr>
          <a:xfrm>
            <a:off x="4405809" y="2004616"/>
            <a:ext cx="3380383" cy="3834209"/>
          </a:xfrm>
          <a:prstGeom prst="roundRect">
            <a:avLst>
              <a:gd name="adj" fmla="val 3663"/>
            </a:avLst>
          </a:prstGeom>
          <a:solidFill>
            <a:srgbClr val="FFFFFF"/>
          </a:solidFill>
          <a:ln w="6350">
            <a:solidFill>
              <a:srgbClr val="DCE3DA"/>
            </a:solidFill>
            <a:prstDash val="solid"/>
          </a:ln>
        </p:spPr>
      </p:sp>
      <p:pic>
        <p:nvPicPr>
          <p:cNvPr id="9" name="Image 1" descr="Chart">    </p:cNvPr>
          <p:cNvPicPr>
            <a:picLocks noChangeAspect="1"/>
          </p:cNvPicPr>
          <p:nvPr/>
        </p:nvPicPr>
        <p:blipFill>
          <a:blip r:embed="rId2"/>
          <a:srcRect l="0" r="0" t="0" b="0"/>
          <a:stretch/>
        </p:blipFill>
        <p:spPr>
          <a:xfrm>
            <a:off x="4713784" y="2312591"/>
            <a:ext cx="406400" cy="406400"/>
          </a:xfrm>
          <a:prstGeom prst="rect">
            <a:avLst/>
          </a:prstGeom>
        </p:spPr>
      </p:pic>
      <p:sp>
        <p:nvSpPr>
          <p:cNvPr id="10" name="Text 6"/>
          <p:cNvSpPr/>
          <p:nvPr/>
        </p:nvSpPr>
        <p:spPr>
          <a:xfrm>
            <a:off x="4713784" y="2871391"/>
            <a:ext cx="2847366" cy="330200"/>
          </a:xfrm>
          <a:prstGeom prst="rect">
            <a:avLst/>
          </a:prstGeom>
          <a:noFill/>
          <a:ln/>
        </p:spPr>
        <p:txBody>
          <a:bodyPr wrap="square" lIns="0" tIns="0" rIns="0" bIns="0" rtlCol="0" anchor="t">
            <a:normAutofit/>
          </a:bodyPr>
          <a:lstStyle/>
          <a:p>
            <a:pPr algn="l" indent="0" marL="0">
              <a:lnSpc>
                <a:spcPts val="2400"/>
              </a:lnSpc>
              <a:buNone/>
            </a:pPr>
            <a:r>
              <a:rPr lang="vi-VN" sz="2000" b="1" dirty="0">
                <a:solidFill>
                  <a:srgbClr val="13261D"/>
                </a:solidFill>
                <a:latin typeface="Arial" pitchFamily="34" charset="0"/>
                <a:ea typeface="Arial" pitchFamily="34" charset="-122"/>
                <a:cs typeface="Arial" pitchFamily="34" charset="-120"/>
              </a:rPr>
              <a:t>Số liệu rời rạc</a:t>
            </a:r>
            <a:endParaRPr lang="vi-VN" sz="2000" dirty="0"/>
          </a:p>
        </p:txBody>
      </p:sp>
      <p:sp>
        <p:nvSpPr>
          <p:cNvPr id="11" name="Text 7"/>
          <p:cNvSpPr/>
          <p:nvPr/>
        </p:nvSpPr>
        <p:spPr>
          <a:xfrm>
            <a:off x="4713784" y="3328591"/>
            <a:ext cx="2847366" cy="825500"/>
          </a:xfrm>
          <a:prstGeom prst="rect">
            <a:avLst/>
          </a:prstGeom>
          <a:noFill/>
          <a:ln/>
        </p:spPr>
        <p:txBody>
          <a:bodyPr wrap="square" lIns="0" tIns="0" rIns="0" bIns="0" rtlCol="0" anchor="t">
            <a:normAutofit/>
          </a:bodyPr>
          <a:lstStyle/>
          <a:p>
            <a:pPr algn="l" indent="0" marL="0">
              <a:lnSpc>
                <a:spcPts val="2100"/>
              </a:lnSpc>
              <a:buNone/>
            </a:pPr>
            <a:r>
              <a:rPr lang="vi-VN" sz="1400" dirty="0">
                <a:solidFill>
                  <a:srgbClr val="4A5A50"/>
                </a:solidFill>
                <a:latin typeface="Arial" pitchFamily="34" charset="0"/>
                <a:ea typeface="Arial" pitchFamily="34" charset="-122"/>
                <a:cs typeface="Arial" pitchFamily="34" charset="-120"/>
              </a:rPr>
              <a:t>Ghi chép trên giấy khó so sánh giữa các bẫy, các lô và các tuần.</a:t>
            </a:r>
            <a:endParaRPr lang="vi-VN" sz="1400" dirty="0"/>
          </a:p>
        </p:txBody>
      </p:sp>
      <p:sp>
        <p:nvSpPr>
          <p:cNvPr id="12" name="Shape 8"/>
          <p:cNvSpPr/>
          <p:nvPr/>
        </p:nvSpPr>
        <p:spPr>
          <a:xfrm>
            <a:off x="7995741" y="2004616"/>
            <a:ext cx="3380284" cy="3834209"/>
          </a:xfrm>
          <a:prstGeom prst="roundRect">
            <a:avLst>
              <a:gd name="adj" fmla="val 3663"/>
            </a:avLst>
          </a:prstGeom>
          <a:solidFill>
            <a:srgbClr val="FFFFFF"/>
          </a:solidFill>
          <a:ln w="6350">
            <a:solidFill>
              <a:srgbClr val="DCE3DA"/>
            </a:solidFill>
            <a:prstDash val="solid"/>
          </a:ln>
        </p:spPr>
      </p:sp>
      <p:pic>
        <p:nvPicPr>
          <p:cNvPr id="13" name="Image 2" descr="Clock">    </p:cNvPr>
          <p:cNvPicPr>
            <a:picLocks noChangeAspect="1"/>
          </p:cNvPicPr>
          <p:nvPr/>
        </p:nvPicPr>
        <p:blipFill>
          <a:blip r:embed="rId3"/>
          <a:srcRect l="0" r="0" t="0" b="0"/>
          <a:stretch/>
        </p:blipFill>
        <p:spPr>
          <a:xfrm>
            <a:off x="8303716" y="2312591"/>
            <a:ext cx="406400" cy="406400"/>
          </a:xfrm>
          <a:prstGeom prst="rect">
            <a:avLst/>
          </a:prstGeom>
        </p:spPr>
      </p:pic>
      <p:sp>
        <p:nvSpPr>
          <p:cNvPr id="14" name="Text 9"/>
          <p:cNvSpPr/>
          <p:nvPr/>
        </p:nvSpPr>
        <p:spPr>
          <a:xfrm>
            <a:off x="8303716" y="2871391"/>
            <a:ext cx="2847264" cy="330200"/>
          </a:xfrm>
          <a:prstGeom prst="rect">
            <a:avLst/>
          </a:prstGeom>
          <a:noFill/>
          <a:ln/>
        </p:spPr>
        <p:txBody>
          <a:bodyPr wrap="square" lIns="0" tIns="0" rIns="0" bIns="0" rtlCol="0" anchor="t">
            <a:normAutofit/>
          </a:bodyPr>
          <a:lstStyle/>
          <a:p>
            <a:pPr algn="l" indent="0" marL="0">
              <a:lnSpc>
                <a:spcPts val="2400"/>
              </a:lnSpc>
              <a:buNone/>
            </a:pPr>
            <a:r>
              <a:rPr lang="vi-VN" sz="2000" b="1" dirty="0">
                <a:solidFill>
                  <a:srgbClr val="13261D"/>
                </a:solidFill>
                <a:latin typeface="Arial" pitchFamily="34" charset="0"/>
                <a:ea typeface="Arial" pitchFamily="34" charset="-122"/>
                <a:cs typeface="Arial" pitchFamily="34" charset="-120"/>
              </a:rPr>
              <a:t>Phát hiện muộn</a:t>
            </a:r>
            <a:endParaRPr lang="vi-VN" sz="2000" dirty="0"/>
          </a:p>
        </p:txBody>
      </p:sp>
      <p:sp>
        <p:nvSpPr>
          <p:cNvPr id="15" name="Text 10"/>
          <p:cNvSpPr/>
          <p:nvPr/>
        </p:nvSpPr>
        <p:spPr>
          <a:xfrm>
            <a:off x="8303716" y="3328591"/>
            <a:ext cx="2847264" cy="825500"/>
          </a:xfrm>
          <a:prstGeom prst="rect">
            <a:avLst/>
          </a:prstGeom>
          <a:noFill/>
          <a:ln/>
        </p:spPr>
        <p:txBody>
          <a:bodyPr wrap="square" lIns="0" tIns="0" rIns="0" bIns="0" rtlCol="0" anchor="t">
            <a:normAutofit/>
          </a:bodyPr>
          <a:lstStyle/>
          <a:p>
            <a:pPr algn="l" indent="0" marL="0">
              <a:lnSpc>
                <a:spcPts val="2100"/>
              </a:lnSpc>
              <a:buNone/>
            </a:pPr>
            <a:r>
              <a:rPr lang="vi-VN" sz="1400" dirty="0">
                <a:solidFill>
                  <a:srgbClr val="4A5A50"/>
                </a:solidFill>
                <a:latin typeface="Arial" pitchFamily="34" charset="0"/>
                <a:ea typeface="Arial" pitchFamily="34" charset="-122"/>
                <a:cs typeface="Arial" pitchFamily="34" charset="-120"/>
              </a:rPr>
              <a:t>Khi thấy mật độ tăng thì đợt bùng phát đã bắt đầu, xử lý tốn kém hơn.</a:t>
            </a:r>
            <a:endParaRPr lang="vi-VN" sz="1400" dirty="0"/>
          </a:p>
        </p:txBody>
      </p:sp>
      <p:sp>
        <p:nvSpPr>
          <p:cNvPr id="16"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vi-VN" sz="1200" dirty="0">
                <a:solidFill>
                  <a:srgbClr val="6B7B70"/>
                </a:solidFill>
                <a:latin typeface="Arial" pitchFamily="34" charset="0"/>
                <a:ea typeface="Arial" pitchFamily="34" charset="-122"/>
                <a:cs typeface="Arial" pitchFamily="34" charset="-120"/>
              </a:rPr>
              <a:t>FlyBot · 2</a:t>
            </a:r>
            <a:endParaRPr lang="vi-VN"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vi-VN" sz="1200" b="1" spc="150" kern="0" dirty="0">
                <a:solidFill>
                  <a:srgbClr val="1D7A50"/>
                </a:solidFill>
                <a:latin typeface="Arial" pitchFamily="34" charset="0"/>
                <a:ea typeface="Arial" pitchFamily="34" charset="-122"/>
                <a:cs typeface="Arial" pitchFamily="34" charset="-120"/>
              </a:rPr>
              <a:t>CÁCH HOẠT ĐỘNG</a:t>
            </a:r>
            <a:endParaRPr lang="vi-VN"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vi-VN" sz="3200" b="1" i="0" dirty="0">
                <a:solidFill>
                  <a:srgbClr val="13261D"/>
                </a:solidFill>
                <a:latin typeface="Arial" pitchFamily="34" charset="0"/>
                <a:ea typeface="Arial" pitchFamily="34" charset="-122"/>
                <a:cs typeface="Arial" pitchFamily="34" charset="-120"/>
              </a:rPr>
              <a:t>Từ tấm bẫy đến quyết định, không cần đếm tay</a:t>
            </a:r>
            <a:endParaRPr lang="vi-VN" sz="3200" dirty="0"/>
          </a:p>
        </p:txBody>
      </p:sp>
      <p:sp>
        <p:nvSpPr>
          <p:cNvPr id="4" name="Shape 2"/>
          <p:cNvSpPr/>
          <p:nvPr/>
        </p:nvSpPr>
        <p:spPr>
          <a:xfrm>
            <a:off x="815975" y="2004616"/>
            <a:ext cx="2257425" cy="3834209"/>
          </a:xfrm>
          <a:prstGeom prst="roundRect">
            <a:avLst>
              <a:gd name="adj" fmla="val 5485"/>
            </a:avLst>
          </a:prstGeom>
          <a:solidFill>
            <a:srgbClr val="FFFFFF"/>
          </a:solidFill>
          <a:ln w="6350">
            <a:solidFill>
              <a:srgbClr val="DCE3DA"/>
            </a:solidFill>
            <a:prstDash val="solid"/>
          </a:ln>
        </p:spPr>
      </p:sp>
      <p:sp>
        <p:nvSpPr>
          <p:cNvPr id="5" name="Text 3"/>
          <p:cNvSpPr/>
          <p:nvPr/>
        </p:nvSpPr>
        <p:spPr>
          <a:xfrm>
            <a:off x="1073150" y="2261791"/>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F2C230"/>
          </a:solidFill>
          <a:ln/>
        </p:spPr>
        <p:txBody>
          <a:bodyPr wrap="square" lIns="0" tIns="0" rIns="0" bIns="0" rtlCol="0" anchor="t">
            <a:normAutofit/>
          </a:bodyPr>
          <a:lstStyle/>
          <a:p>
            <a:pPr algn="ctr" indent="0" marL="0">
              <a:lnSpc>
                <a:spcPts val="2796"/>
              </a:lnSpc>
              <a:buNone/>
            </a:pPr>
            <a:r>
              <a:rPr lang="vi-VN" sz="1200" b="1" dirty="0">
                <a:solidFill>
                  <a:srgbClr val="13261D"/>
                </a:solidFill>
                <a:latin typeface="Arial" pitchFamily="34" charset="0"/>
                <a:ea typeface="Arial" pitchFamily="34" charset="-122"/>
                <a:cs typeface="Arial" pitchFamily="34" charset="-120"/>
              </a:rPr>
              <a:t>1</a:t>
            </a:r>
            <a:endParaRPr lang="vi-VN" sz="1200" dirty="0"/>
          </a:p>
        </p:txBody>
      </p:sp>
      <p:sp>
        <p:nvSpPr>
          <p:cNvPr id="6" name="Text 4"/>
          <p:cNvSpPr/>
          <p:nvPr/>
        </p:nvSpPr>
        <p:spPr>
          <a:xfrm>
            <a:off x="1073150" y="2744391"/>
            <a:ext cx="1795367" cy="573881"/>
          </a:xfrm>
          <a:prstGeom prst="rect">
            <a:avLst/>
          </a:prstGeom>
          <a:noFill/>
          <a:ln/>
        </p:spPr>
        <p:txBody>
          <a:bodyPr wrap="square" lIns="0" tIns="0" rIns="0" bIns="0" rtlCol="0" anchor="t">
            <a:normAutofit/>
          </a:bodyPr>
          <a:lstStyle/>
          <a:p>
            <a:pPr algn="l" indent="0" marL="0">
              <a:lnSpc>
                <a:spcPts val="2160"/>
              </a:lnSpc>
              <a:buNone/>
            </a:pPr>
            <a:r>
              <a:rPr lang="vi-VN" sz="1800" b="1" dirty="0">
                <a:solidFill>
                  <a:srgbClr val="13261D"/>
                </a:solidFill>
                <a:latin typeface="Arial" pitchFamily="34" charset="0"/>
                <a:ea typeface="Arial" pitchFamily="34" charset="-122"/>
                <a:cs typeface="Arial" pitchFamily="34" charset="-120"/>
              </a:rPr>
              <a:t>Camera chụp tấm bẫy</a:t>
            </a:r>
            <a:endParaRPr lang="vi-VN" sz="1800" dirty="0"/>
          </a:p>
        </p:txBody>
      </p:sp>
      <p:sp>
        <p:nvSpPr>
          <p:cNvPr id="7" name="Text 5"/>
          <p:cNvSpPr/>
          <p:nvPr/>
        </p:nvSpPr>
        <p:spPr>
          <a:xfrm>
            <a:off x="1073150" y="3419872"/>
            <a:ext cx="1795367" cy="1016000"/>
          </a:xfrm>
          <a:prstGeom prst="rect">
            <a:avLst/>
          </a:prstGeom>
          <a:noFill/>
          <a:ln/>
        </p:spPr>
        <p:txBody>
          <a:bodyPr wrap="square" lIns="0" tIns="0" rIns="0" bIns="0" rtlCol="0" anchor="t">
            <a:normAutofit/>
          </a:bodyPr>
          <a:lstStyle/>
          <a:p>
            <a:pPr algn="l" indent="0" marL="0">
              <a:lnSpc>
                <a:spcPts val="1950"/>
              </a:lnSpc>
              <a:buNone/>
            </a:pPr>
            <a:r>
              <a:rPr lang="vi-VN" sz="1300" dirty="0">
                <a:solidFill>
                  <a:srgbClr val="4A5A50"/>
                </a:solidFill>
                <a:latin typeface="Arial" pitchFamily="34" charset="0"/>
                <a:ea typeface="Arial" pitchFamily="34" charset="-122"/>
                <a:cs typeface="Arial" pitchFamily="34" charset="-120"/>
              </a:rPr>
              <a:t>Camera EZVIZ chụp theo lịch riêng của từng bẫy, có thể chỉ chụp ban ngày.</a:t>
            </a:r>
            <a:endParaRPr lang="vi-VN" sz="1300" dirty="0"/>
          </a:p>
        </p:txBody>
      </p:sp>
      <p:pic>
        <p:nvPicPr>
          <p:cNvPr id="8" name="Image 0" descr="arrow-right">    </p:cNvPr>
          <p:cNvPicPr>
            <a:picLocks noChangeAspect="1"/>
          </p:cNvPicPr>
          <p:nvPr/>
        </p:nvPicPr>
        <p:blipFill>
          <a:blip r:embed="rId1"/>
          <a:srcRect l="0" r="0" t="0" b="0"/>
          <a:stretch/>
        </p:blipFill>
        <p:spPr>
          <a:xfrm>
            <a:off x="3178175" y="3832820"/>
            <a:ext cx="304800" cy="177800"/>
          </a:xfrm>
          <a:prstGeom prst="rect">
            <a:avLst/>
          </a:prstGeom>
        </p:spPr>
      </p:pic>
      <p:sp>
        <p:nvSpPr>
          <p:cNvPr id="9" name="Shape 6"/>
          <p:cNvSpPr/>
          <p:nvPr/>
        </p:nvSpPr>
        <p:spPr>
          <a:xfrm>
            <a:off x="3587750" y="2004616"/>
            <a:ext cx="2257425" cy="3834209"/>
          </a:xfrm>
          <a:prstGeom prst="roundRect">
            <a:avLst>
              <a:gd name="adj" fmla="val 5485"/>
            </a:avLst>
          </a:prstGeom>
          <a:solidFill>
            <a:srgbClr val="FFFFFF"/>
          </a:solidFill>
          <a:ln w="6350">
            <a:solidFill>
              <a:srgbClr val="DCE3DA"/>
            </a:solidFill>
            <a:prstDash val="solid"/>
          </a:ln>
        </p:spPr>
      </p:sp>
      <p:sp>
        <p:nvSpPr>
          <p:cNvPr id="10" name="Text 7"/>
          <p:cNvSpPr/>
          <p:nvPr/>
        </p:nvSpPr>
        <p:spPr>
          <a:xfrm>
            <a:off x="3844925" y="2261791"/>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F2C230"/>
          </a:solidFill>
          <a:ln/>
        </p:spPr>
        <p:txBody>
          <a:bodyPr wrap="square" lIns="0" tIns="0" rIns="0" bIns="0" rtlCol="0" anchor="t">
            <a:normAutofit/>
          </a:bodyPr>
          <a:lstStyle/>
          <a:p>
            <a:pPr algn="ctr" indent="0" marL="0">
              <a:lnSpc>
                <a:spcPts val="2796"/>
              </a:lnSpc>
              <a:buNone/>
            </a:pPr>
            <a:r>
              <a:rPr lang="vi-VN" sz="1200" b="1" dirty="0">
                <a:solidFill>
                  <a:srgbClr val="13261D"/>
                </a:solidFill>
                <a:latin typeface="Arial" pitchFamily="34" charset="0"/>
                <a:ea typeface="Arial" pitchFamily="34" charset="-122"/>
                <a:cs typeface="Arial" pitchFamily="34" charset="-120"/>
              </a:rPr>
              <a:t>2</a:t>
            </a:r>
            <a:endParaRPr lang="vi-VN" sz="1200" dirty="0"/>
          </a:p>
        </p:txBody>
      </p:sp>
      <p:sp>
        <p:nvSpPr>
          <p:cNvPr id="11" name="Text 8"/>
          <p:cNvSpPr/>
          <p:nvPr/>
        </p:nvSpPr>
        <p:spPr>
          <a:xfrm>
            <a:off x="3844925" y="2744391"/>
            <a:ext cx="1795367" cy="573881"/>
          </a:xfrm>
          <a:prstGeom prst="rect">
            <a:avLst/>
          </a:prstGeom>
          <a:noFill/>
          <a:ln/>
        </p:spPr>
        <p:txBody>
          <a:bodyPr wrap="square" lIns="0" tIns="0" rIns="0" bIns="0" rtlCol="0" anchor="t">
            <a:normAutofit/>
          </a:bodyPr>
          <a:lstStyle/>
          <a:p>
            <a:pPr algn="l" indent="0" marL="0">
              <a:lnSpc>
                <a:spcPts val="2160"/>
              </a:lnSpc>
              <a:buNone/>
            </a:pPr>
            <a:r>
              <a:rPr lang="vi-VN" sz="1800" b="1" dirty="0">
                <a:solidFill>
                  <a:srgbClr val="13261D"/>
                </a:solidFill>
                <a:latin typeface="Arial" pitchFamily="34" charset="0"/>
                <a:ea typeface="Arial" pitchFamily="34" charset="-122"/>
                <a:cs typeface="Arial" pitchFamily="34" charset="-120"/>
              </a:rPr>
              <a:t>AI nhận dạng và đếm</a:t>
            </a:r>
            <a:endParaRPr lang="vi-VN" sz="1800" dirty="0"/>
          </a:p>
        </p:txBody>
      </p:sp>
      <p:sp>
        <p:nvSpPr>
          <p:cNvPr id="12" name="Text 9"/>
          <p:cNvSpPr/>
          <p:nvPr/>
        </p:nvSpPr>
        <p:spPr>
          <a:xfrm>
            <a:off x="3844925" y="3419872"/>
            <a:ext cx="1795367" cy="768350"/>
          </a:xfrm>
          <a:prstGeom prst="rect">
            <a:avLst/>
          </a:prstGeom>
          <a:noFill/>
          <a:ln/>
        </p:spPr>
        <p:txBody>
          <a:bodyPr wrap="square" lIns="0" tIns="0" rIns="0" bIns="0" rtlCol="0" anchor="t">
            <a:normAutofit/>
          </a:bodyPr>
          <a:lstStyle/>
          <a:p>
            <a:pPr algn="l" indent="0" marL="0">
              <a:lnSpc>
                <a:spcPts val="1950"/>
              </a:lnSpc>
              <a:buNone/>
            </a:pPr>
            <a:r>
              <a:rPr lang="vi-VN" sz="1300" dirty="0">
                <a:solidFill>
                  <a:srgbClr val="4A5A50"/>
                </a:solidFill>
                <a:latin typeface="Arial" pitchFamily="34" charset="0"/>
                <a:ea typeface="Arial" pitchFamily="34" charset="-122"/>
                <a:cs typeface="Arial" pitchFamily="34" charset="-120"/>
              </a:rPr>
              <a:t>Khoanh từng con trên ảnh, ghi tên loài và độ tin cậy.</a:t>
            </a:r>
            <a:endParaRPr lang="vi-VN" sz="1300" dirty="0"/>
          </a:p>
        </p:txBody>
      </p:sp>
      <p:pic>
        <p:nvPicPr>
          <p:cNvPr id="13" name="Image 1" descr="arrow-right">    </p:cNvPr>
          <p:cNvPicPr>
            <a:picLocks noChangeAspect="1"/>
          </p:cNvPicPr>
          <p:nvPr/>
        </p:nvPicPr>
        <p:blipFill>
          <a:blip r:embed="rId2"/>
          <a:srcRect l="0" r="0" t="0" b="0"/>
          <a:stretch/>
        </p:blipFill>
        <p:spPr>
          <a:xfrm>
            <a:off x="5949950" y="3832820"/>
            <a:ext cx="304800" cy="177800"/>
          </a:xfrm>
          <a:prstGeom prst="rect">
            <a:avLst/>
          </a:prstGeom>
        </p:spPr>
      </p:pic>
      <p:sp>
        <p:nvSpPr>
          <p:cNvPr id="14" name="Shape 10"/>
          <p:cNvSpPr/>
          <p:nvPr/>
        </p:nvSpPr>
        <p:spPr>
          <a:xfrm>
            <a:off x="6359525" y="2004616"/>
            <a:ext cx="2257425" cy="3834209"/>
          </a:xfrm>
          <a:prstGeom prst="roundRect">
            <a:avLst>
              <a:gd name="adj" fmla="val 5485"/>
            </a:avLst>
          </a:prstGeom>
          <a:solidFill>
            <a:srgbClr val="FFFFFF"/>
          </a:solidFill>
          <a:ln w="6350">
            <a:solidFill>
              <a:srgbClr val="DCE3DA"/>
            </a:solidFill>
            <a:prstDash val="solid"/>
          </a:ln>
        </p:spPr>
      </p:sp>
      <p:sp>
        <p:nvSpPr>
          <p:cNvPr id="15" name="Text 11"/>
          <p:cNvSpPr/>
          <p:nvPr/>
        </p:nvSpPr>
        <p:spPr>
          <a:xfrm>
            <a:off x="6616700" y="2261791"/>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F2C230"/>
          </a:solidFill>
          <a:ln/>
        </p:spPr>
        <p:txBody>
          <a:bodyPr wrap="square" lIns="0" tIns="0" rIns="0" bIns="0" rtlCol="0" anchor="t">
            <a:normAutofit/>
          </a:bodyPr>
          <a:lstStyle/>
          <a:p>
            <a:pPr algn="ctr" indent="0" marL="0">
              <a:lnSpc>
                <a:spcPts val="2796"/>
              </a:lnSpc>
              <a:buNone/>
            </a:pPr>
            <a:r>
              <a:rPr lang="vi-VN" sz="1200" b="1" dirty="0">
                <a:solidFill>
                  <a:srgbClr val="13261D"/>
                </a:solidFill>
                <a:latin typeface="Arial" pitchFamily="34" charset="0"/>
                <a:ea typeface="Arial" pitchFamily="34" charset="-122"/>
                <a:cs typeface="Arial" pitchFamily="34" charset="-120"/>
              </a:rPr>
              <a:t>3</a:t>
            </a:r>
            <a:endParaRPr lang="vi-VN" sz="1200" dirty="0"/>
          </a:p>
        </p:txBody>
      </p:sp>
      <p:sp>
        <p:nvSpPr>
          <p:cNvPr id="16" name="Text 12"/>
          <p:cNvSpPr/>
          <p:nvPr/>
        </p:nvSpPr>
        <p:spPr>
          <a:xfrm>
            <a:off x="6616700" y="2744391"/>
            <a:ext cx="1795367" cy="573881"/>
          </a:xfrm>
          <a:prstGeom prst="rect">
            <a:avLst/>
          </a:prstGeom>
          <a:noFill/>
          <a:ln/>
        </p:spPr>
        <p:txBody>
          <a:bodyPr wrap="square" lIns="0" tIns="0" rIns="0" bIns="0" rtlCol="0" anchor="t">
            <a:normAutofit/>
          </a:bodyPr>
          <a:lstStyle/>
          <a:p>
            <a:pPr algn="l" indent="0" marL="0">
              <a:lnSpc>
                <a:spcPts val="2160"/>
              </a:lnSpc>
              <a:buNone/>
            </a:pPr>
            <a:r>
              <a:rPr lang="vi-VN" sz="1800" b="1" dirty="0">
                <a:solidFill>
                  <a:srgbClr val="13261D"/>
                </a:solidFill>
                <a:latin typeface="Arial" pitchFamily="34" charset="0"/>
                <a:ea typeface="Arial" pitchFamily="34" charset="-122"/>
                <a:cs typeface="Arial" pitchFamily="34" charset="-120"/>
              </a:rPr>
              <a:t>Tính ruồi vào bẫy mỗi ngày</a:t>
            </a:r>
            <a:endParaRPr lang="vi-VN" sz="1800" dirty="0"/>
          </a:p>
        </p:txBody>
      </p:sp>
      <p:sp>
        <p:nvSpPr>
          <p:cNvPr id="17" name="Text 13"/>
          <p:cNvSpPr/>
          <p:nvPr/>
        </p:nvSpPr>
        <p:spPr>
          <a:xfrm>
            <a:off x="6616700" y="3419872"/>
            <a:ext cx="1795367" cy="1016000"/>
          </a:xfrm>
          <a:prstGeom prst="rect">
            <a:avLst/>
          </a:prstGeom>
          <a:noFill/>
          <a:ln/>
        </p:spPr>
        <p:txBody>
          <a:bodyPr wrap="square" lIns="0" tIns="0" rIns="0" bIns="0" rtlCol="0" anchor="t">
            <a:normAutofit/>
          </a:bodyPr>
          <a:lstStyle/>
          <a:p>
            <a:pPr algn="l" indent="0" marL="0">
              <a:lnSpc>
                <a:spcPts val="1950"/>
              </a:lnSpc>
              <a:buNone/>
            </a:pPr>
            <a:r>
              <a:rPr lang="vi-VN" sz="1300" dirty="0">
                <a:solidFill>
                  <a:srgbClr val="4A5A50"/>
                </a:solidFill>
                <a:latin typeface="Arial" pitchFamily="34" charset="0"/>
                <a:ea typeface="Arial" pitchFamily="34" charset="-122"/>
                <a:cs typeface="Arial" pitchFamily="34" charset="-120"/>
              </a:rPr>
              <a:t>Số con mới mỗi ngày và chỉ số ruồi/bẫy/ngày để so sánh.</a:t>
            </a:r>
            <a:endParaRPr lang="vi-VN" sz="1300" dirty="0"/>
          </a:p>
        </p:txBody>
      </p:sp>
      <p:pic>
        <p:nvPicPr>
          <p:cNvPr id="18" name="Image 2" descr="arrow-right">    </p:cNvPr>
          <p:cNvPicPr>
            <a:picLocks noChangeAspect="1"/>
          </p:cNvPicPr>
          <p:nvPr/>
        </p:nvPicPr>
        <p:blipFill>
          <a:blip r:embed="rId3"/>
          <a:srcRect l="0" r="0" t="0" b="0"/>
          <a:stretch/>
        </p:blipFill>
        <p:spPr>
          <a:xfrm>
            <a:off x="8721725" y="3832820"/>
            <a:ext cx="304800" cy="177800"/>
          </a:xfrm>
          <a:prstGeom prst="rect">
            <a:avLst/>
          </a:prstGeom>
        </p:spPr>
      </p:pic>
      <p:sp>
        <p:nvSpPr>
          <p:cNvPr id="19" name="Shape 14"/>
          <p:cNvSpPr/>
          <p:nvPr/>
        </p:nvSpPr>
        <p:spPr>
          <a:xfrm>
            <a:off x="9128125" y="2001441"/>
            <a:ext cx="2251075" cy="3840559"/>
          </a:xfrm>
          <a:prstGeom prst="roundRect">
            <a:avLst>
              <a:gd name="adj" fmla="val 5642"/>
            </a:avLst>
          </a:prstGeom>
          <a:solidFill>
            <a:srgbClr val="13261D"/>
          </a:solidFill>
          <a:ln/>
        </p:spPr>
      </p:sp>
      <p:sp>
        <p:nvSpPr>
          <p:cNvPr id="20" name="Text 15"/>
          <p:cNvSpPr/>
          <p:nvPr/>
        </p:nvSpPr>
        <p:spPr>
          <a:xfrm>
            <a:off x="9382125" y="2255441"/>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F2C230"/>
          </a:solidFill>
          <a:ln/>
        </p:spPr>
        <p:txBody>
          <a:bodyPr wrap="square" lIns="0" tIns="0" rIns="0" bIns="0" rtlCol="0" anchor="t">
            <a:normAutofit/>
          </a:bodyPr>
          <a:lstStyle/>
          <a:p>
            <a:pPr algn="ctr" indent="0" marL="0">
              <a:lnSpc>
                <a:spcPts val="2796"/>
              </a:lnSpc>
              <a:buNone/>
            </a:pPr>
            <a:r>
              <a:rPr lang="vi-VN" sz="1200" b="1" dirty="0">
                <a:solidFill>
                  <a:srgbClr val="13261D"/>
                </a:solidFill>
                <a:latin typeface="Arial" pitchFamily="34" charset="0"/>
                <a:ea typeface="Arial" pitchFamily="34" charset="-122"/>
                <a:cs typeface="Arial" pitchFamily="34" charset="-120"/>
              </a:rPr>
              <a:t>4</a:t>
            </a:r>
            <a:endParaRPr lang="vi-VN" sz="1200" dirty="0"/>
          </a:p>
        </p:txBody>
      </p:sp>
      <p:sp>
        <p:nvSpPr>
          <p:cNvPr id="21" name="Text 16"/>
          <p:cNvSpPr/>
          <p:nvPr/>
        </p:nvSpPr>
        <p:spPr>
          <a:xfrm>
            <a:off x="9382125" y="2738041"/>
            <a:ext cx="1795367" cy="573881"/>
          </a:xfrm>
          <a:prstGeom prst="rect">
            <a:avLst/>
          </a:prstGeom>
          <a:noFill/>
          <a:ln/>
        </p:spPr>
        <p:txBody>
          <a:bodyPr wrap="square" lIns="0" tIns="0" rIns="0" bIns="0" rtlCol="0" anchor="t">
            <a:normAutofit/>
          </a:bodyPr>
          <a:lstStyle/>
          <a:p>
            <a:pPr algn="l" indent="0" marL="0">
              <a:lnSpc>
                <a:spcPts val="2160"/>
              </a:lnSpc>
              <a:buNone/>
            </a:pPr>
            <a:r>
              <a:rPr lang="vi-VN" sz="1800" b="1" dirty="0">
                <a:solidFill>
                  <a:srgbClr val="F5F7F1"/>
                </a:solidFill>
                <a:latin typeface="Arial" pitchFamily="34" charset="0"/>
                <a:ea typeface="Arial" pitchFamily="34" charset="-122"/>
                <a:cs typeface="Arial" pitchFamily="34" charset="-120"/>
              </a:rPr>
              <a:t>Cảnh báo và báo cáo</a:t>
            </a:r>
            <a:endParaRPr lang="vi-VN" sz="1800" dirty="0"/>
          </a:p>
        </p:txBody>
      </p:sp>
      <p:sp>
        <p:nvSpPr>
          <p:cNvPr id="22" name="Text 17"/>
          <p:cNvSpPr/>
          <p:nvPr/>
        </p:nvSpPr>
        <p:spPr>
          <a:xfrm>
            <a:off x="9382125" y="3413522"/>
            <a:ext cx="1795367" cy="768350"/>
          </a:xfrm>
          <a:prstGeom prst="rect">
            <a:avLst/>
          </a:prstGeom>
          <a:noFill/>
          <a:ln/>
        </p:spPr>
        <p:txBody>
          <a:bodyPr wrap="square" lIns="0" tIns="0" rIns="0" bIns="0" rtlCol="0" anchor="t">
            <a:normAutofit/>
          </a:bodyPr>
          <a:lstStyle/>
          <a:p>
            <a:pPr algn="l" indent="0" marL="0">
              <a:lnSpc>
                <a:spcPts val="1950"/>
              </a:lnSpc>
              <a:buNone/>
            </a:pPr>
            <a:r>
              <a:rPr lang="vi-VN" sz="1300" dirty="0">
                <a:solidFill>
                  <a:srgbClr val="BFD3C6"/>
                </a:solidFill>
                <a:latin typeface="Arial" pitchFamily="34" charset="0"/>
                <a:ea typeface="Arial" pitchFamily="34" charset="-122"/>
                <a:cs typeface="Arial" pitchFamily="34" charset="-120"/>
              </a:rPr>
              <a:t>Báo ngay khi vượt ngưỡng; báo cáo gửi định kỳ.</a:t>
            </a:r>
            <a:endParaRPr lang="vi-VN" sz="1300" dirty="0"/>
          </a:p>
        </p:txBody>
      </p:sp>
      <p:sp>
        <p:nvSpPr>
          <p:cNvPr id="23"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vi-VN" sz="1200" dirty="0">
                <a:solidFill>
                  <a:srgbClr val="6B7B70"/>
                </a:solidFill>
                <a:latin typeface="Arial" pitchFamily="34" charset="0"/>
                <a:ea typeface="Arial" pitchFamily="34" charset="-122"/>
                <a:cs typeface="Arial" pitchFamily="34" charset="-120"/>
              </a:rPr>
              <a:t>FlyBot · 3</a:t>
            </a:r>
            <a:endParaRPr lang="vi-VN"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261D"/>
        </a:solidFill>
      </p:bgPr>
    </p:bg>
    <p:spTree>
      <p:nvGrpSpPr>
        <p:cNvPr id="1" name=""/>
        <p:cNvGrpSpPr/>
        <p:nvPr/>
      </p:nvGrpSpPr>
      <p:grpSpPr>
        <a:xfrm>
          <a:off x="0" y="0"/>
          <a:ext cx="0" cy="0"/>
          <a:chOff x="0" y="0"/>
          <a:chExt cx="0" cy="0"/>
        </a:xfrm>
      </p:grpSpPr>
      <p:sp>
        <p:nvSpPr>
          <p:cNvPr id="2" name="Text 0"/>
          <p:cNvSpPr/>
          <p:nvPr/>
        </p:nvSpPr>
        <p:spPr>
          <a:xfrm>
            <a:off x="812800" y="1364159"/>
            <a:ext cx="2930144" cy="238720"/>
          </a:xfrm>
          <a:prstGeom prst="rect">
            <a:avLst/>
          </a:prstGeom>
          <a:noFill/>
          <a:ln/>
        </p:spPr>
        <p:txBody>
          <a:bodyPr wrap="square" lIns="0" tIns="0" rIns="0" bIns="0" rtlCol="0" anchor="t">
            <a:normAutofit/>
          </a:bodyPr>
          <a:lstStyle/>
          <a:p>
            <a:pPr algn="l" indent="0" marL="0">
              <a:lnSpc>
                <a:spcPts val="1680"/>
              </a:lnSpc>
              <a:buNone/>
            </a:pPr>
            <a:r>
              <a:rPr lang="vi-VN" sz="1200" b="1" spc="150" kern="0" dirty="0">
                <a:solidFill>
                  <a:srgbClr val="F2C230"/>
                </a:solidFill>
                <a:latin typeface="Arial" pitchFamily="34" charset="0"/>
                <a:ea typeface="Arial" pitchFamily="34" charset="-122"/>
                <a:cs typeface="Arial" pitchFamily="34" charset="-120"/>
              </a:rPr>
              <a:t>VIDEO GIỚI THIỆU</a:t>
            </a:r>
            <a:endParaRPr lang="vi-VN" sz="1200" dirty="0"/>
          </a:p>
        </p:txBody>
      </p:sp>
      <p:sp>
        <p:nvSpPr>
          <p:cNvPr id="3" name="Text 1"/>
          <p:cNvSpPr/>
          <p:nvPr>
            <p:ph type="title"/>
          </p:nvPr>
        </p:nvSpPr>
        <p:spPr>
          <a:xfrm>
            <a:off x="812800" y="1729879"/>
            <a:ext cx="2930144" cy="960041"/>
          </a:xfrm>
          <a:prstGeom prst="rect">
            <a:avLst/>
          </a:prstGeom>
          <a:noFill/>
          <a:ln/>
        </p:spPr>
        <p:txBody>
          <a:bodyPr wrap="square" lIns="0" tIns="0" rIns="0" bIns="0" rtlCol="0" anchor="t">
            <a:normAutofit/>
          </a:bodyPr>
          <a:lstStyle/>
          <a:p>
            <a:pPr algn="l" indent="0" marL="0">
              <a:lnSpc>
                <a:spcPts val="3680"/>
              </a:lnSpc>
              <a:buNone/>
            </a:pPr>
            <a:r>
              <a:rPr lang="vi-VN" sz="3200" b="1" i="0" dirty="0">
                <a:solidFill>
                  <a:srgbClr val="F5F7F1"/>
                </a:solidFill>
                <a:latin typeface="Arial" pitchFamily="34" charset="0"/>
                <a:ea typeface="Arial" pitchFamily="34" charset="-122"/>
                <a:cs typeface="Arial" pitchFamily="34" charset="-120"/>
              </a:rPr>
              <a:t>FlyBot trong 82 giây</a:t>
            </a:r>
            <a:endParaRPr lang="vi-VN" sz="3200" dirty="0"/>
          </a:p>
        </p:txBody>
      </p:sp>
      <p:sp>
        <p:nvSpPr>
          <p:cNvPr id="4" name="Text 2"/>
          <p:cNvSpPr/>
          <p:nvPr/>
        </p:nvSpPr>
        <p:spPr>
          <a:xfrm>
            <a:off x="812800" y="2816920"/>
            <a:ext cx="2930144" cy="1092200"/>
          </a:xfrm>
          <a:prstGeom prst="rect">
            <a:avLst/>
          </a:prstGeom>
          <a:noFill/>
          <a:ln/>
        </p:spPr>
        <p:txBody>
          <a:bodyPr wrap="square" lIns="0" tIns="0" rIns="0" bIns="0" rtlCol="0" anchor="t">
            <a:normAutofit/>
          </a:bodyPr>
          <a:lstStyle/>
          <a:p>
            <a:pPr algn="l" indent="0" marL="0">
              <a:lnSpc>
                <a:spcPts val="2100"/>
              </a:lnSpc>
              <a:buNone/>
            </a:pPr>
            <a:r>
              <a:rPr lang="vi-VN" sz="1400" dirty="0">
                <a:solidFill>
                  <a:srgbClr val="BFD3C6"/>
                </a:solidFill>
                <a:latin typeface="Arial" pitchFamily="34" charset="0"/>
                <a:ea typeface="Arial" pitchFamily="34" charset="-122"/>
                <a:cs typeface="Arial" pitchFamily="34" charset="-120"/>
              </a:rPr>
              <a:t>Một vòng qua ứng dụng: tổng quan, nhận dạng AI, camera, phân tích, báo cáo, trợ lý FlyBot và hướng dẫn nhanh.</a:t>
            </a:r>
            <a:endParaRPr lang="vi-VN" sz="1400" dirty="0"/>
          </a:p>
        </p:txBody>
      </p:sp>
      <p:sp>
        <p:nvSpPr>
          <p:cNvPr id="5" name="Text 3"/>
          <p:cNvSpPr/>
          <p:nvPr/>
        </p:nvSpPr>
        <p:spPr>
          <a:xfrm>
            <a:off x="812800" y="4036120"/>
            <a:ext cx="2930144" cy="274241"/>
          </a:xfrm>
          <a:prstGeom prst="rect">
            <a:avLst/>
          </a:prstGeom>
          <a:noFill/>
          <a:ln/>
        </p:spPr>
        <p:txBody>
          <a:bodyPr wrap="square" lIns="0" tIns="0" rIns="0" bIns="0" rtlCol="0" anchor="t">
            <a:normAutofit/>
          </a:bodyPr>
          <a:lstStyle/>
          <a:p>
            <a:pPr algn="l" indent="0" marL="0">
              <a:lnSpc>
                <a:spcPts val="1960"/>
              </a:lnSpc>
              <a:buNone/>
            </a:pPr>
            <a:r>
              <a:rPr lang="vi-VN" sz="1400" b="1" dirty="0">
                <a:solidFill>
                  <a:srgbClr val="F2C230"/>
                </a:solidFill>
                <a:latin typeface="Arial" pitchFamily="34" charset="0"/>
                <a:ea typeface="Arial" pitchFamily="34" charset="-122"/>
                <a:cs typeface="Arial" pitchFamily="34" charset="-120"/>
              </a:rPr>
              <a:t>▶ </a:t>
            </a:r>
            <a:r>
              <a:rPr lang="vi-VN" sz="1400" b="1" u="sng" dirty="0">
                <a:solidFill>
                  <a:srgbClr val="F2C230"/>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Xem video trên website</a:t>
            </a:r>
            <a:endParaRPr lang="vi-VN" sz="1400" dirty="0"/>
          </a:p>
        </p:txBody>
      </p:sp>
      <p:sp>
        <p:nvSpPr>
          <p:cNvPr id="6" name="Text 4"/>
          <p:cNvSpPr/>
          <p:nvPr/>
        </p:nvSpPr>
        <p:spPr>
          <a:xfrm>
            <a:off x="812800" y="4437360"/>
            <a:ext cx="2930144" cy="878681"/>
          </a:xfrm>
          <a:prstGeom prst="rect">
            <a:avLst/>
          </a:prstGeom>
          <a:noFill/>
          <a:ln/>
        </p:spPr>
        <p:txBody>
          <a:bodyPr wrap="square" lIns="0" tIns="0" rIns="0" bIns="0" rtlCol="0" anchor="t">
            <a:normAutofit/>
          </a:bodyPr>
          <a:lstStyle/>
          <a:p>
            <a:pPr algn="l" indent="0" marL="0">
              <a:lnSpc>
                <a:spcPts val="1680"/>
              </a:lnSpc>
              <a:buNone/>
            </a:pPr>
            <a:r>
              <a:rPr lang="vi-VN" sz="1200" dirty="0">
                <a:solidFill>
                  <a:srgbClr val="8FA898"/>
                </a:solidFill>
                <a:latin typeface="Arial" pitchFamily="34" charset="0"/>
                <a:ea typeface="Arial" pitchFamily="34" charset="-122"/>
                <a:cs typeface="Arial" pitchFamily="34" charset="-120"/>
              </a:rPr>
              <a:t>Video tự chạy khi trình chiếu. Trong file PDF hoặc PowerPoint, bấm vào video hoặc link trên để xem bản mới nhất trên website.</a:t>
            </a:r>
            <a:endParaRPr lang="vi-VN" sz="1200" dirty="0"/>
          </a:p>
        </p:txBody>
      </p:sp>
      <p:sp>
        <p:nvSpPr>
          <p:cNvPr id="7" name="Shape 5"/>
          <p:cNvSpPr/>
          <p:nvPr/>
        </p:nvSpPr>
        <p:spPr>
          <a:xfrm>
            <a:off x="4064000" y="1270000"/>
            <a:ext cx="7315200" cy="4114800"/>
          </a:xfrm>
          <a:prstGeom prst="roundRect">
            <a:avLst>
              <a:gd name="adj" fmla="val 2469"/>
            </a:avLst>
          </a:prstGeom>
          <a:solidFill>
            <a:srgbClr val="0B1712"/>
          </a:solidFill>
          <a:ln/>
          <a:effectLst>
            <a:outerShdw sx="100000" sy="100000" kx="0" ky="0" algn="bl" rotWithShape="0" blurRad="406400" dist="203200" dir="5400000">
              <a:srgbClr val="000000">
                <a:alpha val="35000"/>
              </a:srgbClr>
            </a:outerShdw>
          </a:effectLst>
        </p:spPr>
      </p:sp>
      <p:pic>
        <p:nvPicPr>
          <p:cNvPr id="8" name="Image 0" descr="Video giới thiệu FlyBot: một vòng qua các màn hình chính của ứng dụng">
            <a:hlinkClick r:id="rId5"/>
          </p:cNvPr>
          <p:cNvPicPr>
            <a:picLocks noChangeAspect="1"/>
          </p:cNvPicPr>
          <p:nvPr/>
        </p:nvPicPr>
        <p:blipFill>
          <a:blip r:embed="rId2"/>
          <a:srcRect l="-68" r="-68" t="0" b="0"/>
          <a:stretch/>
        </p:blipFill>
        <p:spPr>
          <a:xfrm>
            <a:off x="4070350" y="1276350"/>
            <a:ext cx="7302500" cy="4102100"/>
          </a:xfrm>
          <a:prstGeom prst="roundRect">
            <a:avLst>
              <a:gd name="adj" fmla="val 2322"/>
            </a:avLst>
          </a:prstGeom>
        </p:spPr>
      </p:pic>
      <p:sp>
        <p:nvSpPr>
          <p:cNvPr id="11" name="Play video">
            <a:hlinkClick r:id="rId5"/>
          </p:cNvPr>
          <p:cNvSpPr/>
          <p:nvPr/>
        </p:nvSpPr>
        <p:spPr>
          <a:xfrm>
            <a:off x="7352411" y="2958211"/>
            <a:ext cx="738378" cy="738378"/>
          </a:xfrm>
          <a:prstGeom prst="ellipse">
            <a:avLst/>
          </a:prstGeom>
          <a:solidFill>
            <a:srgbClr val="F2C230">
              <a:alpha val="92000"/>
            </a:srgbClr>
          </a:solidFill>
          <a:ln>
            <a:noFill/>
          </a:ln>
        </p:spPr>
      </p:sp>
      <p:sp>
        <p:nvSpPr>
          <p:cNvPr id="12" name="Play icon">
            <a:hlinkClick r:id="rId5"/>
          </p:cNvPr>
          <p:cNvSpPr/>
          <p:nvPr/>
        </p:nvSpPr>
        <p:spPr>
          <a:xfrm rot="5400000">
            <a:off x="7591350" y="3172341"/>
            <a:ext cx="310119" cy="310119"/>
          </a:xfrm>
          <a:prstGeom prst="triangle">
            <a:avLst/>
          </a:prstGeom>
          <a:solidFill>
            <a:srgbClr val="13261D">
              <a:alpha val="100000"/>
            </a:srgbClr>
          </a:solidFill>
          <a:ln>
            <a:noFill/>
          </a:ln>
        </p:spPr>
      </p:sp>
      <p:sp>
        <p:nvSpPr>
          <p:cNvPr id="9" name="Shape 6"/>
          <p:cNvSpPr/>
          <p:nvPr/>
        </p:nvSpPr>
        <p:spPr>
          <a:xfrm>
            <a:off x="4067175" y="1273175"/>
            <a:ext cx="7308850" cy="4108450"/>
          </a:xfrm>
          <a:prstGeom prst="roundRect">
            <a:avLst>
              <a:gd name="adj" fmla="val 2396"/>
            </a:avLst>
          </a:prstGeom>
          <a:noFill/>
          <a:ln w="6350">
            <a:solidFill>
              <a:srgbClr val="2E4A3B"/>
            </a:solidFill>
            <a:prstDash val="solid"/>
          </a:ln>
        </p:spPr>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vi-VN" sz="1200" dirty="0">
                <a:solidFill>
                  <a:srgbClr val="8FA898"/>
                </a:solidFill>
                <a:latin typeface="Arial" pitchFamily="34" charset="0"/>
                <a:ea typeface="Arial" pitchFamily="34" charset="-122"/>
                <a:cs typeface="Arial" pitchFamily="34" charset="-120"/>
              </a:rPr>
              <a:t>FlyBot · 4</a:t>
            </a:r>
            <a:endParaRPr lang="vi-VN"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31"/>
          </a:xfrm>
          <a:prstGeom prst="rect">
            <a:avLst/>
          </a:prstGeom>
          <a:noFill/>
          <a:ln/>
        </p:spPr>
        <p:txBody>
          <a:bodyPr wrap="square" lIns="0" tIns="0" rIns="0" bIns="0" rtlCol="0" anchor="t">
            <a:normAutofit/>
          </a:bodyPr>
          <a:lstStyle/>
          <a:p>
            <a:pPr algn="l" indent="0" marL="0">
              <a:lnSpc>
                <a:spcPts val="1675"/>
              </a:lnSpc>
              <a:buNone/>
            </a:pPr>
            <a:r>
              <a:rPr lang="vi-VN" sz="1196" b="1" spc="150" kern="0" dirty="0">
                <a:solidFill>
                  <a:srgbClr val="1D7A50"/>
                </a:solidFill>
                <a:latin typeface="Arial" pitchFamily="34" charset="0"/>
                <a:ea typeface="Arial" pitchFamily="34" charset="-122"/>
                <a:cs typeface="Arial" pitchFamily="34" charset="-120"/>
              </a:rPr>
              <a:t>TỔNG QUAN</a:t>
            </a:r>
            <a:endParaRPr lang="vi-VN" sz="1196" dirty="0"/>
          </a:p>
        </p:txBody>
      </p:sp>
      <p:sp>
        <p:nvSpPr>
          <p:cNvPr id="3" name="Text 1"/>
          <p:cNvSpPr/>
          <p:nvPr>
            <p:ph type="title"/>
          </p:nvPr>
        </p:nvSpPr>
        <p:spPr>
          <a:xfrm>
            <a:off x="812800" y="1126331"/>
            <a:ext cx="10883392" cy="489744"/>
          </a:xfrm>
          <a:prstGeom prst="rect">
            <a:avLst/>
          </a:prstGeom>
          <a:noFill/>
          <a:ln/>
        </p:spPr>
        <p:txBody>
          <a:bodyPr wrap="square" lIns="0" tIns="0" rIns="0" bIns="0" rtlCol="0" anchor="t">
            <a:normAutofit/>
          </a:bodyPr>
          <a:lstStyle/>
          <a:p>
            <a:pPr algn="l" indent="0" marL="0">
              <a:lnSpc>
                <a:spcPts val="3668"/>
              </a:lnSpc>
              <a:buNone/>
            </a:pPr>
            <a:r>
              <a:rPr lang="vi-VN" sz="3190" b="1" i="0" dirty="0">
                <a:solidFill>
                  <a:srgbClr val="13261D"/>
                </a:solidFill>
                <a:latin typeface="Arial" pitchFamily="34" charset="0"/>
                <a:ea typeface="Arial" pitchFamily="34" charset="-122"/>
                <a:cs typeface="Arial" pitchFamily="34" charset="-120"/>
              </a:rPr>
              <a:t>Cả vườn trong một màn hình</a:t>
            </a:r>
            <a:endParaRPr lang="vi-VN" sz="3190" dirty="0"/>
          </a:p>
        </p:txBody>
      </p:sp>
      <p:sp>
        <p:nvSpPr>
          <p:cNvPr id="4" name="Shape 2"/>
          <p:cNvSpPr/>
          <p:nvPr/>
        </p:nvSpPr>
        <p:spPr>
          <a:xfrm>
            <a:off x="812800" y="1895475"/>
            <a:ext cx="6350000" cy="3968750"/>
          </a:xfrm>
          <a:prstGeom prst="roundRect">
            <a:avLst>
              <a:gd name="adj" fmla="val 2560"/>
            </a:avLst>
          </a:prstGeom>
          <a:solidFill>
            <a:srgbClr val="FFFFFF"/>
          </a:solidFill>
          <a:ln/>
          <a:effectLst>
            <a:outerShdw sx="100000" sy="100000" kx="0" ky="0" algn="bl" rotWithShape="0" blurRad="304800" dist="152400" dir="5400000">
              <a:srgbClr val="13261D">
                <a:alpha val="12000"/>
              </a:srgbClr>
            </a:outerShdw>
          </a:effectLst>
        </p:spPr>
      </p:sp>
      <p:pic>
        <p:nvPicPr>
          <p:cNvPr id="5" name="Image 0" descr="Màn hình Tổng quan: thẻ ruồi vào bẫy hôm nay, ruồi/bẫy/ngày, camera hoạt động và chỉ số nguy cơ, cùng danh sách bẫy">    </p:cNvPr>
          <p:cNvPicPr>
            <a:picLocks noChangeAspect="1"/>
          </p:cNvPicPr>
          <p:nvPr/>
        </p:nvPicPr>
        <p:blipFill>
          <a:blip r:embed="rId1"/>
          <a:srcRect l="-60" r="-60" t="0" b="0"/>
          <a:stretch/>
        </p:blipFill>
        <p:spPr>
          <a:xfrm>
            <a:off x="819150" y="1901825"/>
            <a:ext cx="6337300" cy="3956050"/>
          </a:xfrm>
          <a:prstGeom prst="roundRect">
            <a:avLst>
              <a:gd name="adj" fmla="val 2408"/>
            </a:avLst>
          </a:prstGeom>
        </p:spPr>
      </p:pic>
      <p:sp>
        <p:nvSpPr>
          <p:cNvPr id="6" name="Shape 3"/>
          <p:cNvSpPr/>
          <p:nvPr/>
        </p:nvSpPr>
        <p:spPr>
          <a:xfrm>
            <a:off x="815975" y="1898650"/>
            <a:ext cx="6343650" cy="3962400"/>
          </a:xfrm>
          <a:prstGeom prst="roundRect">
            <a:avLst>
              <a:gd name="adj" fmla="val 2484"/>
            </a:avLst>
          </a:prstGeom>
          <a:noFill/>
          <a:ln w="6350">
            <a:solidFill>
              <a:srgbClr val="DCE3DA"/>
            </a:solidFill>
            <a:prstDash val="solid"/>
          </a:ln>
        </p:spPr>
      </p:sp>
      <p:sp>
        <p:nvSpPr>
          <p:cNvPr id="7" name="Text 4"/>
          <p:cNvSpPr/>
          <p:nvPr/>
        </p:nvSpPr>
        <p:spPr>
          <a:xfrm>
            <a:off x="7569200" y="1895475"/>
            <a:ext cx="3924300" cy="279400"/>
          </a:xfrm>
          <a:prstGeom prst="rect">
            <a:avLst/>
          </a:prstGeom>
          <a:noFill/>
          <a:ln/>
        </p:spPr>
        <p:txBody>
          <a:bodyPr wrap="square" lIns="0" tIns="0" rIns="0" bIns="0" rtlCol="0" anchor="t">
            <a:normAutofit/>
          </a:bodyPr>
          <a:lstStyle/>
          <a:p>
            <a:pPr algn="l" indent="0" marL="0">
              <a:lnSpc>
                <a:spcPts val="2000"/>
              </a:lnSpc>
              <a:buNone/>
            </a:pPr>
            <a:r>
              <a:rPr lang="vi-VN" sz="1600" b="1" dirty="0">
                <a:solidFill>
                  <a:srgbClr val="13261D"/>
                </a:solidFill>
                <a:latin typeface="Arial" pitchFamily="34" charset="0"/>
                <a:ea typeface="Arial" pitchFamily="34" charset="-122"/>
                <a:cs typeface="Arial" pitchFamily="34" charset="-120"/>
              </a:rPr>
              <a:t>Ruồi vào bẫy hôm nay</a:t>
            </a:r>
            <a:endParaRPr lang="vi-VN" sz="1600" dirty="0"/>
          </a:p>
        </p:txBody>
      </p:sp>
      <p:sp>
        <p:nvSpPr>
          <p:cNvPr id="8" name="Text 5"/>
          <p:cNvSpPr/>
          <p:nvPr/>
        </p:nvSpPr>
        <p:spPr>
          <a:xfrm>
            <a:off x="7569200" y="2200275"/>
            <a:ext cx="4572000" cy="273050"/>
          </a:xfrm>
          <a:prstGeom prst="rect">
            <a:avLst/>
          </a:prstGeom>
          <a:noFill/>
          <a:ln/>
        </p:spPr>
        <p:txBody>
          <a:bodyPr wrap="square" lIns="0" tIns="0" rIns="0" bIns="0" rtlCol="0" anchor="t">
            <a:normAutofit/>
          </a:bodyPr>
          <a:lstStyle/>
          <a:p>
            <a:pPr algn="l" indent="0" marL="0">
              <a:lnSpc>
                <a:spcPts val="1950"/>
              </a:lnSpc>
              <a:buNone/>
            </a:pPr>
            <a:r>
              <a:rPr lang="vi-VN" sz="1300" dirty="0">
                <a:solidFill>
                  <a:srgbClr val="4A5A50"/>
                </a:solidFill>
                <a:latin typeface="Arial" pitchFamily="34" charset="0"/>
                <a:ea typeface="Arial" pitchFamily="34" charset="-122"/>
                <a:cs typeface="Arial" pitchFamily="34" charset="-120"/>
              </a:rPr>
              <a:t>Số con mới, không phải tổng dồn trên tấm keo.</a:t>
            </a:r>
            <a:endParaRPr lang="vi-VN" sz="1300" dirty="0"/>
          </a:p>
        </p:txBody>
      </p:sp>
      <p:sp>
        <p:nvSpPr>
          <p:cNvPr id="9" name="Text 6"/>
          <p:cNvSpPr/>
          <p:nvPr/>
        </p:nvSpPr>
        <p:spPr>
          <a:xfrm>
            <a:off x="7569200" y="2701925"/>
            <a:ext cx="3924300" cy="279400"/>
          </a:xfrm>
          <a:prstGeom prst="rect">
            <a:avLst/>
          </a:prstGeom>
          <a:noFill/>
          <a:ln/>
        </p:spPr>
        <p:txBody>
          <a:bodyPr wrap="square" lIns="0" tIns="0" rIns="0" bIns="0" rtlCol="0" anchor="t">
            <a:normAutofit/>
          </a:bodyPr>
          <a:lstStyle/>
          <a:p>
            <a:pPr algn="l" indent="0" marL="0">
              <a:lnSpc>
                <a:spcPts val="2000"/>
              </a:lnSpc>
              <a:buNone/>
            </a:pPr>
            <a:r>
              <a:rPr lang="vi-VN" sz="1600" b="1" dirty="0">
                <a:solidFill>
                  <a:srgbClr val="13261D"/>
                </a:solidFill>
                <a:latin typeface="Arial" pitchFamily="34" charset="0"/>
                <a:ea typeface="Arial" pitchFamily="34" charset="-122"/>
                <a:cs typeface="Arial" pitchFamily="34" charset="-120"/>
              </a:rPr>
              <a:t>Ruồi/bẫy/ngày</a:t>
            </a:r>
            <a:endParaRPr lang="vi-VN" sz="1600" dirty="0"/>
          </a:p>
        </p:txBody>
      </p:sp>
      <p:sp>
        <p:nvSpPr>
          <p:cNvPr id="10" name="Text 7"/>
          <p:cNvSpPr/>
          <p:nvPr/>
        </p:nvSpPr>
        <p:spPr>
          <a:xfrm>
            <a:off x="7569200" y="3006725"/>
            <a:ext cx="3924300" cy="520700"/>
          </a:xfrm>
          <a:prstGeom prst="rect">
            <a:avLst/>
          </a:prstGeom>
          <a:noFill/>
          <a:ln/>
        </p:spPr>
        <p:txBody>
          <a:bodyPr wrap="square" lIns="0" tIns="0" rIns="0" bIns="0" rtlCol="0" anchor="t">
            <a:normAutofit/>
          </a:bodyPr>
          <a:lstStyle/>
          <a:p>
            <a:pPr algn="l" indent="0" marL="0">
              <a:lnSpc>
                <a:spcPts val="1950"/>
              </a:lnSpc>
              <a:buNone/>
            </a:pPr>
            <a:r>
              <a:rPr lang="vi-VN" sz="1300" dirty="0">
                <a:solidFill>
                  <a:srgbClr val="4A5A50"/>
                </a:solidFill>
                <a:latin typeface="Arial" pitchFamily="34" charset="0"/>
                <a:ea typeface="Arial" pitchFamily="34" charset="-122"/>
                <a:cs typeface="Arial" pitchFamily="34" charset="-120"/>
              </a:rPr>
              <a:t>Chỉ số chuẩn để so sánh giữa các bẫy và với tuần trước.</a:t>
            </a:r>
            <a:endParaRPr lang="vi-VN" sz="1300" dirty="0"/>
          </a:p>
        </p:txBody>
      </p:sp>
      <p:sp>
        <p:nvSpPr>
          <p:cNvPr id="11" name="Text 8"/>
          <p:cNvSpPr/>
          <p:nvPr/>
        </p:nvSpPr>
        <p:spPr>
          <a:xfrm>
            <a:off x="7569200" y="3756025"/>
            <a:ext cx="3924300" cy="279400"/>
          </a:xfrm>
          <a:prstGeom prst="rect">
            <a:avLst/>
          </a:prstGeom>
          <a:noFill/>
          <a:ln/>
        </p:spPr>
        <p:txBody>
          <a:bodyPr wrap="square" lIns="0" tIns="0" rIns="0" bIns="0" rtlCol="0" anchor="t">
            <a:normAutofit/>
          </a:bodyPr>
          <a:lstStyle/>
          <a:p>
            <a:pPr algn="l" indent="0" marL="0">
              <a:lnSpc>
                <a:spcPts val="2000"/>
              </a:lnSpc>
              <a:buNone/>
            </a:pPr>
            <a:r>
              <a:rPr lang="vi-VN" sz="1600" b="1" dirty="0">
                <a:solidFill>
                  <a:srgbClr val="13261D"/>
                </a:solidFill>
                <a:latin typeface="Arial" pitchFamily="34" charset="0"/>
                <a:ea typeface="Arial" pitchFamily="34" charset="-122"/>
                <a:cs typeface="Arial" pitchFamily="34" charset="-120"/>
              </a:rPr>
              <a:t>Nguy cơ theo từng bẫy</a:t>
            </a:r>
            <a:endParaRPr lang="vi-VN" sz="1600" dirty="0"/>
          </a:p>
        </p:txBody>
      </p:sp>
      <p:sp>
        <p:nvSpPr>
          <p:cNvPr id="12" name="Text 9"/>
          <p:cNvSpPr/>
          <p:nvPr/>
        </p:nvSpPr>
        <p:spPr>
          <a:xfrm>
            <a:off x="7569200" y="4060825"/>
            <a:ext cx="3924300" cy="520700"/>
          </a:xfrm>
          <a:prstGeom prst="rect">
            <a:avLst/>
          </a:prstGeom>
          <a:noFill/>
          <a:ln/>
        </p:spPr>
        <p:txBody>
          <a:bodyPr wrap="square" lIns="0" tIns="0" rIns="0" bIns="0" rtlCol="0" anchor="t">
            <a:normAutofit/>
          </a:bodyPr>
          <a:lstStyle/>
          <a:p>
            <a:pPr algn="l" indent="0" marL="0">
              <a:lnSpc>
                <a:spcPts val="1950"/>
              </a:lnSpc>
              <a:buNone/>
            </a:pPr>
            <a:r>
              <a:rPr lang="vi-VN" sz="1300" dirty="0">
                <a:solidFill>
                  <a:srgbClr val="4A5A50"/>
                </a:solidFill>
                <a:latin typeface="Arial" pitchFamily="34" charset="0"/>
                <a:ea typeface="Arial" pitchFamily="34" charset="-122"/>
                <a:cs typeface="Arial" pitchFamily="34" charset="-120"/>
              </a:rPr>
              <a:t>So với ngưỡng riêng của mỗi bẫy, kèm ảnh nhận dạng mới nhất.</a:t>
            </a:r>
            <a:endParaRPr lang="vi-VN"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vi-VN" sz="1200" dirty="0">
                <a:solidFill>
                  <a:srgbClr val="6B7B70"/>
                </a:solidFill>
                <a:latin typeface="Arial" pitchFamily="34" charset="0"/>
                <a:ea typeface="Arial" pitchFamily="34" charset="-122"/>
                <a:cs typeface="Arial" pitchFamily="34" charset="-120"/>
              </a:rPr>
              <a:t>FlyBot · 5</a:t>
            </a:r>
            <a:endParaRPr lang="vi-VN"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31"/>
          </a:xfrm>
          <a:prstGeom prst="rect">
            <a:avLst/>
          </a:prstGeom>
          <a:noFill/>
          <a:ln/>
        </p:spPr>
        <p:txBody>
          <a:bodyPr wrap="square" lIns="0" tIns="0" rIns="0" bIns="0" rtlCol="0" anchor="t">
            <a:normAutofit/>
          </a:bodyPr>
          <a:lstStyle/>
          <a:p>
            <a:pPr algn="l" indent="0" marL="0">
              <a:lnSpc>
                <a:spcPts val="1675"/>
              </a:lnSpc>
              <a:buNone/>
            </a:pPr>
            <a:r>
              <a:rPr lang="vi-VN" sz="1196" b="1" spc="150" kern="0" dirty="0">
                <a:solidFill>
                  <a:srgbClr val="1D7A50"/>
                </a:solidFill>
                <a:latin typeface="Arial" pitchFamily="34" charset="0"/>
                <a:ea typeface="Arial" pitchFamily="34" charset="-122"/>
                <a:cs typeface="Arial" pitchFamily="34" charset="-120"/>
              </a:rPr>
              <a:t>NHẬN DẠNG AI</a:t>
            </a:r>
            <a:endParaRPr lang="vi-VN" sz="1196" dirty="0"/>
          </a:p>
        </p:txBody>
      </p:sp>
      <p:sp>
        <p:nvSpPr>
          <p:cNvPr id="3" name="Text 1"/>
          <p:cNvSpPr/>
          <p:nvPr>
            <p:ph type="title"/>
          </p:nvPr>
        </p:nvSpPr>
        <p:spPr>
          <a:xfrm>
            <a:off x="812800" y="1126331"/>
            <a:ext cx="10883392" cy="489744"/>
          </a:xfrm>
          <a:prstGeom prst="rect">
            <a:avLst/>
          </a:prstGeom>
          <a:noFill/>
          <a:ln/>
        </p:spPr>
        <p:txBody>
          <a:bodyPr wrap="square" lIns="0" tIns="0" rIns="0" bIns="0" rtlCol="0" anchor="t">
            <a:normAutofit/>
          </a:bodyPr>
          <a:lstStyle/>
          <a:p>
            <a:pPr algn="l" indent="0" marL="0">
              <a:lnSpc>
                <a:spcPts val="3668"/>
              </a:lnSpc>
              <a:buNone/>
            </a:pPr>
            <a:r>
              <a:rPr lang="vi-VN" sz="3190" b="1" i="0" dirty="0">
                <a:solidFill>
                  <a:srgbClr val="13261D"/>
                </a:solidFill>
                <a:latin typeface="Arial" pitchFamily="34" charset="0"/>
                <a:ea typeface="Arial" pitchFamily="34" charset="-122"/>
                <a:cs typeface="Arial" pitchFamily="34" charset="-120"/>
              </a:rPr>
              <a:t>Từng con được khoanh và gọi đúng tên</a:t>
            </a:r>
            <a:endParaRPr lang="vi-VN" sz="3190" dirty="0"/>
          </a:p>
        </p:txBody>
      </p:sp>
      <p:sp>
        <p:nvSpPr>
          <p:cNvPr id="4" name="Shape 2"/>
          <p:cNvSpPr/>
          <p:nvPr/>
        </p:nvSpPr>
        <p:spPr>
          <a:xfrm>
            <a:off x="812800" y="1895475"/>
            <a:ext cx="6350000" cy="3968750"/>
          </a:xfrm>
          <a:prstGeom prst="roundRect">
            <a:avLst>
              <a:gd name="adj" fmla="val 2560"/>
            </a:avLst>
          </a:prstGeom>
          <a:solidFill>
            <a:srgbClr val="FFFFFF"/>
          </a:solidFill>
          <a:ln/>
          <a:effectLst>
            <a:outerShdw sx="100000" sy="100000" kx="0" ky="0" algn="bl" rotWithShape="0" blurRad="304800" dist="152400" dir="5400000">
              <a:srgbClr val="13261D">
                <a:alpha val="12000"/>
              </a:srgbClr>
            </a:outerShdw>
          </a:effectLst>
        </p:spPr>
      </p:sp>
      <p:pic>
        <p:nvPicPr>
          <p:cNvPr id="5" name="Image 0" descr="Ảnh tấm bẫy dính với khung nhận dạng quanh từng con ruồi vàng và bướm đêm, kèm thống kê theo loài">    </p:cNvPr>
          <p:cNvPicPr>
            <a:picLocks noChangeAspect="1"/>
          </p:cNvPicPr>
          <p:nvPr/>
        </p:nvPicPr>
        <p:blipFill>
          <a:blip r:embed="rId1"/>
          <a:srcRect l="-60" r="-60" t="0" b="0"/>
          <a:stretch/>
        </p:blipFill>
        <p:spPr>
          <a:xfrm>
            <a:off x="819150" y="1901825"/>
            <a:ext cx="6337300" cy="3956050"/>
          </a:xfrm>
          <a:prstGeom prst="roundRect">
            <a:avLst>
              <a:gd name="adj" fmla="val 2408"/>
            </a:avLst>
          </a:prstGeom>
        </p:spPr>
      </p:pic>
      <p:sp>
        <p:nvSpPr>
          <p:cNvPr id="6" name="Shape 3"/>
          <p:cNvSpPr/>
          <p:nvPr/>
        </p:nvSpPr>
        <p:spPr>
          <a:xfrm>
            <a:off x="815975" y="1898650"/>
            <a:ext cx="6343650" cy="3962400"/>
          </a:xfrm>
          <a:prstGeom prst="roundRect">
            <a:avLst>
              <a:gd name="adj" fmla="val 2484"/>
            </a:avLst>
          </a:prstGeom>
          <a:noFill/>
          <a:ln w="6350">
            <a:solidFill>
              <a:srgbClr val="DCE3DA"/>
            </a:solidFill>
            <a:prstDash val="solid"/>
          </a:ln>
        </p:spPr>
      </p:sp>
      <p:sp>
        <p:nvSpPr>
          <p:cNvPr id="7" name="Text 4"/>
          <p:cNvSpPr/>
          <p:nvPr/>
        </p:nvSpPr>
        <p:spPr>
          <a:xfrm>
            <a:off x="7569200" y="1895475"/>
            <a:ext cx="3924300" cy="279400"/>
          </a:xfrm>
          <a:prstGeom prst="rect">
            <a:avLst/>
          </a:prstGeom>
          <a:noFill/>
          <a:ln/>
        </p:spPr>
        <p:txBody>
          <a:bodyPr wrap="square" lIns="0" tIns="0" rIns="0" bIns="0" rtlCol="0" anchor="t">
            <a:normAutofit/>
          </a:bodyPr>
          <a:lstStyle/>
          <a:p>
            <a:pPr algn="l" indent="0" marL="0">
              <a:lnSpc>
                <a:spcPts val="2000"/>
              </a:lnSpc>
              <a:buNone/>
            </a:pPr>
            <a:r>
              <a:rPr lang="vi-VN" sz="1600" b="1" dirty="0">
                <a:solidFill>
                  <a:srgbClr val="13261D"/>
                </a:solidFill>
                <a:latin typeface="Arial" pitchFamily="34" charset="0"/>
                <a:ea typeface="Arial" pitchFamily="34" charset="-122"/>
                <a:cs typeface="Arial" pitchFamily="34" charset="-120"/>
              </a:rPr>
              <a:t>Khung và tên loài</a:t>
            </a:r>
            <a:endParaRPr lang="vi-VN" sz="1600" dirty="0"/>
          </a:p>
        </p:txBody>
      </p:sp>
      <p:sp>
        <p:nvSpPr>
          <p:cNvPr id="8" name="Text 5"/>
          <p:cNvSpPr/>
          <p:nvPr/>
        </p:nvSpPr>
        <p:spPr>
          <a:xfrm>
            <a:off x="7569200" y="2200275"/>
            <a:ext cx="3924300" cy="520700"/>
          </a:xfrm>
          <a:prstGeom prst="rect">
            <a:avLst/>
          </a:prstGeom>
          <a:noFill/>
          <a:ln/>
        </p:spPr>
        <p:txBody>
          <a:bodyPr wrap="square" lIns="0" tIns="0" rIns="0" bIns="0" rtlCol="0" anchor="t">
            <a:normAutofit/>
          </a:bodyPr>
          <a:lstStyle/>
          <a:p>
            <a:pPr algn="l" indent="0" marL="0">
              <a:lnSpc>
                <a:spcPts val="1950"/>
              </a:lnSpc>
              <a:buNone/>
            </a:pPr>
            <a:r>
              <a:rPr lang="vi-VN" sz="1300" dirty="0">
                <a:solidFill>
                  <a:srgbClr val="4A5A50"/>
                </a:solidFill>
                <a:latin typeface="Arial" pitchFamily="34" charset="0"/>
                <a:ea typeface="Arial" pitchFamily="34" charset="-122"/>
                <a:cs typeface="Arial" pitchFamily="34" charset="-120"/>
              </a:rPr>
              <a:t>Mỗi con có khung, tên loài và độ tin cậy; thống kê theo loài.</a:t>
            </a:r>
            <a:endParaRPr lang="vi-VN" sz="1300" dirty="0"/>
          </a:p>
        </p:txBody>
      </p:sp>
      <p:sp>
        <p:nvSpPr>
          <p:cNvPr id="9" name="Text 6"/>
          <p:cNvSpPr/>
          <p:nvPr/>
        </p:nvSpPr>
        <p:spPr>
          <a:xfrm>
            <a:off x="7569200" y="2898775"/>
            <a:ext cx="3924300" cy="279400"/>
          </a:xfrm>
          <a:prstGeom prst="rect">
            <a:avLst/>
          </a:prstGeom>
          <a:noFill/>
          <a:ln/>
        </p:spPr>
        <p:txBody>
          <a:bodyPr wrap="square" lIns="0" tIns="0" rIns="0" bIns="0" rtlCol="0" anchor="t">
            <a:normAutofit/>
          </a:bodyPr>
          <a:lstStyle/>
          <a:p>
            <a:pPr algn="l" indent="0" marL="0">
              <a:lnSpc>
                <a:spcPts val="2000"/>
              </a:lnSpc>
              <a:buNone/>
            </a:pPr>
            <a:r>
              <a:rPr lang="vi-VN" sz="1600" b="1" dirty="0">
                <a:solidFill>
                  <a:srgbClr val="13261D"/>
                </a:solidFill>
                <a:latin typeface="Arial" pitchFamily="34" charset="0"/>
                <a:ea typeface="Arial" pitchFamily="34" charset="-122"/>
                <a:cs typeface="Arial" pitchFamily="34" charset="-120"/>
              </a:rPr>
              <a:t>Độ chính xác đã kiểm chứng</a:t>
            </a:r>
            <a:endParaRPr lang="vi-VN" sz="1600" dirty="0"/>
          </a:p>
        </p:txBody>
      </p:sp>
      <p:sp>
        <p:nvSpPr>
          <p:cNvPr id="10" name="Text 7"/>
          <p:cNvSpPr/>
          <p:nvPr/>
        </p:nvSpPr>
        <p:spPr>
          <a:xfrm>
            <a:off x="7569200" y="3203575"/>
            <a:ext cx="3924300" cy="520700"/>
          </a:xfrm>
          <a:prstGeom prst="rect">
            <a:avLst/>
          </a:prstGeom>
          <a:noFill/>
          <a:ln/>
        </p:spPr>
        <p:txBody>
          <a:bodyPr wrap="square" lIns="0" tIns="0" rIns="0" bIns="0" rtlCol="0" anchor="t">
            <a:normAutofit/>
          </a:bodyPr>
          <a:lstStyle/>
          <a:p>
            <a:pPr algn="l" indent="0" marL="0">
              <a:lnSpc>
                <a:spcPts val="1950"/>
              </a:lnSpc>
              <a:buNone/>
            </a:pPr>
            <a:r>
              <a:rPr lang="vi-VN" sz="1300" dirty="0">
                <a:solidFill>
                  <a:srgbClr val="4A5A50"/>
                </a:solidFill>
                <a:latin typeface="Arial" pitchFamily="34" charset="0"/>
                <a:ea typeface="Arial" pitchFamily="34" charset="-122"/>
                <a:cs typeface="Arial" pitchFamily="34" charset="-120"/>
              </a:rPr>
              <a:t>Trên ảnh kiểm thử: tìm thấy 92% số ruồi, 93% khung đúng là ruồi vàng.</a:t>
            </a:r>
            <a:endParaRPr lang="vi-VN" sz="1300" dirty="0"/>
          </a:p>
        </p:txBody>
      </p:sp>
      <p:sp>
        <p:nvSpPr>
          <p:cNvPr id="11" name="Text 8"/>
          <p:cNvSpPr/>
          <p:nvPr/>
        </p:nvSpPr>
        <p:spPr>
          <a:xfrm>
            <a:off x="7569200" y="3902075"/>
            <a:ext cx="3924300" cy="279400"/>
          </a:xfrm>
          <a:prstGeom prst="rect">
            <a:avLst/>
          </a:prstGeom>
          <a:noFill/>
          <a:ln/>
        </p:spPr>
        <p:txBody>
          <a:bodyPr wrap="square" lIns="0" tIns="0" rIns="0" bIns="0" rtlCol="0" anchor="t">
            <a:normAutofit/>
          </a:bodyPr>
          <a:lstStyle/>
          <a:p>
            <a:pPr algn="l" indent="0" marL="0">
              <a:lnSpc>
                <a:spcPts val="2000"/>
              </a:lnSpc>
              <a:buNone/>
            </a:pPr>
            <a:r>
              <a:rPr lang="vi-VN" sz="1600" b="1" dirty="0">
                <a:solidFill>
                  <a:srgbClr val="13261D"/>
                </a:solidFill>
                <a:latin typeface="Arial" pitchFamily="34" charset="0"/>
                <a:ea typeface="Arial" pitchFamily="34" charset="-122"/>
                <a:cs typeface="Arial" pitchFamily="34" charset="-120"/>
              </a:rPr>
              <a:t>Người kiểm tra lại</a:t>
            </a:r>
            <a:endParaRPr lang="vi-VN" sz="1600" dirty="0"/>
          </a:p>
        </p:txBody>
      </p:sp>
      <p:sp>
        <p:nvSpPr>
          <p:cNvPr id="12" name="Text 9"/>
          <p:cNvSpPr/>
          <p:nvPr/>
        </p:nvSpPr>
        <p:spPr>
          <a:xfrm>
            <a:off x="7569200" y="4206875"/>
            <a:ext cx="4572000" cy="273050"/>
          </a:xfrm>
          <a:prstGeom prst="rect">
            <a:avLst/>
          </a:prstGeom>
          <a:noFill/>
          <a:ln/>
        </p:spPr>
        <p:txBody>
          <a:bodyPr wrap="square" lIns="0" tIns="0" rIns="0" bIns="0" rtlCol="0" anchor="t">
            <a:normAutofit/>
          </a:bodyPr>
          <a:lstStyle/>
          <a:p>
            <a:pPr algn="l" indent="0" marL="0">
              <a:lnSpc>
                <a:spcPts val="1950"/>
              </a:lnSpc>
              <a:buNone/>
            </a:pPr>
            <a:r>
              <a:rPr lang="vi-VN" sz="1300" dirty="0">
                <a:solidFill>
                  <a:srgbClr val="4A5A50"/>
                </a:solidFill>
                <a:latin typeface="Arial" pitchFamily="34" charset="0"/>
                <a:ea typeface="Arial" pitchFamily="34" charset="-122"/>
                <a:cs typeface="Arial" pitchFamily="34" charset="-120"/>
              </a:rPr>
              <a:t>Xác nhận đúng hoặc sửa số đếm ngay trên ảnh.</a:t>
            </a:r>
            <a:endParaRPr lang="vi-VN" sz="1300" dirty="0"/>
          </a:p>
        </p:txBody>
      </p:sp>
      <p:sp>
        <p:nvSpPr>
          <p:cNvPr id="13" name="Text 10"/>
          <p:cNvSpPr/>
          <p:nvPr/>
        </p:nvSpPr>
        <p:spPr>
          <a:xfrm>
            <a:off x="7569200" y="4657725"/>
            <a:ext cx="3924300" cy="279400"/>
          </a:xfrm>
          <a:prstGeom prst="rect">
            <a:avLst/>
          </a:prstGeom>
          <a:noFill/>
          <a:ln/>
        </p:spPr>
        <p:txBody>
          <a:bodyPr wrap="square" lIns="0" tIns="0" rIns="0" bIns="0" rtlCol="0" anchor="t">
            <a:normAutofit/>
          </a:bodyPr>
          <a:lstStyle/>
          <a:p>
            <a:pPr algn="l" indent="0" marL="0">
              <a:lnSpc>
                <a:spcPts val="2000"/>
              </a:lnSpc>
              <a:buNone/>
            </a:pPr>
            <a:r>
              <a:rPr lang="vi-VN" sz="1600" b="1" dirty="0">
                <a:solidFill>
                  <a:srgbClr val="13261D"/>
                </a:solidFill>
                <a:latin typeface="Arial" pitchFamily="34" charset="0"/>
                <a:ea typeface="Arial" pitchFamily="34" charset="-122"/>
                <a:cs typeface="Arial" pitchFamily="34" charset="-120"/>
              </a:rPr>
              <a:t>AI ngày càng chính xác</a:t>
            </a:r>
            <a:endParaRPr lang="vi-VN" sz="1600" dirty="0"/>
          </a:p>
        </p:txBody>
      </p:sp>
      <p:sp>
        <p:nvSpPr>
          <p:cNvPr id="14" name="Text 11"/>
          <p:cNvSpPr/>
          <p:nvPr/>
        </p:nvSpPr>
        <p:spPr>
          <a:xfrm>
            <a:off x="7569200" y="4962525"/>
            <a:ext cx="3924300" cy="520700"/>
          </a:xfrm>
          <a:prstGeom prst="rect">
            <a:avLst/>
          </a:prstGeom>
          <a:noFill/>
          <a:ln/>
        </p:spPr>
        <p:txBody>
          <a:bodyPr wrap="square" lIns="0" tIns="0" rIns="0" bIns="0" rtlCol="0" anchor="t">
            <a:normAutofit/>
          </a:bodyPr>
          <a:lstStyle/>
          <a:p>
            <a:pPr algn="l" indent="0" marL="0">
              <a:lnSpc>
                <a:spcPts val="1950"/>
              </a:lnSpc>
              <a:buNone/>
            </a:pPr>
            <a:r>
              <a:rPr lang="vi-VN" sz="1300" dirty="0">
                <a:solidFill>
                  <a:srgbClr val="4A5A50"/>
                </a:solidFill>
                <a:latin typeface="Arial" pitchFamily="34" charset="0"/>
                <a:ea typeface="Arial" pitchFamily="34" charset="-122"/>
                <a:cs typeface="Arial" pitchFamily="34" charset="-120"/>
              </a:rPr>
              <a:t>Ảnh đã duyệt được gửi đi để huấn luyện lại mô hình.</a:t>
            </a:r>
            <a:endParaRPr lang="vi-VN" sz="1300" dirty="0"/>
          </a:p>
        </p:txBody>
      </p:sp>
      <p:sp>
        <p:nvSpPr>
          <p:cNvPr id="15"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vi-VN" sz="1200" dirty="0">
                <a:solidFill>
                  <a:srgbClr val="6B7B70"/>
                </a:solidFill>
                <a:latin typeface="Arial" pitchFamily="34" charset="0"/>
                <a:ea typeface="Arial" pitchFamily="34" charset="-122"/>
                <a:cs typeface="Arial" pitchFamily="34" charset="-120"/>
              </a:rPr>
              <a:t>FlyBot · 6</a:t>
            </a:r>
            <a:endParaRPr lang="vi-VN"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26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vi-VN" sz="1200" b="1" spc="150" kern="0" dirty="0">
                <a:solidFill>
                  <a:srgbClr val="F2C230"/>
                </a:solidFill>
                <a:latin typeface="Arial" pitchFamily="34" charset="0"/>
                <a:ea typeface="Arial" pitchFamily="34" charset="-122"/>
                <a:cs typeface="Arial" pitchFamily="34" charset="-120"/>
              </a:rPr>
              <a:t>HAI LOẠI BẪY</a:t>
            </a:r>
            <a:endParaRPr lang="vi-VN"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vi-VN" sz="3200" b="1" i="0" dirty="0">
                <a:solidFill>
                  <a:srgbClr val="F5F7F1"/>
                </a:solidFill>
                <a:latin typeface="Arial" pitchFamily="34" charset="0"/>
                <a:ea typeface="Arial" pitchFamily="34" charset="-122"/>
                <a:cs typeface="Arial" pitchFamily="34" charset="-120"/>
              </a:rPr>
              <a:t>Mỗi loại bẫy được đọc số theo cách riêng</a:t>
            </a:r>
            <a:endParaRPr lang="vi-VN" sz="3200" dirty="0"/>
          </a:p>
        </p:txBody>
      </p:sp>
      <p:sp>
        <p:nvSpPr>
          <p:cNvPr id="4" name="Shape 2"/>
          <p:cNvSpPr/>
          <p:nvPr/>
        </p:nvSpPr>
        <p:spPr>
          <a:xfrm>
            <a:off x="815975" y="2004616"/>
            <a:ext cx="5124450" cy="3834209"/>
          </a:xfrm>
          <a:prstGeom prst="roundRect">
            <a:avLst>
              <a:gd name="adj" fmla="val 3229"/>
            </a:avLst>
          </a:prstGeom>
          <a:solidFill>
            <a:srgbClr val="1E3A2C"/>
          </a:solidFill>
          <a:ln w="6350">
            <a:solidFill>
              <a:srgbClr val="2E4A3B"/>
            </a:solidFill>
            <a:prstDash val="solid"/>
          </a:ln>
        </p:spPr>
      </p:sp>
      <p:sp>
        <p:nvSpPr>
          <p:cNvPr id="5" name="Text 3"/>
          <p:cNvSpPr/>
          <p:nvPr/>
        </p:nvSpPr>
        <p:spPr>
          <a:xfrm>
            <a:off x="1174750" y="2363391"/>
            <a:ext cx="1397000" cy="314920"/>
          </a:xfrm>
          <a:prstGeom prst="roundRect">
            <a:avLst>
              <a:gd name="adj" fmla="val 50000"/>
            </a:avLst>
          </a:prstGeom>
          <a:solidFill>
            <a:srgbClr val="F2C230"/>
          </a:solidFill>
          <a:ln/>
        </p:spPr>
        <p:txBody>
          <a:bodyPr wrap="square" lIns="55481" tIns="4681" rIns="55481" bIns="0" rtlCol="0" anchor="t">
            <a:normAutofit/>
          </a:bodyPr>
          <a:lstStyle/>
          <a:p>
            <a:pPr algn="ctr" indent="0" marL="0">
              <a:lnSpc>
                <a:spcPts val="1680"/>
              </a:lnSpc>
              <a:buNone/>
            </a:pPr>
            <a:r>
              <a:rPr lang="vi-VN" sz="1200" b="1" dirty="0">
                <a:solidFill>
                  <a:srgbClr val="13261D"/>
                </a:solidFill>
                <a:latin typeface="Arial" pitchFamily="34" charset="0"/>
                <a:ea typeface="Arial" pitchFamily="34" charset="-122"/>
                <a:cs typeface="Arial" pitchFamily="34" charset="-120"/>
              </a:rPr>
              <a:t>Bẫy dính</a:t>
            </a:r>
            <a:endParaRPr lang="vi-VN" sz="1200" dirty="0"/>
          </a:p>
        </p:txBody>
      </p:sp>
      <p:sp>
        <p:nvSpPr>
          <p:cNvPr id="6" name="Text 4"/>
          <p:cNvSpPr/>
          <p:nvPr/>
        </p:nvSpPr>
        <p:spPr>
          <a:xfrm>
            <a:off x="1174750" y="2856111"/>
            <a:ext cx="4539107" cy="660400"/>
          </a:xfrm>
          <a:prstGeom prst="rect">
            <a:avLst/>
          </a:prstGeom>
          <a:noFill/>
          <a:ln/>
        </p:spPr>
        <p:txBody>
          <a:bodyPr wrap="square" lIns="0" tIns="0" rIns="0" bIns="0" rtlCol="0" anchor="t">
            <a:normAutofit/>
          </a:bodyPr>
          <a:lstStyle/>
          <a:p>
            <a:pPr algn="l" indent="0" marL="0">
              <a:lnSpc>
                <a:spcPts val="2500"/>
              </a:lnSpc>
              <a:buNone/>
            </a:pPr>
            <a:r>
              <a:rPr lang="vi-VN" sz="2000" b="1" dirty="0">
                <a:solidFill>
                  <a:srgbClr val="F5F7F1"/>
                </a:solidFill>
                <a:latin typeface="Arial" pitchFamily="34" charset="0"/>
                <a:ea typeface="Arial" pitchFamily="34" charset="-122"/>
                <a:cs typeface="Arial" pitchFamily="34" charset="-120"/>
              </a:rPr>
              <a:t>Ruồi vào bẫy = phần tăng thêm mỗi ngày</a:t>
            </a:r>
            <a:endParaRPr lang="vi-VN" sz="2000" dirty="0"/>
          </a:p>
        </p:txBody>
      </p:sp>
      <p:sp>
        <p:nvSpPr>
          <p:cNvPr id="7" name="Text 5"/>
          <p:cNvSpPr/>
          <p:nvPr/>
        </p:nvSpPr>
        <p:spPr>
          <a:xfrm>
            <a:off x="1174750" y="3668911"/>
            <a:ext cx="4539107" cy="825500"/>
          </a:xfrm>
          <a:prstGeom prst="rect">
            <a:avLst/>
          </a:prstGeom>
          <a:noFill/>
          <a:ln/>
        </p:spPr>
        <p:txBody>
          <a:bodyPr wrap="square" lIns="0" tIns="0" rIns="0" bIns="0" rtlCol="0" anchor="t">
            <a:normAutofit/>
          </a:bodyPr>
          <a:lstStyle/>
          <a:p>
            <a:pPr algn="l" indent="0" marL="0">
              <a:lnSpc>
                <a:spcPts val="2100"/>
              </a:lnSpc>
              <a:buNone/>
            </a:pPr>
            <a:r>
              <a:rPr lang="vi-VN" sz="1400" dirty="0">
                <a:solidFill>
                  <a:srgbClr val="BFD3C6"/>
                </a:solidFill>
                <a:latin typeface="Arial" pitchFamily="34" charset="0"/>
                <a:ea typeface="Arial" pitchFamily="34" charset="-122"/>
                <a:cs typeface="Arial" pitchFamily="34" charset="-120"/>
              </a:rPr>
              <a:t>Tấm keo giữ lại mọi con đã dính. FlyBot tính số con mới so với hôm trước, bỏ qua ngày thay tấm, và nhắc thay tấm theo tuổi tấm.</a:t>
            </a:r>
            <a:endParaRPr lang="vi-VN" sz="1400" dirty="0"/>
          </a:p>
        </p:txBody>
      </p:sp>
      <p:sp>
        <p:nvSpPr>
          <p:cNvPr id="8" name="Shape 6"/>
          <p:cNvSpPr/>
          <p:nvPr/>
        </p:nvSpPr>
        <p:spPr>
          <a:xfrm>
            <a:off x="6251575" y="2004616"/>
            <a:ext cx="5124450" cy="3834209"/>
          </a:xfrm>
          <a:prstGeom prst="roundRect">
            <a:avLst>
              <a:gd name="adj" fmla="val 3229"/>
            </a:avLst>
          </a:prstGeom>
          <a:solidFill>
            <a:srgbClr val="1E3A2C"/>
          </a:solidFill>
          <a:ln w="6350">
            <a:solidFill>
              <a:srgbClr val="2E4A3B"/>
            </a:solidFill>
            <a:prstDash val="solid"/>
          </a:ln>
        </p:spPr>
      </p:sp>
      <p:sp>
        <p:nvSpPr>
          <p:cNvPr id="9" name="Text 7"/>
          <p:cNvSpPr/>
          <p:nvPr/>
        </p:nvSpPr>
        <p:spPr>
          <a:xfrm>
            <a:off x="6610350" y="2363391"/>
            <a:ext cx="1651000" cy="314920"/>
          </a:xfrm>
          <a:prstGeom prst="roundRect">
            <a:avLst>
              <a:gd name="adj" fmla="val 50000"/>
            </a:avLst>
          </a:prstGeom>
          <a:solidFill>
            <a:srgbClr val="7FD3A8"/>
          </a:solidFill>
          <a:ln/>
        </p:spPr>
        <p:txBody>
          <a:bodyPr wrap="square" lIns="55481" tIns="4681" rIns="55481" bIns="0" rtlCol="0" anchor="t">
            <a:normAutofit/>
          </a:bodyPr>
          <a:lstStyle/>
          <a:p>
            <a:pPr algn="ctr" indent="0" marL="0">
              <a:lnSpc>
                <a:spcPts val="1680"/>
              </a:lnSpc>
              <a:buNone/>
            </a:pPr>
            <a:r>
              <a:rPr lang="vi-VN" sz="1200" b="1" dirty="0">
                <a:solidFill>
                  <a:srgbClr val="13261D"/>
                </a:solidFill>
                <a:latin typeface="Arial" pitchFamily="34" charset="0"/>
                <a:ea typeface="Arial" pitchFamily="34" charset="-122"/>
                <a:cs typeface="Arial" pitchFamily="34" charset="-120"/>
              </a:rPr>
              <a:t>Bẫy dẫn dụ</a:t>
            </a:r>
            <a:endParaRPr lang="vi-VN" sz="1200" dirty="0"/>
          </a:p>
        </p:txBody>
      </p:sp>
      <p:sp>
        <p:nvSpPr>
          <p:cNvPr id="10" name="Text 8"/>
          <p:cNvSpPr/>
          <p:nvPr/>
        </p:nvSpPr>
        <p:spPr>
          <a:xfrm>
            <a:off x="6610350" y="2856111"/>
            <a:ext cx="4539107" cy="660400"/>
          </a:xfrm>
          <a:prstGeom prst="rect">
            <a:avLst/>
          </a:prstGeom>
          <a:noFill/>
          <a:ln/>
        </p:spPr>
        <p:txBody>
          <a:bodyPr wrap="square" lIns="0" tIns="0" rIns="0" bIns="0" rtlCol="0" anchor="t">
            <a:normAutofit/>
          </a:bodyPr>
          <a:lstStyle/>
          <a:p>
            <a:pPr algn="l" indent="0" marL="0">
              <a:lnSpc>
                <a:spcPts val="2500"/>
              </a:lnSpc>
              <a:buNone/>
            </a:pPr>
            <a:r>
              <a:rPr lang="vi-VN" sz="2000" b="1" dirty="0">
                <a:solidFill>
                  <a:srgbClr val="F5F7F1"/>
                </a:solidFill>
                <a:latin typeface="Arial" pitchFamily="34" charset="0"/>
                <a:ea typeface="Arial" pitchFamily="34" charset="-122"/>
                <a:cs typeface="Arial" pitchFamily="34" charset="-120"/>
              </a:rPr>
              <a:t>Đánh giá theo trung bình trong ngày</a:t>
            </a:r>
            <a:endParaRPr lang="vi-VN" sz="2000" dirty="0"/>
          </a:p>
        </p:txBody>
      </p:sp>
      <p:sp>
        <p:nvSpPr>
          <p:cNvPr id="11" name="Text 9"/>
          <p:cNvSpPr/>
          <p:nvPr/>
        </p:nvSpPr>
        <p:spPr>
          <a:xfrm>
            <a:off x="6610350" y="3668911"/>
            <a:ext cx="4539107" cy="825500"/>
          </a:xfrm>
          <a:prstGeom prst="rect">
            <a:avLst/>
          </a:prstGeom>
          <a:noFill/>
          <a:ln/>
        </p:spPr>
        <p:txBody>
          <a:bodyPr wrap="square" lIns="0" tIns="0" rIns="0" bIns="0" rtlCol="0" anchor="t">
            <a:normAutofit/>
          </a:bodyPr>
          <a:lstStyle/>
          <a:p>
            <a:pPr algn="l" indent="0" marL="0">
              <a:lnSpc>
                <a:spcPts val="2100"/>
              </a:lnSpc>
              <a:buNone/>
            </a:pPr>
            <a:r>
              <a:rPr lang="vi-VN" sz="1400" dirty="0">
                <a:solidFill>
                  <a:srgbClr val="BFD3C6"/>
                </a:solidFill>
                <a:latin typeface="Arial" pitchFamily="34" charset="0"/>
                <a:ea typeface="Arial" pitchFamily="34" charset="-122"/>
                <a:cs typeface="Arial" pitchFamily="34" charset="-120"/>
              </a:rPr>
              <a:t>Ruồi vào rồi có thể bay đi, nên FlyBot dùng số con trung bình mỗi ảnh trong ngày. Một ảnh đông ruồi không còn gây báo động sai.</a:t>
            </a:r>
            <a:endParaRPr lang="vi-VN" sz="14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vi-VN" sz="1200" dirty="0">
                <a:solidFill>
                  <a:srgbClr val="8FA898"/>
                </a:solidFill>
                <a:latin typeface="Arial" pitchFamily="34" charset="0"/>
                <a:ea typeface="Arial" pitchFamily="34" charset="-122"/>
                <a:cs typeface="Arial" pitchFamily="34" charset="-120"/>
              </a:rPr>
              <a:t>FlyBot · 7</a:t>
            </a:r>
            <a:endParaRPr lang="vi-VN"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31"/>
          </a:xfrm>
          <a:prstGeom prst="rect">
            <a:avLst/>
          </a:prstGeom>
          <a:noFill/>
          <a:ln/>
        </p:spPr>
        <p:txBody>
          <a:bodyPr wrap="square" lIns="0" tIns="0" rIns="0" bIns="0" rtlCol="0" anchor="t">
            <a:normAutofit/>
          </a:bodyPr>
          <a:lstStyle/>
          <a:p>
            <a:pPr algn="l" indent="0" marL="0">
              <a:lnSpc>
                <a:spcPts val="1675"/>
              </a:lnSpc>
              <a:buNone/>
            </a:pPr>
            <a:r>
              <a:rPr lang="vi-VN" sz="1196" b="1" spc="150" kern="0" dirty="0">
                <a:solidFill>
                  <a:srgbClr val="1D7A50"/>
                </a:solidFill>
                <a:latin typeface="Arial" pitchFamily="34" charset="0"/>
                <a:ea typeface="Arial" pitchFamily="34" charset="-122"/>
                <a:cs typeface="Arial" pitchFamily="34" charset="-120"/>
              </a:rPr>
              <a:t>CAMERA</a:t>
            </a:r>
            <a:endParaRPr lang="vi-VN" sz="1196" dirty="0"/>
          </a:p>
        </p:txBody>
      </p:sp>
      <p:sp>
        <p:nvSpPr>
          <p:cNvPr id="3" name="Text 1"/>
          <p:cNvSpPr/>
          <p:nvPr>
            <p:ph type="title"/>
          </p:nvPr>
        </p:nvSpPr>
        <p:spPr>
          <a:xfrm>
            <a:off x="812800" y="1126331"/>
            <a:ext cx="10883392" cy="489744"/>
          </a:xfrm>
          <a:prstGeom prst="rect">
            <a:avLst/>
          </a:prstGeom>
          <a:noFill/>
          <a:ln/>
        </p:spPr>
        <p:txBody>
          <a:bodyPr wrap="square" lIns="0" tIns="0" rIns="0" bIns="0" rtlCol="0" anchor="t">
            <a:normAutofit/>
          </a:bodyPr>
          <a:lstStyle/>
          <a:p>
            <a:pPr algn="l" indent="0" marL="0">
              <a:lnSpc>
                <a:spcPts val="3668"/>
              </a:lnSpc>
              <a:buNone/>
            </a:pPr>
            <a:r>
              <a:rPr lang="vi-VN" sz="3190" b="1" i="0" dirty="0">
                <a:solidFill>
                  <a:srgbClr val="13261D"/>
                </a:solidFill>
                <a:latin typeface="Arial" pitchFamily="34" charset="0"/>
                <a:ea typeface="Arial" pitchFamily="34" charset="-122"/>
                <a:cs typeface="Arial" pitchFamily="34" charset="-120"/>
              </a:rPr>
              <a:t>Xem trực tiếp, xem lại và bảo trì bẫy</a:t>
            </a:r>
            <a:endParaRPr lang="vi-VN" sz="3190" dirty="0"/>
          </a:p>
        </p:txBody>
      </p:sp>
      <p:sp>
        <p:nvSpPr>
          <p:cNvPr id="4" name="Shape 2"/>
          <p:cNvSpPr/>
          <p:nvPr/>
        </p:nvSpPr>
        <p:spPr>
          <a:xfrm>
            <a:off x="812800" y="1895475"/>
            <a:ext cx="6350000" cy="3968750"/>
          </a:xfrm>
          <a:prstGeom prst="roundRect">
            <a:avLst>
              <a:gd name="adj" fmla="val 2560"/>
            </a:avLst>
          </a:prstGeom>
          <a:solidFill>
            <a:srgbClr val="FFFFFF"/>
          </a:solidFill>
          <a:ln/>
          <a:effectLst>
            <a:outerShdw sx="100000" sy="100000" kx="0" ky="0" algn="bl" rotWithShape="0" blurRad="304800" dist="152400" dir="5400000">
              <a:srgbClr val="13261D">
                <a:alpha val="12000"/>
              </a:srgbClr>
            </a:outerShdw>
          </a:effectLst>
        </p:spPr>
      </p:sp>
      <p:pic>
        <p:nvPicPr>
          <p:cNvPr id="5" name="Image 0" descr="Trang Camera: các đoạn ghi hình theo dòng thời gian, thanh 24 giờ và lịch sử thay tấm bẫy">    </p:cNvPr>
          <p:cNvPicPr>
            <a:picLocks noChangeAspect="1"/>
          </p:cNvPicPr>
          <p:nvPr/>
        </p:nvPicPr>
        <p:blipFill>
          <a:blip r:embed="rId1"/>
          <a:srcRect l="-60" r="-60" t="0" b="0"/>
          <a:stretch/>
        </p:blipFill>
        <p:spPr>
          <a:xfrm>
            <a:off x="819150" y="1901825"/>
            <a:ext cx="6337300" cy="3956050"/>
          </a:xfrm>
          <a:prstGeom prst="roundRect">
            <a:avLst>
              <a:gd name="adj" fmla="val 2408"/>
            </a:avLst>
          </a:prstGeom>
        </p:spPr>
      </p:pic>
      <p:sp>
        <p:nvSpPr>
          <p:cNvPr id="6" name="Shape 3"/>
          <p:cNvSpPr/>
          <p:nvPr/>
        </p:nvSpPr>
        <p:spPr>
          <a:xfrm>
            <a:off x="815975" y="1898650"/>
            <a:ext cx="6343650" cy="3962400"/>
          </a:xfrm>
          <a:prstGeom prst="roundRect">
            <a:avLst>
              <a:gd name="adj" fmla="val 2484"/>
            </a:avLst>
          </a:prstGeom>
          <a:noFill/>
          <a:ln w="6350">
            <a:solidFill>
              <a:srgbClr val="DCE3DA"/>
            </a:solidFill>
            <a:prstDash val="solid"/>
          </a:ln>
        </p:spPr>
      </p:sp>
      <p:sp>
        <p:nvSpPr>
          <p:cNvPr id="7" name="Text 4"/>
          <p:cNvSpPr/>
          <p:nvPr/>
        </p:nvSpPr>
        <p:spPr>
          <a:xfrm>
            <a:off x="7569200" y="1895475"/>
            <a:ext cx="3924300" cy="279400"/>
          </a:xfrm>
          <a:prstGeom prst="rect">
            <a:avLst/>
          </a:prstGeom>
          <a:noFill/>
          <a:ln/>
        </p:spPr>
        <p:txBody>
          <a:bodyPr wrap="square" lIns="0" tIns="0" rIns="0" bIns="0" rtlCol="0" anchor="t">
            <a:normAutofit/>
          </a:bodyPr>
          <a:lstStyle/>
          <a:p>
            <a:pPr algn="l" indent="0" marL="0">
              <a:lnSpc>
                <a:spcPts val="2000"/>
              </a:lnSpc>
              <a:buNone/>
            </a:pPr>
            <a:r>
              <a:rPr lang="vi-VN" sz="1600" b="1" dirty="0">
                <a:solidFill>
                  <a:srgbClr val="13261D"/>
                </a:solidFill>
                <a:latin typeface="Arial" pitchFamily="34" charset="0"/>
                <a:ea typeface="Arial" pitchFamily="34" charset="-122"/>
                <a:cs typeface="Arial" pitchFamily="34" charset="-120"/>
              </a:rPr>
              <a:t>Trực tiếp và chụp ngay</a:t>
            </a:r>
            <a:endParaRPr lang="vi-VN" sz="1600" dirty="0"/>
          </a:p>
        </p:txBody>
      </p:sp>
      <p:sp>
        <p:nvSpPr>
          <p:cNvPr id="8" name="Text 5"/>
          <p:cNvSpPr/>
          <p:nvPr/>
        </p:nvSpPr>
        <p:spPr>
          <a:xfrm>
            <a:off x="7569200" y="2200275"/>
            <a:ext cx="3924300" cy="520700"/>
          </a:xfrm>
          <a:prstGeom prst="rect">
            <a:avLst/>
          </a:prstGeom>
          <a:noFill/>
          <a:ln/>
        </p:spPr>
        <p:txBody>
          <a:bodyPr wrap="square" lIns="0" tIns="0" rIns="0" bIns="0" rtlCol="0" anchor="t">
            <a:normAutofit/>
          </a:bodyPr>
          <a:lstStyle/>
          <a:p>
            <a:pPr algn="l" indent="0" marL="0">
              <a:lnSpc>
                <a:spcPts val="1950"/>
              </a:lnSpc>
              <a:buNone/>
            </a:pPr>
            <a:r>
              <a:rPr lang="vi-VN" sz="1300" dirty="0">
                <a:solidFill>
                  <a:srgbClr val="4A5A50"/>
                </a:solidFill>
                <a:latin typeface="Arial" pitchFamily="34" charset="0"/>
                <a:ea typeface="Arial" pitchFamily="34" charset="-122"/>
                <a:cs typeface="Arial" pitchFamily="34" charset="-120"/>
              </a:rPr>
              <a:t>Hình trực tiếp từ camera, chụp và phân tích ngay khi cần.</a:t>
            </a:r>
            <a:endParaRPr lang="vi-VN" sz="1300" dirty="0"/>
          </a:p>
        </p:txBody>
      </p:sp>
      <p:sp>
        <p:nvSpPr>
          <p:cNvPr id="9" name="Text 6"/>
          <p:cNvSpPr/>
          <p:nvPr/>
        </p:nvSpPr>
        <p:spPr>
          <a:xfrm>
            <a:off x="7569200" y="2949575"/>
            <a:ext cx="3924300" cy="279400"/>
          </a:xfrm>
          <a:prstGeom prst="rect">
            <a:avLst/>
          </a:prstGeom>
          <a:noFill/>
          <a:ln/>
        </p:spPr>
        <p:txBody>
          <a:bodyPr wrap="square" lIns="0" tIns="0" rIns="0" bIns="0" rtlCol="0" anchor="t">
            <a:normAutofit/>
          </a:bodyPr>
          <a:lstStyle/>
          <a:p>
            <a:pPr algn="l" indent="0" marL="0">
              <a:lnSpc>
                <a:spcPts val="2000"/>
              </a:lnSpc>
              <a:buNone/>
            </a:pPr>
            <a:r>
              <a:rPr lang="vi-VN" sz="1600" b="1" dirty="0">
                <a:solidFill>
                  <a:srgbClr val="13261D"/>
                </a:solidFill>
                <a:latin typeface="Arial" pitchFamily="34" charset="0"/>
                <a:ea typeface="Arial" pitchFamily="34" charset="-122"/>
                <a:cs typeface="Arial" pitchFamily="34" charset="-120"/>
              </a:rPr>
              <a:t>Xem lại theo dòng thời gian</a:t>
            </a:r>
            <a:endParaRPr lang="vi-VN" sz="1600" dirty="0"/>
          </a:p>
        </p:txBody>
      </p:sp>
      <p:sp>
        <p:nvSpPr>
          <p:cNvPr id="10" name="Text 7"/>
          <p:cNvSpPr/>
          <p:nvPr/>
        </p:nvSpPr>
        <p:spPr>
          <a:xfrm>
            <a:off x="7569200" y="3254375"/>
            <a:ext cx="3924300" cy="520700"/>
          </a:xfrm>
          <a:prstGeom prst="rect">
            <a:avLst/>
          </a:prstGeom>
          <a:noFill/>
          <a:ln/>
        </p:spPr>
        <p:txBody>
          <a:bodyPr wrap="square" lIns="0" tIns="0" rIns="0" bIns="0" rtlCol="0" anchor="t">
            <a:normAutofit/>
          </a:bodyPr>
          <a:lstStyle/>
          <a:p>
            <a:pPr algn="l" indent="0" marL="0">
              <a:lnSpc>
                <a:spcPts val="1950"/>
              </a:lnSpc>
              <a:buNone/>
            </a:pPr>
            <a:r>
              <a:rPr lang="vi-VN" sz="1300" dirty="0">
                <a:solidFill>
                  <a:srgbClr val="4A5A50"/>
                </a:solidFill>
                <a:latin typeface="Arial" pitchFamily="34" charset="0"/>
                <a:ea typeface="Arial" pitchFamily="34" charset="-122"/>
                <a:cs typeface="Arial" pitchFamily="34" charset="-120"/>
              </a:rPr>
              <a:t>Đoạn ghi hình trên thẻ nhớ xếp theo giờ, lùi tiến từng ngày.</a:t>
            </a:r>
            <a:endParaRPr lang="vi-VN" sz="1300" dirty="0"/>
          </a:p>
        </p:txBody>
      </p:sp>
      <p:sp>
        <p:nvSpPr>
          <p:cNvPr id="11" name="Text 8"/>
          <p:cNvSpPr/>
          <p:nvPr/>
        </p:nvSpPr>
        <p:spPr>
          <a:xfrm>
            <a:off x="7569200" y="4003675"/>
            <a:ext cx="3924300" cy="279400"/>
          </a:xfrm>
          <a:prstGeom prst="rect">
            <a:avLst/>
          </a:prstGeom>
          <a:noFill/>
          <a:ln/>
        </p:spPr>
        <p:txBody>
          <a:bodyPr wrap="square" lIns="0" tIns="0" rIns="0" bIns="0" rtlCol="0" anchor="t">
            <a:normAutofit/>
          </a:bodyPr>
          <a:lstStyle/>
          <a:p>
            <a:pPr algn="l" indent="0" marL="0">
              <a:lnSpc>
                <a:spcPts val="2000"/>
              </a:lnSpc>
              <a:buNone/>
            </a:pPr>
            <a:r>
              <a:rPr lang="vi-VN" sz="1600" b="1" dirty="0">
                <a:solidFill>
                  <a:srgbClr val="13261D"/>
                </a:solidFill>
                <a:latin typeface="Arial" pitchFamily="34" charset="0"/>
                <a:ea typeface="Arial" pitchFamily="34" charset="-122"/>
                <a:cs typeface="Arial" pitchFamily="34" charset="-120"/>
              </a:rPr>
              <a:t>Bảo trì bẫy</a:t>
            </a:r>
            <a:endParaRPr lang="vi-VN" sz="1600" dirty="0"/>
          </a:p>
        </p:txBody>
      </p:sp>
      <p:sp>
        <p:nvSpPr>
          <p:cNvPr id="12" name="Text 9"/>
          <p:cNvSpPr/>
          <p:nvPr/>
        </p:nvSpPr>
        <p:spPr>
          <a:xfrm>
            <a:off x="7569200" y="4308475"/>
            <a:ext cx="3924300" cy="273050"/>
          </a:xfrm>
          <a:prstGeom prst="rect">
            <a:avLst/>
          </a:prstGeom>
          <a:noFill/>
          <a:ln/>
        </p:spPr>
        <p:txBody>
          <a:bodyPr wrap="square" lIns="0" tIns="0" rIns="0" bIns="0" rtlCol="0" anchor="t">
            <a:normAutofit/>
          </a:bodyPr>
          <a:lstStyle/>
          <a:p>
            <a:pPr algn="l" indent="0" marL="0">
              <a:lnSpc>
                <a:spcPts val="1950"/>
              </a:lnSpc>
              <a:buNone/>
            </a:pPr>
            <a:r>
              <a:rPr lang="vi-VN" sz="1300" dirty="0">
                <a:solidFill>
                  <a:srgbClr val="4A5A50"/>
                </a:solidFill>
                <a:latin typeface="Arial" pitchFamily="34" charset="0"/>
                <a:ea typeface="Arial" pitchFamily="34" charset="-122"/>
                <a:cs typeface="Arial" pitchFamily="34" charset="-120"/>
              </a:rPr>
              <a:t>Ghi nhận thay tấm keo, nhắc thay khi đến hạn.</a:t>
            </a:r>
            <a:endParaRPr lang="vi-VN"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vi-VN" sz="1200" dirty="0">
                <a:solidFill>
                  <a:srgbClr val="6B7B70"/>
                </a:solidFill>
                <a:latin typeface="Arial" pitchFamily="34" charset="0"/>
                <a:ea typeface="Arial" pitchFamily="34" charset="-122"/>
                <a:cs typeface="Arial" pitchFamily="34" charset="-120"/>
              </a:rPr>
              <a:t>FlyBot · 8</a:t>
            </a:r>
            <a:endParaRPr lang="vi-VN"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31"/>
          </a:xfrm>
          <a:prstGeom prst="rect">
            <a:avLst/>
          </a:prstGeom>
          <a:noFill/>
          <a:ln/>
        </p:spPr>
        <p:txBody>
          <a:bodyPr wrap="square" lIns="0" tIns="0" rIns="0" bIns="0" rtlCol="0" anchor="t">
            <a:normAutofit/>
          </a:bodyPr>
          <a:lstStyle/>
          <a:p>
            <a:pPr algn="l" indent="0" marL="0">
              <a:lnSpc>
                <a:spcPts val="1675"/>
              </a:lnSpc>
              <a:buNone/>
            </a:pPr>
            <a:r>
              <a:rPr lang="vi-VN" sz="1196" b="1" spc="150" kern="0" dirty="0">
                <a:solidFill>
                  <a:srgbClr val="1D7A50"/>
                </a:solidFill>
                <a:latin typeface="Arial" pitchFamily="34" charset="0"/>
                <a:ea typeface="Arial" pitchFamily="34" charset="-122"/>
                <a:cs typeface="Arial" pitchFamily="34" charset="-120"/>
              </a:rPr>
              <a:t>CẢNH BÁO</a:t>
            </a:r>
            <a:endParaRPr lang="vi-VN" sz="1196" dirty="0"/>
          </a:p>
        </p:txBody>
      </p:sp>
      <p:sp>
        <p:nvSpPr>
          <p:cNvPr id="3" name="Text 1"/>
          <p:cNvSpPr/>
          <p:nvPr>
            <p:ph type="title"/>
          </p:nvPr>
        </p:nvSpPr>
        <p:spPr>
          <a:xfrm>
            <a:off x="812800" y="1126331"/>
            <a:ext cx="10883392" cy="489744"/>
          </a:xfrm>
          <a:prstGeom prst="rect">
            <a:avLst/>
          </a:prstGeom>
          <a:noFill/>
          <a:ln/>
        </p:spPr>
        <p:txBody>
          <a:bodyPr wrap="square" lIns="0" tIns="0" rIns="0" bIns="0" rtlCol="0" anchor="t">
            <a:normAutofit/>
          </a:bodyPr>
          <a:lstStyle/>
          <a:p>
            <a:pPr algn="l" indent="0" marL="0">
              <a:lnSpc>
                <a:spcPts val="3668"/>
              </a:lnSpc>
              <a:buNone/>
            </a:pPr>
            <a:r>
              <a:rPr lang="vi-VN" sz="3190" b="1" i="0" dirty="0">
                <a:solidFill>
                  <a:srgbClr val="13261D"/>
                </a:solidFill>
                <a:latin typeface="Arial" pitchFamily="34" charset="0"/>
                <a:ea typeface="Arial" pitchFamily="34" charset="-122"/>
                <a:cs typeface="Arial" pitchFamily="34" charset="-120"/>
              </a:rPr>
              <a:t>Biết ngay khi cần ra vườn</a:t>
            </a:r>
            <a:endParaRPr lang="vi-VN" sz="3190" dirty="0"/>
          </a:p>
        </p:txBody>
      </p:sp>
      <p:sp>
        <p:nvSpPr>
          <p:cNvPr id="4" name="Shape 2"/>
          <p:cNvSpPr/>
          <p:nvPr/>
        </p:nvSpPr>
        <p:spPr>
          <a:xfrm>
            <a:off x="812800" y="1895475"/>
            <a:ext cx="6350000" cy="3968750"/>
          </a:xfrm>
          <a:prstGeom prst="roundRect">
            <a:avLst>
              <a:gd name="adj" fmla="val 2560"/>
            </a:avLst>
          </a:prstGeom>
          <a:solidFill>
            <a:srgbClr val="FFFFFF"/>
          </a:solidFill>
          <a:ln/>
          <a:effectLst>
            <a:outerShdw sx="100000" sy="100000" kx="0" ky="0" algn="bl" rotWithShape="0" blurRad="304800" dist="152400" dir="5400000">
              <a:srgbClr val="13261D">
                <a:alpha val="12000"/>
              </a:srgbClr>
            </a:outerShdw>
          </a:effectLst>
        </p:spPr>
      </p:sp>
      <p:pic>
        <p:nvPicPr>
          <p:cNvPr id="5" name="Image 0" descr="Danh sách thông báo: tăng đột biến, vượt ngưỡng dịch hại, camera mất kết nối, đến hạn thay tấm bẫy">    </p:cNvPr>
          <p:cNvPicPr>
            <a:picLocks noChangeAspect="1"/>
          </p:cNvPicPr>
          <p:nvPr/>
        </p:nvPicPr>
        <p:blipFill>
          <a:blip r:embed="rId1"/>
          <a:srcRect l="-60" r="-60" t="0" b="0"/>
          <a:stretch/>
        </p:blipFill>
        <p:spPr>
          <a:xfrm>
            <a:off x="819150" y="1901825"/>
            <a:ext cx="6337300" cy="3956050"/>
          </a:xfrm>
          <a:prstGeom prst="roundRect">
            <a:avLst>
              <a:gd name="adj" fmla="val 2408"/>
            </a:avLst>
          </a:prstGeom>
        </p:spPr>
      </p:pic>
      <p:sp>
        <p:nvSpPr>
          <p:cNvPr id="6" name="Shape 3"/>
          <p:cNvSpPr/>
          <p:nvPr/>
        </p:nvSpPr>
        <p:spPr>
          <a:xfrm>
            <a:off x="815975" y="1898650"/>
            <a:ext cx="6343650" cy="3962400"/>
          </a:xfrm>
          <a:prstGeom prst="roundRect">
            <a:avLst>
              <a:gd name="adj" fmla="val 2484"/>
            </a:avLst>
          </a:prstGeom>
          <a:noFill/>
          <a:ln w="6350">
            <a:solidFill>
              <a:srgbClr val="DCE3DA"/>
            </a:solidFill>
            <a:prstDash val="solid"/>
          </a:ln>
        </p:spPr>
      </p:sp>
      <p:sp>
        <p:nvSpPr>
          <p:cNvPr id="7" name="Text 4"/>
          <p:cNvSpPr/>
          <p:nvPr/>
        </p:nvSpPr>
        <p:spPr>
          <a:xfrm>
            <a:off x="7569200" y="1895475"/>
            <a:ext cx="3924300" cy="279400"/>
          </a:xfrm>
          <a:prstGeom prst="rect">
            <a:avLst/>
          </a:prstGeom>
          <a:noFill/>
          <a:ln/>
        </p:spPr>
        <p:txBody>
          <a:bodyPr wrap="square" lIns="0" tIns="0" rIns="0" bIns="0" rtlCol="0" anchor="t">
            <a:normAutofit/>
          </a:bodyPr>
          <a:lstStyle/>
          <a:p>
            <a:pPr algn="l" indent="0" marL="0">
              <a:lnSpc>
                <a:spcPts val="2000"/>
              </a:lnSpc>
              <a:buNone/>
            </a:pPr>
            <a:r>
              <a:rPr lang="vi-VN" sz="1600" b="1" dirty="0">
                <a:solidFill>
                  <a:srgbClr val="13261D"/>
                </a:solidFill>
                <a:latin typeface="Arial" pitchFamily="34" charset="0"/>
                <a:ea typeface="Arial" pitchFamily="34" charset="-122"/>
                <a:cs typeface="Arial" pitchFamily="34" charset="-120"/>
              </a:rPr>
              <a:t>Đúng lúc</a:t>
            </a:r>
            <a:endParaRPr lang="vi-VN" sz="1600" dirty="0"/>
          </a:p>
        </p:txBody>
      </p:sp>
      <p:sp>
        <p:nvSpPr>
          <p:cNvPr id="8" name="Text 5"/>
          <p:cNvSpPr/>
          <p:nvPr/>
        </p:nvSpPr>
        <p:spPr>
          <a:xfrm>
            <a:off x="7569200" y="2200275"/>
            <a:ext cx="3924300" cy="520700"/>
          </a:xfrm>
          <a:prstGeom prst="rect">
            <a:avLst/>
          </a:prstGeom>
          <a:noFill/>
          <a:ln/>
        </p:spPr>
        <p:txBody>
          <a:bodyPr wrap="square" lIns="0" tIns="0" rIns="0" bIns="0" rtlCol="0" anchor="t">
            <a:normAutofit/>
          </a:bodyPr>
          <a:lstStyle/>
          <a:p>
            <a:pPr algn="l" indent="0" marL="0">
              <a:lnSpc>
                <a:spcPts val="1950"/>
              </a:lnSpc>
              <a:buNone/>
            </a:pPr>
            <a:r>
              <a:rPr lang="vi-VN" sz="1300" dirty="0">
                <a:solidFill>
                  <a:srgbClr val="4A5A50"/>
                </a:solidFill>
                <a:latin typeface="Arial" pitchFamily="34" charset="0"/>
                <a:ea typeface="Arial" pitchFamily="34" charset="-122"/>
                <a:cs typeface="Arial" pitchFamily="34" charset="-120"/>
              </a:rPr>
              <a:t>Vượt ngưỡng từng bẫy, tăng đột biến, camera mất kết nối, đến hạn thay tấm.</a:t>
            </a:r>
            <a:endParaRPr lang="vi-VN" sz="1300" dirty="0"/>
          </a:p>
        </p:txBody>
      </p:sp>
      <p:sp>
        <p:nvSpPr>
          <p:cNvPr id="9" name="Text 6"/>
          <p:cNvSpPr/>
          <p:nvPr/>
        </p:nvSpPr>
        <p:spPr>
          <a:xfrm>
            <a:off x="7569200" y="2949575"/>
            <a:ext cx="3924300" cy="279400"/>
          </a:xfrm>
          <a:prstGeom prst="rect">
            <a:avLst/>
          </a:prstGeom>
          <a:noFill/>
          <a:ln/>
        </p:spPr>
        <p:txBody>
          <a:bodyPr wrap="square" lIns="0" tIns="0" rIns="0" bIns="0" rtlCol="0" anchor="t">
            <a:normAutofit/>
          </a:bodyPr>
          <a:lstStyle/>
          <a:p>
            <a:pPr algn="l" indent="0" marL="0">
              <a:lnSpc>
                <a:spcPts val="2000"/>
              </a:lnSpc>
              <a:buNone/>
            </a:pPr>
            <a:r>
              <a:rPr lang="vi-VN" sz="1600" b="1" dirty="0">
                <a:solidFill>
                  <a:srgbClr val="13261D"/>
                </a:solidFill>
                <a:latin typeface="Arial" pitchFamily="34" charset="0"/>
                <a:ea typeface="Arial" pitchFamily="34" charset="-122"/>
                <a:cs typeface="Arial" pitchFamily="34" charset="-120"/>
              </a:rPr>
              <a:t>Đúng kênh</a:t>
            </a:r>
            <a:endParaRPr lang="vi-VN" sz="1600" dirty="0"/>
          </a:p>
        </p:txBody>
      </p:sp>
      <p:sp>
        <p:nvSpPr>
          <p:cNvPr id="10" name="Text 7"/>
          <p:cNvSpPr/>
          <p:nvPr/>
        </p:nvSpPr>
        <p:spPr>
          <a:xfrm>
            <a:off x="7569200" y="3254375"/>
            <a:ext cx="3924300" cy="520700"/>
          </a:xfrm>
          <a:prstGeom prst="rect">
            <a:avLst/>
          </a:prstGeom>
          <a:noFill/>
          <a:ln/>
        </p:spPr>
        <p:txBody>
          <a:bodyPr wrap="square" lIns="0" tIns="0" rIns="0" bIns="0" rtlCol="0" anchor="t">
            <a:normAutofit/>
          </a:bodyPr>
          <a:lstStyle/>
          <a:p>
            <a:pPr algn="l" indent="0" marL="0">
              <a:lnSpc>
                <a:spcPts val="1950"/>
              </a:lnSpc>
              <a:buNone/>
            </a:pPr>
            <a:r>
              <a:rPr lang="vi-VN" sz="1300" dirty="0">
                <a:solidFill>
                  <a:srgbClr val="4A5A50"/>
                </a:solidFill>
                <a:latin typeface="Arial" pitchFamily="34" charset="0"/>
                <a:ea typeface="Arial" pitchFamily="34" charset="-122"/>
                <a:cs typeface="Arial" pitchFamily="34" charset="-120"/>
              </a:rPr>
              <a:t>Trong ứng dụng, thông báo đẩy, email, Telegram; bản tin sáng 6:30 nếu bật.</a:t>
            </a:r>
            <a:endParaRPr lang="vi-VN" sz="1300" dirty="0"/>
          </a:p>
        </p:txBody>
      </p:sp>
      <p:sp>
        <p:nvSpPr>
          <p:cNvPr id="11" name="Text 8"/>
          <p:cNvSpPr/>
          <p:nvPr/>
        </p:nvSpPr>
        <p:spPr>
          <a:xfrm>
            <a:off x="7569200" y="4003675"/>
            <a:ext cx="3924300" cy="279400"/>
          </a:xfrm>
          <a:prstGeom prst="rect">
            <a:avLst/>
          </a:prstGeom>
          <a:noFill/>
          <a:ln/>
        </p:spPr>
        <p:txBody>
          <a:bodyPr wrap="square" lIns="0" tIns="0" rIns="0" bIns="0" rtlCol="0" anchor="t">
            <a:normAutofit/>
          </a:bodyPr>
          <a:lstStyle/>
          <a:p>
            <a:pPr algn="l" indent="0" marL="0">
              <a:lnSpc>
                <a:spcPts val="2000"/>
              </a:lnSpc>
              <a:buNone/>
            </a:pPr>
            <a:r>
              <a:rPr lang="vi-VN" sz="1600" b="1" dirty="0">
                <a:solidFill>
                  <a:srgbClr val="13261D"/>
                </a:solidFill>
                <a:latin typeface="Arial" pitchFamily="34" charset="0"/>
                <a:ea typeface="Arial" pitchFamily="34" charset="-122"/>
                <a:cs typeface="Arial" pitchFamily="34" charset="-120"/>
              </a:rPr>
              <a:t>Không làm phiền</a:t>
            </a:r>
            <a:endParaRPr lang="vi-VN" sz="1600" dirty="0"/>
          </a:p>
        </p:txBody>
      </p:sp>
      <p:sp>
        <p:nvSpPr>
          <p:cNvPr id="12" name="Text 9"/>
          <p:cNvSpPr/>
          <p:nvPr/>
        </p:nvSpPr>
        <p:spPr>
          <a:xfrm>
            <a:off x="7569200" y="4308475"/>
            <a:ext cx="3924300" cy="520700"/>
          </a:xfrm>
          <a:prstGeom prst="rect">
            <a:avLst/>
          </a:prstGeom>
          <a:noFill/>
          <a:ln/>
        </p:spPr>
        <p:txBody>
          <a:bodyPr wrap="square" lIns="0" tIns="0" rIns="0" bIns="0" rtlCol="0" anchor="t">
            <a:normAutofit/>
          </a:bodyPr>
          <a:lstStyle/>
          <a:p>
            <a:pPr algn="l" indent="0" marL="0">
              <a:lnSpc>
                <a:spcPts val="1950"/>
              </a:lnSpc>
              <a:buNone/>
            </a:pPr>
            <a:r>
              <a:rPr lang="vi-VN" sz="1300" dirty="0">
                <a:solidFill>
                  <a:srgbClr val="4A5A50"/>
                </a:solidFill>
                <a:latin typeface="Arial" pitchFamily="34" charset="0"/>
                <a:ea typeface="Arial" pitchFamily="34" charset="-122"/>
                <a:cs typeface="Arial" pitchFamily="34" charset="-120"/>
              </a:rPr>
              <a:t>Chọn loại cảnh báo, giờ yên lặng và thời gian chờ giữa hai lần báo.</a:t>
            </a:r>
            <a:endParaRPr lang="vi-VN"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vi-VN" sz="1200" dirty="0">
                <a:solidFill>
                  <a:srgbClr val="6B7B70"/>
                </a:solidFill>
                <a:latin typeface="Arial" pitchFamily="34" charset="0"/>
                <a:ea typeface="Arial" pitchFamily="34" charset="-122"/>
                <a:cs typeface="Arial" pitchFamily="34" charset="-120"/>
              </a:rPr>
              <a:t>FlyBot · 9</a:t>
            </a:r>
            <a:endParaRPr lang="vi-VN"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31"/>
          </a:xfrm>
          <a:prstGeom prst="rect">
            <a:avLst/>
          </a:prstGeom>
          <a:noFill/>
          <a:ln/>
        </p:spPr>
        <p:txBody>
          <a:bodyPr wrap="square" lIns="0" tIns="0" rIns="0" bIns="0" rtlCol="0" anchor="t">
            <a:normAutofit/>
          </a:bodyPr>
          <a:lstStyle/>
          <a:p>
            <a:pPr algn="l" indent="0" marL="0">
              <a:lnSpc>
                <a:spcPts val="1675"/>
              </a:lnSpc>
              <a:buNone/>
            </a:pPr>
            <a:r>
              <a:rPr lang="vi-VN" sz="1196" b="1" spc="150" kern="0" dirty="0">
                <a:solidFill>
                  <a:srgbClr val="1D7A50"/>
                </a:solidFill>
                <a:latin typeface="Arial" pitchFamily="34" charset="0"/>
                <a:ea typeface="Arial" pitchFamily="34" charset="-122"/>
                <a:cs typeface="Arial" pitchFamily="34" charset="-120"/>
              </a:rPr>
              <a:t>PHÂN TÍCH VÀ LỊCH SỬ</a:t>
            </a:r>
            <a:endParaRPr lang="vi-VN" sz="1196" dirty="0"/>
          </a:p>
        </p:txBody>
      </p:sp>
      <p:sp>
        <p:nvSpPr>
          <p:cNvPr id="3" name="Text 1"/>
          <p:cNvSpPr/>
          <p:nvPr>
            <p:ph type="title"/>
          </p:nvPr>
        </p:nvSpPr>
        <p:spPr>
          <a:xfrm>
            <a:off x="812800" y="1126331"/>
            <a:ext cx="10883392" cy="489744"/>
          </a:xfrm>
          <a:prstGeom prst="rect">
            <a:avLst/>
          </a:prstGeom>
          <a:noFill/>
          <a:ln/>
        </p:spPr>
        <p:txBody>
          <a:bodyPr wrap="square" lIns="0" tIns="0" rIns="0" bIns="0" rtlCol="0" anchor="t">
            <a:normAutofit/>
          </a:bodyPr>
          <a:lstStyle/>
          <a:p>
            <a:pPr algn="l" indent="0" marL="0">
              <a:lnSpc>
                <a:spcPts val="3668"/>
              </a:lnSpc>
              <a:buNone/>
            </a:pPr>
            <a:r>
              <a:rPr lang="vi-VN" sz="3190" b="1" i="0" dirty="0">
                <a:solidFill>
                  <a:srgbClr val="13261D"/>
                </a:solidFill>
                <a:latin typeface="Arial" pitchFamily="34" charset="0"/>
                <a:ea typeface="Arial" pitchFamily="34" charset="-122"/>
                <a:cs typeface="Arial" pitchFamily="34" charset="-120"/>
              </a:rPr>
              <a:t>Mọi ảnh đã phân tích, lọc và xuất khi cần</a:t>
            </a:r>
            <a:endParaRPr lang="vi-VN" sz="3190" dirty="0"/>
          </a:p>
        </p:txBody>
      </p:sp>
      <p:sp>
        <p:nvSpPr>
          <p:cNvPr id="4" name="Shape 2"/>
          <p:cNvSpPr/>
          <p:nvPr/>
        </p:nvSpPr>
        <p:spPr>
          <a:xfrm>
            <a:off x="812800" y="1895475"/>
            <a:ext cx="6350000" cy="3968750"/>
          </a:xfrm>
          <a:prstGeom prst="roundRect">
            <a:avLst>
              <a:gd name="adj" fmla="val 2560"/>
            </a:avLst>
          </a:prstGeom>
          <a:solidFill>
            <a:srgbClr val="FFFFFF"/>
          </a:solidFill>
          <a:ln/>
          <a:effectLst>
            <a:outerShdw sx="100000" sy="100000" kx="0" ky="0" algn="bl" rotWithShape="0" blurRad="304800" dist="152400" dir="5400000">
              <a:srgbClr val="13261D">
                <a:alpha val="12000"/>
              </a:srgbClr>
            </a:outerShdw>
          </a:effectLst>
        </p:spPr>
      </p:sp>
      <p:pic>
        <p:nvPicPr>
          <p:cNvPr id="5" name="Image 0" descr="Lịch sử nhận dạng: bảng ảnh có số đếm, trạng thái cảnh báo và loài, với menu xuất PDF kèm ảnh và Excel kèm ảnh">    </p:cNvPr>
          <p:cNvPicPr>
            <a:picLocks noChangeAspect="1"/>
          </p:cNvPicPr>
          <p:nvPr/>
        </p:nvPicPr>
        <p:blipFill>
          <a:blip r:embed="rId1"/>
          <a:srcRect l="-60" r="-60" t="0" b="0"/>
          <a:stretch/>
        </p:blipFill>
        <p:spPr>
          <a:xfrm>
            <a:off x="819150" y="1901825"/>
            <a:ext cx="6337300" cy="3956050"/>
          </a:xfrm>
          <a:prstGeom prst="roundRect">
            <a:avLst>
              <a:gd name="adj" fmla="val 2408"/>
            </a:avLst>
          </a:prstGeom>
        </p:spPr>
      </p:pic>
      <p:sp>
        <p:nvSpPr>
          <p:cNvPr id="6" name="Shape 3"/>
          <p:cNvSpPr/>
          <p:nvPr/>
        </p:nvSpPr>
        <p:spPr>
          <a:xfrm>
            <a:off x="815975" y="1898650"/>
            <a:ext cx="6343650" cy="3962400"/>
          </a:xfrm>
          <a:prstGeom prst="roundRect">
            <a:avLst>
              <a:gd name="adj" fmla="val 2484"/>
            </a:avLst>
          </a:prstGeom>
          <a:noFill/>
          <a:ln w="6350">
            <a:solidFill>
              <a:srgbClr val="DCE3DA"/>
            </a:solidFill>
            <a:prstDash val="solid"/>
          </a:ln>
        </p:spPr>
      </p:sp>
      <p:sp>
        <p:nvSpPr>
          <p:cNvPr id="7" name="Text 4"/>
          <p:cNvSpPr/>
          <p:nvPr/>
        </p:nvSpPr>
        <p:spPr>
          <a:xfrm>
            <a:off x="7569200" y="1895475"/>
            <a:ext cx="3924300" cy="279400"/>
          </a:xfrm>
          <a:prstGeom prst="rect">
            <a:avLst/>
          </a:prstGeom>
          <a:noFill/>
          <a:ln/>
        </p:spPr>
        <p:txBody>
          <a:bodyPr wrap="square" lIns="0" tIns="0" rIns="0" bIns="0" rtlCol="0" anchor="t">
            <a:normAutofit/>
          </a:bodyPr>
          <a:lstStyle/>
          <a:p>
            <a:pPr algn="l" indent="0" marL="0">
              <a:lnSpc>
                <a:spcPts val="2000"/>
              </a:lnSpc>
              <a:buNone/>
            </a:pPr>
            <a:r>
              <a:rPr lang="vi-VN" sz="1600" b="1" dirty="0">
                <a:solidFill>
                  <a:srgbClr val="13261D"/>
                </a:solidFill>
                <a:latin typeface="Arial" pitchFamily="34" charset="0"/>
                <a:ea typeface="Arial" pitchFamily="34" charset="-122"/>
                <a:cs typeface="Arial" pitchFamily="34" charset="-120"/>
              </a:rPr>
              <a:t>Phân tích chuyên sâu</a:t>
            </a:r>
            <a:endParaRPr lang="vi-VN" sz="1600" dirty="0"/>
          </a:p>
        </p:txBody>
      </p:sp>
      <p:sp>
        <p:nvSpPr>
          <p:cNvPr id="8" name="Text 5"/>
          <p:cNvSpPr/>
          <p:nvPr/>
        </p:nvSpPr>
        <p:spPr>
          <a:xfrm>
            <a:off x="7569200" y="2200275"/>
            <a:ext cx="3924300" cy="520700"/>
          </a:xfrm>
          <a:prstGeom prst="rect">
            <a:avLst/>
          </a:prstGeom>
          <a:noFill/>
          <a:ln/>
        </p:spPr>
        <p:txBody>
          <a:bodyPr wrap="square" lIns="0" tIns="0" rIns="0" bIns="0" rtlCol="0" anchor="t">
            <a:normAutofit/>
          </a:bodyPr>
          <a:lstStyle/>
          <a:p>
            <a:pPr algn="l" indent="0" marL="0">
              <a:lnSpc>
                <a:spcPts val="1950"/>
              </a:lnSpc>
              <a:buNone/>
            </a:pPr>
            <a:r>
              <a:rPr lang="vi-VN" sz="1300" dirty="0">
                <a:solidFill>
                  <a:srgbClr val="4A5A50"/>
                </a:solidFill>
                <a:latin typeface="Arial" pitchFamily="34" charset="0"/>
                <a:ea typeface="Arial" pitchFamily="34" charset="-122"/>
                <a:cs typeface="Arial" pitchFamily="34" charset="-120"/>
              </a:rPr>
              <a:t>So sánh bẫy, nhiệt độ so với số ruồi, khung giờ ruồi vào nhiều.</a:t>
            </a:r>
            <a:endParaRPr lang="vi-VN" sz="1300" dirty="0"/>
          </a:p>
        </p:txBody>
      </p:sp>
      <p:sp>
        <p:nvSpPr>
          <p:cNvPr id="9" name="Text 6"/>
          <p:cNvSpPr/>
          <p:nvPr/>
        </p:nvSpPr>
        <p:spPr>
          <a:xfrm>
            <a:off x="7569200" y="2949575"/>
            <a:ext cx="3924300" cy="279400"/>
          </a:xfrm>
          <a:prstGeom prst="rect">
            <a:avLst/>
          </a:prstGeom>
          <a:noFill/>
          <a:ln/>
        </p:spPr>
        <p:txBody>
          <a:bodyPr wrap="square" lIns="0" tIns="0" rIns="0" bIns="0" rtlCol="0" anchor="t">
            <a:normAutofit/>
          </a:bodyPr>
          <a:lstStyle/>
          <a:p>
            <a:pPr algn="l" indent="0" marL="0">
              <a:lnSpc>
                <a:spcPts val="2000"/>
              </a:lnSpc>
              <a:buNone/>
            </a:pPr>
            <a:r>
              <a:rPr lang="vi-VN" sz="1600" b="1" dirty="0">
                <a:solidFill>
                  <a:srgbClr val="13261D"/>
                </a:solidFill>
                <a:latin typeface="Arial" pitchFamily="34" charset="0"/>
                <a:ea typeface="Arial" pitchFamily="34" charset="-122"/>
                <a:cs typeface="Arial" pitchFamily="34" charset="-120"/>
              </a:rPr>
              <a:t>Lọc theo nhu cầu</a:t>
            </a:r>
            <a:endParaRPr lang="vi-VN" sz="1600" dirty="0"/>
          </a:p>
        </p:txBody>
      </p:sp>
      <p:sp>
        <p:nvSpPr>
          <p:cNvPr id="10" name="Text 7"/>
          <p:cNvSpPr/>
          <p:nvPr/>
        </p:nvSpPr>
        <p:spPr>
          <a:xfrm>
            <a:off x="7569200" y="3254375"/>
            <a:ext cx="3924300" cy="520700"/>
          </a:xfrm>
          <a:prstGeom prst="rect">
            <a:avLst/>
          </a:prstGeom>
          <a:noFill/>
          <a:ln/>
        </p:spPr>
        <p:txBody>
          <a:bodyPr wrap="square" lIns="0" tIns="0" rIns="0" bIns="0" rtlCol="0" anchor="t">
            <a:normAutofit/>
          </a:bodyPr>
          <a:lstStyle/>
          <a:p>
            <a:pPr algn="l" indent="0" marL="0">
              <a:lnSpc>
                <a:spcPts val="1950"/>
              </a:lnSpc>
              <a:buNone/>
            </a:pPr>
            <a:r>
              <a:rPr lang="vi-VN" sz="1300" dirty="0">
                <a:solidFill>
                  <a:srgbClr val="4A5A50"/>
                </a:solidFill>
                <a:latin typeface="Arial" pitchFamily="34" charset="0"/>
                <a:ea typeface="Arial" pitchFamily="34" charset="-122"/>
                <a:cs typeface="Arial" pitchFamily="34" charset="-120"/>
              </a:rPr>
              <a:t>Theo camera, thời gian, mức cảnh báo, trạng thái duyệt.</a:t>
            </a:r>
            <a:endParaRPr lang="vi-VN" sz="1300" dirty="0"/>
          </a:p>
        </p:txBody>
      </p:sp>
      <p:sp>
        <p:nvSpPr>
          <p:cNvPr id="11" name="Text 8"/>
          <p:cNvSpPr/>
          <p:nvPr/>
        </p:nvSpPr>
        <p:spPr>
          <a:xfrm>
            <a:off x="7569200" y="4003675"/>
            <a:ext cx="3924300" cy="279400"/>
          </a:xfrm>
          <a:prstGeom prst="rect">
            <a:avLst/>
          </a:prstGeom>
          <a:noFill/>
          <a:ln/>
        </p:spPr>
        <p:txBody>
          <a:bodyPr wrap="square" lIns="0" tIns="0" rIns="0" bIns="0" rtlCol="0" anchor="t">
            <a:normAutofit/>
          </a:bodyPr>
          <a:lstStyle/>
          <a:p>
            <a:pPr algn="l" indent="0" marL="0">
              <a:lnSpc>
                <a:spcPts val="2000"/>
              </a:lnSpc>
              <a:buNone/>
            </a:pPr>
            <a:r>
              <a:rPr lang="vi-VN" sz="1600" b="1" dirty="0">
                <a:solidFill>
                  <a:srgbClr val="13261D"/>
                </a:solidFill>
                <a:latin typeface="Arial" pitchFamily="34" charset="0"/>
                <a:ea typeface="Arial" pitchFamily="34" charset="-122"/>
                <a:cs typeface="Arial" pitchFamily="34" charset="-120"/>
              </a:rPr>
              <a:t>Xuất kèm ảnh</a:t>
            </a:r>
            <a:endParaRPr lang="vi-VN" sz="1600" dirty="0"/>
          </a:p>
        </p:txBody>
      </p:sp>
      <p:sp>
        <p:nvSpPr>
          <p:cNvPr id="12" name="Text 9"/>
          <p:cNvSpPr/>
          <p:nvPr/>
        </p:nvSpPr>
        <p:spPr>
          <a:xfrm>
            <a:off x="7569200" y="4308475"/>
            <a:ext cx="3924300" cy="520700"/>
          </a:xfrm>
          <a:prstGeom prst="rect">
            <a:avLst/>
          </a:prstGeom>
          <a:noFill/>
          <a:ln/>
        </p:spPr>
        <p:txBody>
          <a:bodyPr wrap="square" lIns="0" tIns="0" rIns="0" bIns="0" rtlCol="0" anchor="t">
            <a:normAutofit/>
          </a:bodyPr>
          <a:lstStyle/>
          <a:p>
            <a:pPr algn="l" indent="0" marL="0">
              <a:lnSpc>
                <a:spcPts val="1950"/>
              </a:lnSpc>
              <a:buNone/>
            </a:pPr>
            <a:r>
              <a:rPr lang="vi-VN" sz="1300" dirty="0">
                <a:solidFill>
                  <a:srgbClr val="4A5A50"/>
                </a:solidFill>
                <a:latin typeface="Arial" pitchFamily="34" charset="0"/>
                <a:ea typeface="Arial" pitchFamily="34" charset="-122"/>
                <a:cs typeface="Arial" pitchFamily="34" charset="-120"/>
              </a:rPr>
              <a:t>PDF và Excel kèm ảnh có khung nhận dạng, mỗi camera một sheet.</a:t>
            </a:r>
            <a:endParaRPr lang="vi-VN"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vi-VN" sz="1200" dirty="0">
                <a:solidFill>
                  <a:srgbClr val="6B7B70"/>
                </a:solidFill>
                <a:latin typeface="Arial" pitchFamily="34" charset="0"/>
                <a:ea typeface="Arial" pitchFamily="34" charset="-122"/>
                <a:cs typeface="Arial" pitchFamily="34" charset="-120"/>
              </a:rPr>
              <a:t>FlyBot · 10</a:t>
            </a:r>
            <a:endParaRPr lang="vi-VN"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31"/>
          </a:xfrm>
          <a:prstGeom prst="rect">
            <a:avLst/>
          </a:prstGeom>
          <a:noFill/>
          <a:ln/>
        </p:spPr>
        <p:txBody>
          <a:bodyPr wrap="square" lIns="0" tIns="0" rIns="0" bIns="0" rtlCol="0" anchor="t">
            <a:normAutofit/>
          </a:bodyPr>
          <a:lstStyle/>
          <a:p>
            <a:pPr algn="l" indent="0" marL="0">
              <a:lnSpc>
                <a:spcPts val="1675"/>
              </a:lnSpc>
              <a:buNone/>
            </a:pPr>
            <a:r>
              <a:rPr lang="vi-VN" sz="1196" b="1" spc="150" kern="0" dirty="0">
                <a:solidFill>
                  <a:srgbClr val="1D7A50"/>
                </a:solidFill>
                <a:latin typeface="Arial" pitchFamily="34" charset="0"/>
                <a:ea typeface="Arial" pitchFamily="34" charset="-122"/>
                <a:cs typeface="Arial" pitchFamily="34" charset="-120"/>
              </a:rPr>
              <a:t>BÁO CÁO</a:t>
            </a:r>
            <a:endParaRPr lang="vi-VN" sz="1196" dirty="0"/>
          </a:p>
        </p:txBody>
      </p:sp>
      <p:sp>
        <p:nvSpPr>
          <p:cNvPr id="3" name="Text 1"/>
          <p:cNvSpPr/>
          <p:nvPr>
            <p:ph type="title"/>
          </p:nvPr>
        </p:nvSpPr>
        <p:spPr>
          <a:xfrm>
            <a:off x="812800" y="1126331"/>
            <a:ext cx="10883392" cy="489744"/>
          </a:xfrm>
          <a:prstGeom prst="rect">
            <a:avLst/>
          </a:prstGeom>
          <a:noFill/>
          <a:ln/>
        </p:spPr>
        <p:txBody>
          <a:bodyPr wrap="square" lIns="0" tIns="0" rIns="0" bIns="0" rtlCol="0" anchor="t">
            <a:normAutofit/>
          </a:bodyPr>
          <a:lstStyle/>
          <a:p>
            <a:pPr algn="l" indent="0" marL="0">
              <a:lnSpc>
                <a:spcPts val="3668"/>
              </a:lnSpc>
              <a:buNone/>
            </a:pPr>
            <a:r>
              <a:rPr lang="vi-VN" sz="3190" b="1" i="0" dirty="0">
                <a:solidFill>
                  <a:srgbClr val="13261D"/>
                </a:solidFill>
                <a:latin typeface="Arial" pitchFamily="34" charset="0"/>
                <a:ea typeface="Arial" pitchFamily="34" charset="-122"/>
                <a:cs typeface="Arial" pitchFamily="34" charset="-120"/>
              </a:rPr>
              <a:t>Báo cáo tự thiết kế, tự gửi đến người cần</a:t>
            </a:r>
            <a:endParaRPr lang="vi-VN" sz="3190" dirty="0"/>
          </a:p>
        </p:txBody>
      </p:sp>
      <p:sp>
        <p:nvSpPr>
          <p:cNvPr id="4" name="Shape 2"/>
          <p:cNvSpPr/>
          <p:nvPr/>
        </p:nvSpPr>
        <p:spPr>
          <a:xfrm>
            <a:off x="812800" y="1895475"/>
            <a:ext cx="6350000" cy="3968750"/>
          </a:xfrm>
          <a:prstGeom prst="roundRect">
            <a:avLst>
              <a:gd name="adj" fmla="val 2560"/>
            </a:avLst>
          </a:prstGeom>
          <a:solidFill>
            <a:srgbClr val="FFFFFF"/>
          </a:solidFill>
          <a:ln/>
          <a:effectLst>
            <a:outerShdw sx="100000" sy="100000" kx="0" ky="0" algn="bl" rotWithShape="0" blurRad="304800" dist="152400" dir="5400000">
              <a:srgbClr val="13261D">
                <a:alpha val="12000"/>
              </a:srgbClr>
            </a:outerShdw>
          </a:effectLst>
        </p:spPr>
      </p:sp>
      <p:pic>
        <p:nvPicPr>
          <p:cNvPr id="5" name="Image 0" descr="Báo cáo mùa vụ: chỉ số chính, số ruồi mỗi ngày và loài côn trùng, với các nút Xuất PDF, Gửi email và Chia sẻ">    </p:cNvPr>
          <p:cNvPicPr>
            <a:picLocks noChangeAspect="1"/>
          </p:cNvPicPr>
          <p:nvPr/>
        </p:nvPicPr>
        <p:blipFill>
          <a:blip r:embed="rId1"/>
          <a:srcRect l="-60" r="-60" t="0" b="0"/>
          <a:stretch/>
        </p:blipFill>
        <p:spPr>
          <a:xfrm>
            <a:off x="819150" y="1901825"/>
            <a:ext cx="6337300" cy="3956050"/>
          </a:xfrm>
          <a:prstGeom prst="roundRect">
            <a:avLst>
              <a:gd name="adj" fmla="val 2408"/>
            </a:avLst>
          </a:prstGeom>
        </p:spPr>
      </p:pic>
      <p:sp>
        <p:nvSpPr>
          <p:cNvPr id="6" name="Shape 3"/>
          <p:cNvSpPr/>
          <p:nvPr/>
        </p:nvSpPr>
        <p:spPr>
          <a:xfrm>
            <a:off x="815975" y="1898650"/>
            <a:ext cx="6343650" cy="3962400"/>
          </a:xfrm>
          <a:prstGeom prst="roundRect">
            <a:avLst>
              <a:gd name="adj" fmla="val 2484"/>
            </a:avLst>
          </a:prstGeom>
          <a:noFill/>
          <a:ln w="6350">
            <a:solidFill>
              <a:srgbClr val="DCE3DA"/>
            </a:solidFill>
            <a:prstDash val="solid"/>
          </a:ln>
        </p:spPr>
      </p:sp>
      <p:sp>
        <p:nvSpPr>
          <p:cNvPr id="7" name="Text 4"/>
          <p:cNvSpPr/>
          <p:nvPr/>
        </p:nvSpPr>
        <p:spPr>
          <a:xfrm>
            <a:off x="7569200" y="1895475"/>
            <a:ext cx="3924300" cy="279400"/>
          </a:xfrm>
          <a:prstGeom prst="rect">
            <a:avLst/>
          </a:prstGeom>
          <a:noFill/>
          <a:ln/>
        </p:spPr>
        <p:txBody>
          <a:bodyPr wrap="square" lIns="0" tIns="0" rIns="0" bIns="0" rtlCol="0" anchor="t">
            <a:normAutofit/>
          </a:bodyPr>
          <a:lstStyle/>
          <a:p>
            <a:pPr algn="l" indent="0" marL="0">
              <a:lnSpc>
                <a:spcPts val="2000"/>
              </a:lnSpc>
              <a:buNone/>
            </a:pPr>
            <a:r>
              <a:rPr lang="vi-VN" sz="1600" b="1" dirty="0">
                <a:solidFill>
                  <a:srgbClr val="13261D"/>
                </a:solidFill>
                <a:latin typeface="Arial" pitchFamily="34" charset="0"/>
                <a:ea typeface="Arial" pitchFamily="34" charset="-122"/>
                <a:cs typeface="Arial" pitchFamily="34" charset="-120"/>
              </a:rPr>
              <a:t>Chọn các khối</a:t>
            </a:r>
            <a:endParaRPr lang="vi-VN" sz="1600" dirty="0"/>
          </a:p>
        </p:txBody>
      </p:sp>
      <p:sp>
        <p:nvSpPr>
          <p:cNvPr id="8" name="Text 5"/>
          <p:cNvSpPr/>
          <p:nvPr/>
        </p:nvSpPr>
        <p:spPr>
          <a:xfrm>
            <a:off x="7569200" y="2200275"/>
            <a:ext cx="3924300" cy="520700"/>
          </a:xfrm>
          <a:prstGeom prst="rect">
            <a:avLst/>
          </a:prstGeom>
          <a:noFill/>
          <a:ln/>
        </p:spPr>
        <p:txBody>
          <a:bodyPr wrap="square" lIns="0" tIns="0" rIns="0" bIns="0" rtlCol="0" anchor="t">
            <a:normAutofit/>
          </a:bodyPr>
          <a:lstStyle/>
          <a:p>
            <a:pPr algn="l" indent="0" marL="0">
              <a:lnSpc>
                <a:spcPts val="1950"/>
              </a:lnSpc>
              <a:buNone/>
            </a:pPr>
            <a:r>
              <a:rPr lang="vi-VN" sz="1300" dirty="0">
                <a:solidFill>
                  <a:srgbClr val="4A5A50"/>
                </a:solidFill>
                <a:latin typeface="Arial" pitchFamily="34" charset="0"/>
                <a:ea typeface="Arial" pitchFamily="34" charset="-122"/>
                <a:cs typeface="Arial" pitchFamily="34" charset="-120"/>
              </a:rPr>
              <a:t>Chỉ số, biểu đồ, bảng; 7 ngày đến 12 tháng, so với kỳ trước.</a:t>
            </a:r>
            <a:endParaRPr lang="vi-VN" sz="1300" dirty="0"/>
          </a:p>
        </p:txBody>
      </p:sp>
      <p:sp>
        <p:nvSpPr>
          <p:cNvPr id="9" name="Text 6"/>
          <p:cNvSpPr/>
          <p:nvPr/>
        </p:nvSpPr>
        <p:spPr>
          <a:xfrm>
            <a:off x="7569200" y="2949575"/>
            <a:ext cx="3924300" cy="279400"/>
          </a:xfrm>
          <a:prstGeom prst="rect">
            <a:avLst/>
          </a:prstGeom>
          <a:noFill/>
          <a:ln/>
        </p:spPr>
        <p:txBody>
          <a:bodyPr wrap="square" lIns="0" tIns="0" rIns="0" bIns="0" rtlCol="0" anchor="t">
            <a:normAutofit/>
          </a:bodyPr>
          <a:lstStyle/>
          <a:p>
            <a:pPr algn="l" indent="0" marL="0">
              <a:lnSpc>
                <a:spcPts val="2000"/>
              </a:lnSpc>
              <a:buNone/>
            </a:pPr>
            <a:r>
              <a:rPr lang="vi-VN" sz="1600" b="1" dirty="0">
                <a:solidFill>
                  <a:srgbClr val="13261D"/>
                </a:solidFill>
                <a:latin typeface="Arial" pitchFamily="34" charset="0"/>
                <a:ea typeface="Arial" pitchFamily="34" charset="-122"/>
                <a:cs typeface="Arial" pitchFamily="34" charset="-120"/>
              </a:rPr>
              <a:t>Gửi định kỳ</a:t>
            </a:r>
            <a:endParaRPr lang="vi-VN" sz="1600" dirty="0"/>
          </a:p>
        </p:txBody>
      </p:sp>
      <p:sp>
        <p:nvSpPr>
          <p:cNvPr id="10" name="Text 7"/>
          <p:cNvSpPr/>
          <p:nvPr/>
        </p:nvSpPr>
        <p:spPr>
          <a:xfrm>
            <a:off x="7569200" y="3254375"/>
            <a:ext cx="3924300" cy="520700"/>
          </a:xfrm>
          <a:prstGeom prst="rect">
            <a:avLst/>
          </a:prstGeom>
          <a:noFill/>
          <a:ln/>
        </p:spPr>
        <p:txBody>
          <a:bodyPr wrap="square" lIns="0" tIns="0" rIns="0" bIns="0" rtlCol="0" anchor="t">
            <a:normAutofit/>
          </a:bodyPr>
          <a:lstStyle/>
          <a:p>
            <a:pPr algn="l" indent="0" marL="0">
              <a:lnSpc>
                <a:spcPts val="1950"/>
              </a:lnSpc>
              <a:buNone/>
            </a:pPr>
            <a:r>
              <a:rPr lang="vi-VN" sz="1300" dirty="0">
                <a:solidFill>
                  <a:srgbClr val="4A5A50"/>
                </a:solidFill>
                <a:latin typeface="Arial" pitchFamily="34" charset="0"/>
                <a:ea typeface="Arial" pitchFamily="34" charset="-122"/>
                <a:cs typeface="Arial" pitchFamily="34" charset="-120"/>
              </a:rPr>
              <a:t>Hằng tuần hoặc hằng tháng, kèm PDF, qua email và Telegram.</a:t>
            </a:r>
            <a:endParaRPr lang="vi-VN" sz="1300" dirty="0"/>
          </a:p>
        </p:txBody>
      </p:sp>
      <p:sp>
        <p:nvSpPr>
          <p:cNvPr id="11" name="Text 8"/>
          <p:cNvSpPr/>
          <p:nvPr/>
        </p:nvSpPr>
        <p:spPr>
          <a:xfrm>
            <a:off x="7569200" y="4003675"/>
            <a:ext cx="3924300" cy="279400"/>
          </a:xfrm>
          <a:prstGeom prst="rect">
            <a:avLst/>
          </a:prstGeom>
          <a:noFill/>
          <a:ln/>
        </p:spPr>
        <p:txBody>
          <a:bodyPr wrap="square" lIns="0" tIns="0" rIns="0" bIns="0" rtlCol="0" anchor="t">
            <a:normAutofit/>
          </a:bodyPr>
          <a:lstStyle/>
          <a:p>
            <a:pPr algn="l" indent="0" marL="0">
              <a:lnSpc>
                <a:spcPts val="2000"/>
              </a:lnSpc>
              <a:buNone/>
            </a:pPr>
            <a:r>
              <a:rPr lang="vi-VN" sz="1600" b="1" dirty="0">
                <a:solidFill>
                  <a:srgbClr val="13261D"/>
                </a:solidFill>
                <a:latin typeface="Arial" pitchFamily="34" charset="0"/>
                <a:ea typeface="Arial" pitchFamily="34" charset="-122"/>
                <a:cs typeface="Arial" pitchFamily="34" charset="-120"/>
              </a:rPr>
              <a:t>Chia sẻ có thời hạn</a:t>
            </a:r>
            <a:endParaRPr lang="vi-VN" sz="1600" dirty="0"/>
          </a:p>
        </p:txBody>
      </p:sp>
      <p:sp>
        <p:nvSpPr>
          <p:cNvPr id="12" name="Text 9"/>
          <p:cNvSpPr/>
          <p:nvPr/>
        </p:nvSpPr>
        <p:spPr>
          <a:xfrm>
            <a:off x="7569200" y="4308475"/>
            <a:ext cx="3924300" cy="520700"/>
          </a:xfrm>
          <a:prstGeom prst="rect">
            <a:avLst/>
          </a:prstGeom>
          <a:noFill/>
          <a:ln/>
        </p:spPr>
        <p:txBody>
          <a:bodyPr wrap="square" lIns="0" tIns="0" rIns="0" bIns="0" rtlCol="0" anchor="t">
            <a:normAutofit/>
          </a:bodyPr>
          <a:lstStyle/>
          <a:p>
            <a:pPr algn="l" indent="0" marL="0">
              <a:lnSpc>
                <a:spcPts val="1950"/>
              </a:lnSpc>
              <a:buNone/>
            </a:pPr>
            <a:r>
              <a:rPr lang="vi-VN" sz="1300" dirty="0">
                <a:solidFill>
                  <a:srgbClr val="4A5A50"/>
                </a:solidFill>
                <a:latin typeface="Arial" pitchFamily="34" charset="0"/>
                <a:ea typeface="Arial" pitchFamily="34" charset="-122"/>
                <a:cs typeface="Arial" pitchFamily="34" charset="-120"/>
              </a:rPr>
              <a:t>Chia sẻ cho đồng nghiệp hoặc qua link công khai, tự hết hạn.</a:t>
            </a:r>
            <a:endParaRPr lang="vi-VN"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vi-VN" sz="1200" dirty="0">
                <a:solidFill>
                  <a:srgbClr val="6B7B70"/>
                </a:solidFill>
                <a:latin typeface="Arial" pitchFamily="34" charset="0"/>
                <a:ea typeface="Arial" pitchFamily="34" charset="-122"/>
                <a:cs typeface="Arial" pitchFamily="34" charset="-120"/>
              </a:rPr>
              <a:t>FlyBot · 11</a:t>
            </a:r>
            <a:endParaRPr lang="vi-VN"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326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vi-VN" sz="1200" b="1" spc="150" kern="0" dirty="0">
                <a:solidFill>
                  <a:srgbClr val="F2C230"/>
                </a:solidFill>
                <a:latin typeface="Arial" pitchFamily="34" charset="0"/>
                <a:ea typeface="Arial" pitchFamily="34" charset="-122"/>
                <a:cs typeface="Arial" pitchFamily="34" charset="-120"/>
              </a:rPr>
              <a:t>TRỢ LÝ AI</a:t>
            </a:r>
            <a:endParaRPr lang="vi-VN"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vi-VN" sz="3200" b="1" i="0" dirty="0">
                <a:solidFill>
                  <a:srgbClr val="F5F7F1"/>
                </a:solidFill>
                <a:latin typeface="Arial" pitchFamily="34" charset="0"/>
                <a:ea typeface="Arial" pitchFamily="34" charset="-122"/>
                <a:cs typeface="Arial" pitchFamily="34" charset="-120"/>
              </a:rPr>
              <a:t>Hỏi bằng lời, trợ lý tự tra cứu và làm</a:t>
            </a:r>
            <a:endParaRPr lang="vi-VN" sz="3200" dirty="0"/>
          </a:p>
        </p:txBody>
      </p:sp>
      <p:sp>
        <p:nvSpPr>
          <p:cNvPr id="4" name="Shape 2"/>
          <p:cNvSpPr/>
          <p:nvPr/>
        </p:nvSpPr>
        <p:spPr>
          <a:xfrm>
            <a:off x="815975" y="1953816"/>
            <a:ext cx="3181350" cy="3281759"/>
          </a:xfrm>
          <a:prstGeom prst="roundRect">
            <a:avLst>
              <a:gd name="adj" fmla="val 3892"/>
            </a:avLst>
          </a:prstGeom>
          <a:solidFill>
            <a:srgbClr val="1E3A2C"/>
          </a:solidFill>
          <a:ln w="6350">
            <a:solidFill>
              <a:srgbClr val="2E4A3B"/>
            </a:solidFill>
            <a:prstDash val="solid"/>
          </a:ln>
        </p:spPr>
      </p:sp>
      <p:pic>
        <p:nvPicPr>
          <p:cNvPr id="5" name="Image 0" descr="Chat">    </p:cNvPr>
          <p:cNvPicPr>
            <a:picLocks noChangeAspect="1"/>
          </p:cNvPicPr>
          <p:nvPr/>
        </p:nvPicPr>
        <p:blipFill>
          <a:blip r:embed="rId1"/>
          <a:srcRect l="0" r="0" t="0" b="0"/>
          <a:stretch/>
        </p:blipFill>
        <p:spPr>
          <a:xfrm>
            <a:off x="1073150" y="2210991"/>
            <a:ext cx="355600" cy="355600"/>
          </a:xfrm>
          <a:prstGeom prst="rect">
            <a:avLst/>
          </a:prstGeom>
        </p:spPr>
      </p:pic>
      <p:sp>
        <p:nvSpPr>
          <p:cNvPr id="6" name="Text 3"/>
          <p:cNvSpPr/>
          <p:nvPr/>
        </p:nvSpPr>
        <p:spPr>
          <a:xfrm>
            <a:off x="1073150" y="2693591"/>
            <a:ext cx="2747010" cy="299641"/>
          </a:xfrm>
          <a:prstGeom prst="rect">
            <a:avLst/>
          </a:prstGeom>
          <a:noFill/>
          <a:ln/>
        </p:spPr>
        <p:txBody>
          <a:bodyPr wrap="square" lIns="0" tIns="0" rIns="0" bIns="0" rtlCol="0" anchor="t">
            <a:normAutofit/>
          </a:bodyPr>
          <a:lstStyle/>
          <a:p>
            <a:pPr algn="l" indent="0" marL="0">
              <a:lnSpc>
                <a:spcPts val="2160"/>
              </a:lnSpc>
              <a:buNone/>
            </a:pPr>
            <a:r>
              <a:rPr lang="vi-VN" sz="1800" b="1" dirty="0">
                <a:solidFill>
                  <a:srgbClr val="F5F7F1"/>
                </a:solidFill>
                <a:latin typeface="Arial" pitchFamily="34" charset="0"/>
                <a:ea typeface="Arial" pitchFamily="34" charset="-122"/>
                <a:cs typeface="Arial" pitchFamily="34" charset="-120"/>
              </a:rPr>
              <a:t>Bạn hỏi</a:t>
            </a:r>
            <a:endParaRPr lang="vi-VN" sz="1800" dirty="0"/>
          </a:p>
        </p:txBody>
      </p:sp>
      <p:sp>
        <p:nvSpPr>
          <p:cNvPr id="7" name="Text 4"/>
          <p:cNvSpPr/>
          <p:nvPr/>
        </p:nvSpPr>
        <p:spPr>
          <a:xfrm>
            <a:off x="1073150" y="3094831"/>
            <a:ext cx="2747010" cy="1016000"/>
          </a:xfrm>
          <a:prstGeom prst="rect">
            <a:avLst/>
          </a:prstGeom>
          <a:noFill/>
          <a:ln/>
        </p:spPr>
        <p:txBody>
          <a:bodyPr wrap="square" lIns="0" tIns="0" rIns="0" bIns="0" rtlCol="0" anchor="t">
            <a:normAutofit/>
          </a:bodyPr>
          <a:lstStyle/>
          <a:p>
            <a:pPr algn="l" indent="0" marL="0">
              <a:lnSpc>
                <a:spcPts val="1950"/>
              </a:lnSpc>
              <a:buNone/>
            </a:pPr>
            <a:r>
              <a:rPr lang="vi-VN" sz="1300" dirty="0">
                <a:solidFill>
                  <a:srgbClr val="BFD3C6"/>
                </a:solidFill>
                <a:latin typeface="Arial" pitchFamily="34" charset="0"/>
                <a:ea typeface="Arial" pitchFamily="34" charset="-122"/>
                <a:cs typeface="Arial" pitchFamily="34" charset="-120"/>
              </a:rPr>
              <a:t>"Bẫy nào đang nặng nhất?"</a:t>
            </a:r>
            <a:endParaRPr lang="vi-VN" sz="1300" dirty="0"/>
          </a:p>
          <a:p>
            <a:pPr algn="l" indent="0" marL="0">
              <a:lnSpc>
                <a:spcPts val="1950"/>
              </a:lnSpc>
              <a:buNone/>
            </a:pPr>
            <a:r>
              <a:rPr lang="vi-VN" sz="1300" dirty="0">
                <a:solidFill>
                  <a:srgbClr val="BFD3C6"/>
                </a:solidFill>
                <a:latin typeface="Arial" pitchFamily="34" charset="0"/>
                <a:ea typeface="Arial" pitchFamily="34" charset="-122"/>
                <a:cs typeface="Arial" pitchFamily="34" charset="-120"/>
              </a:rPr>
              <a:t>"Lần phun tuần trước có hiệu quả không?"</a:t>
            </a:r>
            <a:endParaRPr lang="vi-VN" sz="1300" dirty="0"/>
          </a:p>
          <a:p>
            <a:pPr algn="l" indent="0" marL="0">
              <a:lnSpc>
                <a:spcPts val="1950"/>
              </a:lnSpc>
              <a:buNone/>
            </a:pPr>
            <a:r>
              <a:rPr lang="vi-VN" sz="1300" dirty="0">
                <a:solidFill>
                  <a:srgbClr val="BFD3C6"/>
                </a:solidFill>
                <a:latin typeface="Arial" pitchFamily="34" charset="0"/>
                <a:ea typeface="Arial" pitchFamily="34" charset="-122"/>
                <a:cs typeface="Arial" pitchFamily="34" charset="-120"/>
              </a:rPr>
              <a:t>"Tôi đã thay tấm keo bẫy A1."</a:t>
            </a:r>
            <a:endParaRPr lang="vi-VN" sz="1300" dirty="0"/>
          </a:p>
        </p:txBody>
      </p:sp>
      <p:pic>
        <p:nvPicPr>
          <p:cNvPr id="8" name="Image 1" descr="arrow-right">    </p:cNvPr>
          <p:cNvPicPr>
            <a:picLocks noChangeAspect="1"/>
          </p:cNvPicPr>
          <p:nvPr/>
        </p:nvPicPr>
        <p:blipFill>
          <a:blip r:embed="rId2"/>
          <a:srcRect l="0" r="0" t="0" b="0"/>
          <a:stretch/>
        </p:blipFill>
        <p:spPr>
          <a:xfrm>
            <a:off x="4102100" y="3505795"/>
            <a:ext cx="304800" cy="177800"/>
          </a:xfrm>
          <a:prstGeom prst="rect">
            <a:avLst/>
          </a:prstGeom>
        </p:spPr>
      </p:pic>
      <p:sp>
        <p:nvSpPr>
          <p:cNvPr id="9" name="Shape 5"/>
          <p:cNvSpPr/>
          <p:nvPr/>
        </p:nvSpPr>
        <p:spPr>
          <a:xfrm>
            <a:off x="4511675" y="1953816"/>
            <a:ext cx="3181350" cy="3281759"/>
          </a:xfrm>
          <a:prstGeom prst="roundRect">
            <a:avLst>
              <a:gd name="adj" fmla="val 3892"/>
            </a:avLst>
          </a:prstGeom>
          <a:solidFill>
            <a:srgbClr val="1E3A2C"/>
          </a:solidFill>
          <a:ln w="6350">
            <a:solidFill>
              <a:srgbClr val="2E4A3B"/>
            </a:solidFill>
            <a:prstDash val="solid"/>
          </a:ln>
        </p:spPr>
      </p:sp>
      <p:pic>
        <p:nvPicPr>
          <p:cNvPr id="10" name="Image 2" descr="Tool">    </p:cNvPr>
          <p:cNvPicPr>
            <a:picLocks noChangeAspect="1"/>
          </p:cNvPicPr>
          <p:nvPr/>
        </p:nvPicPr>
        <p:blipFill>
          <a:blip r:embed="rId3"/>
          <a:srcRect l="0" r="0" t="0" b="0"/>
          <a:stretch/>
        </p:blipFill>
        <p:spPr>
          <a:xfrm>
            <a:off x="4768850" y="2210991"/>
            <a:ext cx="355600" cy="355600"/>
          </a:xfrm>
          <a:prstGeom prst="rect">
            <a:avLst/>
          </a:prstGeom>
        </p:spPr>
      </p:pic>
      <p:sp>
        <p:nvSpPr>
          <p:cNvPr id="11" name="Text 6"/>
          <p:cNvSpPr/>
          <p:nvPr/>
        </p:nvSpPr>
        <p:spPr>
          <a:xfrm>
            <a:off x="4768850" y="2693591"/>
            <a:ext cx="2747010" cy="299641"/>
          </a:xfrm>
          <a:prstGeom prst="rect">
            <a:avLst/>
          </a:prstGeom>
          <a:noFill/>
          <a:ln/>
        </p:spPr>
        <p:txBody>
          <a:bodyPr wrap="square" lIns="0" tIns="0" rIns="0" bIns="0" rtlCol="0" anchor="t">
            <a:normAutofit/>
          </a:bodyPr>
          <a:lstStyle/>
          <a:p>
            <a:pPr algn="l" indent="0" marL="0">
              <a:lnSpc>
                <a:spcPts val="2160"/>
              </a:lnSpc>
              <a:buNone/>
            </a:pPr>
            <a:r>
              <a:rPr lang="vi-VN" sz="1800" b="1" dirty="0">
                <a:solidFill>
                  <a:srgbClr val="F5F7F1"/>
                </a:solidFill>
                <a:latin typeface="Arial" pitchFamily="34" charset="0"/>
                <a:ea typeface="Arial" pitchFamily="34" charset="-122"/>
                <a:cs typeface="Arial" pitchFamily="34" charset="-120"/>
              </a:rPr>
              <a:t>Trợ lý tự chọn công cụ</a:t>
            </a:r>
            <a:endParaRPr lang="vi-VN" sz="1800" dirty="0"/>
          </a:p>
        </p:txBody>
      </p:sp>
      <p:sp>
        <p:nvSpPr>
          <p:cNvPr id="12" name="Text 7"/>
          <p:cNvSpPr/>
          <p:nvPr/>
        </p:nvSpPr>
        <p:spPr>
          <a:xfrm>
            <a:off x="4768850" y="3094831"/>
            <a:ext cx="2747010" cy="1016000"/>
          </a:xfrm>
          <a:prstGeom prst="rect">
            <a:avLst/>
          </a:prstGeom>
          <a:noFill/>
          <a:ln/>
        </p:spPr>
        <p:txBody>
          <a:bodyPr wrap="square" lIns="0" tIns="0" rIns="0" bIns="0" rtlCol="0" anchor="t">
            <a:normAutofit/>
          </a:bodyPr>
          <a:lstStyle/>
          <a:p>
            <a:pPr algn="l" indent="0" marL="0">
              <a:lnSpc>
                <a:spcPts val="1950"/>
              </a:lnSpc>
              <a:buNone/>
            </a:pPr>
            <a:r>
              <a:rPr lang="vi-VN" sz="1300" dirty="0">
                <a:solidFill>
                  <a:srgbClr val="BFD3C6"/>
                </a:solidFill>
                <a:latin typeface="Arial" pitchFamily="34" charset="0"/>
                <a:ea typeface="Arial" pitchFamily="34" charset="-122"/>
                <a:cs typeface="Arial" pitchFamily="34" charset="-120"/>
              </a:rPr>
              <a:t>Số liệu bẫy, so sánh tuần, cảnh báo, báo cáo, nhật ký vườn; nhìn trực tiếp một ảnh; chụp ảnh, gửi báo cáo.</a:t>
            </a:r>
            <a:endParaRPr lang="vi-VN" sz="1300" dirty="0"/>
          </a:p>
        </p:txBody>
      </p:sp>
      <p:pic>
        <p:nvPicPr>
          <p:cNvPr id="13" name="Image 3" descr="arrow-right">    </p:cNvPr>
          <p:cNvPicPr>
            <a:picLocks noChangeAspect="1"/>
          </p:cNvPicPr>
          <p:nvPr/>
        </p:nvPicPr>
        <p:blipFill>
          <a:blip r:embed="rId4"/>
          <a:srcRect l="0" r="0" t="0" b="0"/>
          <a:stretch/>
        </p:blipFill>
        <p:spPr>
          <a:xfrm>
            <a:off x="7797800" y="3505795"/>
            <a:ext cx="304800" cy="177800"/>
          </a:xfrm>
          <a:prstGeom prst="rect">
            <a:avLst/>
          </a:prstGeom>
        </p:spPr>
      </p:pic>
      <p:sp>
        <p:nvSpPr>
          <p:cNvPr id="14" name="Shape 8"/>
          <p:cNvSpPr/>
          <p:nvPr/>
        </p:nvSpPr>
        <p:spPr>
          <a:xfrm>
            <a:off x="8204200" y="1950641"/>
            <a:ext cx="3175000" cy="3288109"/>
          </a:xfrm>
          <a:prstGeom prst="roundRect">
            <a:avLst>
              <a:gd name="adj" fmla="val 4000"/>
            </a:avLst>
          </a:prstGeom>
          <a:solidFill>
            <a:srgbClr val="F5F7F1"/>
          </a:solidFill>
          <a:ln/>
        </p:spPr>
      </p:sp>
      <p:pic>
        <p:nvPicPr>
          <p:cNvPr id="15" name="Image 4" descr="CheckCircle">    </p:cNvPr>
          <p:cNvPicPr>
            <a:picLocks noChangeAspect="1"/>
          </p:cNvPicPr>
          <p:nvPr/>
        </p:nvPicPr>
        <p:blipFill>
          <a:blip r:embed="rId5"/>
          <a:srcRect l="0" r="0" t="0" b="0"/>
          <a:stretch/>
        </p:blipFill>
        <p:spPr>
          <a:xfrm>
            <a:off x="8458200" y="2204641"/>
            <a:ext cx="355600" cy="355600"/>
          </a:xfrm>
          <a:prstGeom prst="rect">
            <a:avLst/>
          </a:prstGeom>
        </p:spPr>
      </p:pic>
      <p:sp>
        <p:nvSpPr>
          <p:cNvPr id="16" name="Text 9"/>
          <p:cNvSpPr/>
          <p:nvPr/>
        </p:nvSpPr>
        <p:spPr>
          <a:xfrm>
            <a:off x="8458200" y="2687241"/>
            <a:ext cx="2747010" cy="299641"/>
          </a:xfrm>
          <a:prstGeom prst="rect">
            <a:avLst/>
          </a:prstGeom>
          <a:noFill/>
          <a:ln/>
        </p:spPr>
        <p:txBody>
          <a:bodyPr wrap="square" lIns="0" tIns="0" rIns="0" bIns="0" rtlCol="0" anchor="t">
            <a:normAutofit/>
          </a:bodyPr>
          <a:lstStyle/>
          <a:p>
            <a:pPr algn="l" indent="0" marL="0">
              <a:lnSpc>
                <a:spcPts val="2160"/>
              </a:lnSpc>
              <a:buNone/>
            </a:pPr>
            <a:r>
              <a:rPr lang="vi-VN" sz="1800" b="1" dirty="0">
                <a:solidFill>
                  <a:srgbClr val="13261D"/>
                </a:solidFill>
                <a:latin typeface="Arial" pitchFamily="34" charset="0"/>
                <a:ea typeface="Arial" pitchFamily="34" charset="-122"/>
                <a:cs typeface="Arial" pitchFamily="34" charset="-120"/>
              </a:rPr>
              <a:t>Trả lời và dẫn đường</a:t>
            </a:r>
            <a:endParaRPr lang="vi-VN" sz="1800" dirty="0"/>
          </a:p>
        </p:txBody>
      </p:sp>
      <p:sp>
        <p:nvSpPr>
          <p:cNvPr id="17" name="Text 10"/>
          <p:cNvSpPr/>
          <p:nvPr/>
        </p:nvSpPr>
        <p:spPr>
          <a:xfrm>
            <a:off x="8458200" y="3088481"/>
            <a:ext cx="2747010" cy="1016000"/>
          </a:xfrm>
          <a:prstGeom prst="rect">
            <a:avLst/>
          </a:prstGeom>
          <a:noFill/>
          <a:ln/>
        </p:spPr>
        <p:txBody>
          <a:bodyPr wrap="square" lIns="0" tIns="0" rIns="0" bIns="0" rtlCol="0" anchor="t">
            <a:normAutofit/>
          </a:bodyPr>
          <a:lstStyle/>
          <a:p>
            <a:pPr algn="l" indent="0" marL="0">
              <a:lnSpc>
                <a:spcPts val="1950"/>
              </a:lnSpc>
              <a:buNone/>
            </a:pPr>
            <a:r>
              <a:rPr lang="vi-VN" sz="1300" dirty="0">
                <a:solidFill>
                  <a:srgbClr val="4A5A50"/>
                </a:solidFill>
                <a:latin typeface="Arial" pitchFamily="34" charset="0"/>
                <a:ea typeface="Arial" pitchFamily="34" charset="-122"/>
                <a:cs typeface="Arial" pitchFamily="34" charset="-120"/>
              </a:rPr>
              <a:t>Trả lời hiện dần, kèm ảnh, biểu đồ; mở đúng màn hình. Thay đổi chỉ được ghi khi bạn bấm Xác nhận.</a:t>
            </a:r>
            <a:endParaRPr lang="vi-VN" sz="1300" dirty="0"/>
          </a:p>
        </p:txBody>
      </p:sp>
      <p:sp>
        <p:nvSpPr>
          <p:cNvPr id="18" name="Text 11"/>
          <p:cNvSpPr/>
          <p:nvPr/>
        </p:nvSpPr>
        <p:spPr>
          <a:xfrm>
            <a:off x="812800" y="5594350"/>
            <a:ext cx="10883392" cy="273050"/>
          </a:xfrm>
          <a:prstGeom prst="rect">
            <a:avLst/>
          </a:prstGeom>
          <a:noFill/>
          <a:ln/>
        </p:spPr>
        <p:txBody>
          <a:bodyPr wrap="square" lIns="0" tIns="0" rIns="0" bIns="0" rtlCol="0" anchor="t">
            <a:normAutofit/>
          </a:bodyPr>
          <a:lstStyle/>
          <a:p>
            <a:pPr algn="l" indent="0" marL="0">
              <a:lnSpc>
                <a:spcPts val="1950"/>
              </a:lnSpc>
              <a:buNone/>
            </a:pPr>
            <a:r>
              <a:rPr lang="vi-VN" sz="1300" dirty="0">
                <a:solidFill>
                  <a:srgbClr val="BFD3C6"/>
                </a:solidFill>
                <a:latin typeface="Arial" pitchFamily="34" charset="0"/>
                <a:ea typeface="Arial" pitchFamily="34" charset="-122"/>
                <a:cs typeface="Arial" pitchFamily="34" charset="-120"/>
              </a:rPr>
              <a:t>Trợ lý chỉ thấy camera bạn có quyền xem, và không thay đổi cài đặt hay tài khoản.</a:t>
            </a:r>
            <a:endParaRPr lang="vi-VN" sz="1300" dirty="0"/>
          </a:p>
        </p:txBody>
      </p:sp>
      <p:sp>
        <p:nvSpPr>
          <p:cNvPr id="19"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vi-VN" sz="1200" dirty="0">
                <a:solidFill>
                  <a:srgbClr val="8FA898"/>
                </a:solidFill>
                <a:latin typeface="Arial" pitchFamily="34" charset="0"/>
                <a:ea typeface="Arial" pitchFamily="34" charset="-122"/>
                <a:cs typeface="Arial" pitchFamily="34" charset="-120"/>
              </a:rPr>
              <a:t>FlyBot · 12 · Hướng dẫn chi tiết: </a:t>
            </a:r>
            <a:r>
              <a:rPr lang="vi-VN" sz="1200" u="sng" dirty="0">
                <a:solidFill>
                  <a:srgbClr val="8FA898"/>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ezviz.agrhub.com/manual</a:t>
            </a:r>
            <a:endParaRPr lang="vi-VN"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vi-VN" sz="1200" b="1" spc="150" kern="0" dirty="0">
                <a:solidFill>
                  <a:srgbClr val="1D7A50"/>
                </a:solidFill>
                <a:latin typeface="Arial" pitchFamily="34" charset="0"/>
                <a:ea typeface="Arial" pitchFamily="34" charset="-122"/>
                <a:cs typeface="Arial" pitchFamily="34" charset="-120"/>
              </a:rPr>
              <a:t>TRỢ LÝ AI TRONG ỨNG DỤNG</a:t>
            </a:r>
            <a:endParaRPr lang="vi-VN"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vi-VN" sz="3200" b="1" i="0" dirty="0">
                <a:solidFill>
                  <a:srgbClr val="13261D"/>
                </a:solidFill>
                <a:latin typeface="Arial" pitchFamily="34" charset="0"/>
                <a:ea typeface="Arial" pitchFamily="34" charset="-122"/>
                <a:cs typeface="Arial" pitchFamily="34" charset="-120"/>
              </a:rPr>
              <a:t>Trả lời bằng ảnh, biểu đồ và nút bấm</a:t>
            </a:r>
            <a:endParaRPr lang="vi-VN" sz="3200" dirty="0"/>
          </a:p>
        </p:txBody>
      </p:sp>
      <p:sp>
        <p:nvSpPr>
          <p:cNvPr id="4" name="Text 2"/>
          <p:cNvSpPr/>
          <p:nvPr/>
        </p:nvSpPr>
        <p:spPr>
          <a:xfrm>
            <a:off x="812800" y="1849041"/>
            <a:ext cx="2563876" cy="238720"/>
          </a:xfrm>
          <a:prstGeom prst="rect">
            <a:avLst/>
          </a:prstGeom>
          <a:noFill/>
          <a:ln/>
        </p:spPr>
        <p:txBody>
          <a:bodyPr wrap="square" lIns="0" tIns="0" rIns="0" bIns="0" rtlCol="0" anchor="t">
            <a:normAutofit/>
          </a:bodyPr>
          <a:lstStyle/>
          <a:p>
            <a:pPr algn="l" indent="0" marL="0">
              <a:lnSpc>
                <a:spcPts val="1680"/>
              </a:lnSpc>
              <a:buNone/>
            </a:pPr>
            <a:r>
              <a:rPr lang="vi-VN" sz="1200" b="1" dirty="0">
                <a:solidFill>
                  <a:srgbClr val="13261D"/>
                </a:solidFill>
                <a:latin typeface="Arial" pitchFamily="34" charset="0"/>
                <a:ea typeface="Arial" pitchFamily="34" charset="-122"/>
                <a:cs typeface="Arial" pitchFamily="34" charset="-120"/>
              </a:rPr>
              <a:t>Ảnh nhận dạng mới nhất</a:t>
            </a:r>
            <a:endParaRPr lang="vi-VN" sz="1200" dirty="0"/>
          </a:p>
        </p:txBody>
      </p:sp>
      <p:sp>
        <p:nvSpPr>
          <p:cNvPr id="5" name="Shape 3"/>
          <p:cNvSpPr/>
          <p:nvPr/>
        </p:nvSpPr>
        <p:spPr>
          <a:xfrm>
            <a:off x="812800" y="2138561"/>
            <a:ext cx="2489200" cy="3683000"/>
          </a:xfrm>
          <a:prstGeom prst="roundRect">
            <a:avLst>
              <a:gd name="adj" fmla="val 4082"/>
            </a:avLst>
          </a:prstGeom>
          <a:solidFill>
            <a:srgbClr val="FFFFFF"/>
          </a:solidFill>
          <a:ln/>
          <a:effectLst>
            <a:outerShdw sx="100000" sy="100000" kx="0" ky="0" algn="bl" rotWithShape="0" blurRad="203200" dist="101600" dir="5400000">
              <a:srgbClr val="13261D">
                <a:alpha val="10000"/>
              </a:srgbClr>
            </a:outerShdw>
          </a:effectLst>
        </p:spPr>
      </p:sp>
      <p:pic>
        <p:nvPicPr>
          <p:cNvPr id="6" name="Image 0" descr="Trợ lý trả lời câu hỏi ảnh mới nhất bằng 4 ảnh bẫy kèm số con">    </p:cNvPr>
          <p:cNvPicPr>
            <a:picLocks noChangeAspect="1"/>
          </p:cNvPicPr>
          <p:nvPr/>
        </p:nvPicPr>
        <p:blipFill>
          <a:blip r:embed="rId1"/>
          <a:srcRect l="0" r="0" t="-79" b="-79"/>
          <a:stretch/>
        </p:blipFill>
        <p:spPr>
          <a:xfrm>
            <a:off x="819150" y="2144911"/>
            <a:ext cx="2476500" cy="3670300"/>
          </a:xfrm>
          <a:prstGeom prst="roundRect">
            <a:avLst>
              <a:gd name="adj" fmla="val 3846"/>
            </a:avLst>
          </a:prstGeom>
        </p:spPr>
      </p:pic>
      <p:sp>
        <p:nvSpPr>
          <p:cNvPr id="7" name="Shape 4"/>
          <p:cNvSpPr/>
          <p:nvPr/>
        </p:nvSpPr>
        <p:spPr>
          <a:xfrm>
            <a:off x="815975" y="2141736"/>
            <a:ext cx="2482850" cy="3676650"/>
          </a:xfrm>
          <a:prstGeom prst="roundRect">
            <a:avLst>
              <a:gd name="adj" fmla="val 3964"/>
            </a:avLst>
          </a:prstGeom>
          <a:noFill/>
          <a:ln w="6350">
            <a:solidFill>
              <a:srgbClr val="DCE3DA"/>
            </a:solidFill>
            <a:prstDash val="solid"/>
          </a:ln>
        </p:spPr>
      </p:sp>
      <p:sp>
        <p:nvSpPr>
          <p:cNvPr id="8" name="Text 5"/>
          <p:cNvSpPr/>
          <p:nvPr/>
        </p:nvSpPr>
        <p:spPr>
          <a:xfrm>
            <a:off x="3505200" y="1849041"/>
            <a:ext cx="2563876" cy="238720"/>
          </a:xfrm>
          <a:prstGeom prst="rect">
            <a:avLst/>
          </a:prstGeom>
          <a:noFill/>
          <a:ln/>
        </p:spPr>
        <p:txBody>
          <a:bodyPr wrap="square" lIns="0" tIns="0" rIns="0" bIns="0" rtlCol="0" anchor="t">
            <a:normAutofit/>
          </a:bodyPr>
          <a:lstStyle/>
          <a:p>
            <a:pPr algn="l" indent="0" marL="0">
              <a:lnSpc>
                <a:spcPts val="1680"/>
              </a:lnSpc>
              <a:buNone/>
            </a:pPr>
            <a:r>
              <a:rPr lang="vi-VN" sz="1200" b="1" dirty="0">
                <a:solidFill>
                  <a:srgbClr val="13261D"/>
                </a:solidFill>
                <a:latin typeface="Arial" pitchFamily="34" charset="0"/>
                <a:ea typeface="Arial" pitchFamily="34" charset="-122"/>
                <a:cs typeface="Arial" pitchFamily="34" charset="-120"/>
              </a:rPr>
              <a:t>Biểu đồ ngay trong chat</a:t>
            </a:r>
            <a:endParaRPr lang="vi-VN" sz="1200" dirty="0"/>
          </a:p>
        </p:txBody>
      </p:sp>
      <p:sp>
        <p:nvSpPr>
          <p:cNvPr id="9" name="Shape 6"/>
          <p:cNvSpPr/>
          <p:nvPr/>
        </p:nvSpPr>
        <p:spPr>
          <a:xfrm>
            <a:off x="3505200" y="2138561"/>
            <a:ext cx="2489200" cy="2794000"/>
          </a:xfrm>
          <a:prstGeom prst="roundRect">
            <a:avLst>
              <a:gd name="adj" fmla="val 4082"/>
            </a:avLst>
          </a:prstGeom>
          <a:solidFill>
            <a:srgbClr val="FFFFFF"/>
          </a:solidFill>
          <a:ln/>
          <a:effectLst>
            <a:outerShdw sx="100000" sy="100000" kx="0" ky="0" algn="bl" rotWithShape="0" blurRad="203200" dist="101600" dir="5400000">
              <a:srgbClr val="13261D">
                <a:alpha val="10000"/>
              </a:srgbClr>
            </a:outerShdw>
          </a:effectLst>
        </p:spPr>
      </p:sp>
      <p:pic>
        <p:nvPicPr>
          <p:cNvPr id="10" name="Image 1" descr="Trợ lý trả lời 24 giờ qua kèm biểu đồ ruồi vào bẫy theo giờ">    </p:cNvPr>
          <p:cNvPicPr>
            <a:picLocks noChangeAspect="1"/>
          </p:cNvPicPr>
          <p:nvPr/>
        </p:nvPicPr>
        <p:blipFill>
          <a:blip r:embed="rId2"/>
          <a:srcRect l="0" r="0" t="-61" b="-61"/>
          <a:stretch/>
        </p:blipFill>
        <p:spPr>
          <a:xfrm>
            <a:off x="3511550" y="2144911"/>
            <a:ext cx="2476500" cy="2781300"/>
          </a:xfrm>
          <a:prstGeom prst="roundRect">
            <a:avLst>
              <a:gd name="adj" fmla="val 3846"/>
            </a:avLst>
          </a:prstGeom>
        </p:spPr>
      </p:pic>
      <p:sp>
        <p:nvSpPr>
          <p:cNvPr id="11" name="Shape 7"/>
          <p:cNvSpPr/>
          <p:nvPr/>
        </p:nvSpPr>
        <p:spPr>
          <a:xfrm>
            <a:off x="3508375" y="2141736"/>
            <a:ext cx="2482850" cy="2787650"/>
          </a:xfrm>
          <a:prstGeom prst="roundRect">
            <a:avLst>
              <a:gd name="adj" fmla="val 3964"/>
            </a:avLst>
          </a:prstGeom>
          <a:noFill/>
          <a:ln w="6350">
            <a:solidFill>
              <a:srgbClr val="DCE3DA"/>
            </a:solidFill>
            <a:prstDash val="solid"/>
          </a:ln>
        </p:spPr>
      </p:sp>
      <p:sp>
        <p:nvSpPr>
          <p:cNvPr id="12" name="Text 8"/>
          <p:cNvSpPr/>
          <p:nvPr/>
        </p:nvSpPr>
        <p:spPr>
          <a:xfrm>
            <a:off x="6197600" y="1849041"/>
            <a:ext cx="2563876" cy="238720"/>
          </a:xfrm>
          <a:prstGeom prst="rect">
            <a:avLst/>
          </a:prstGeom>
          <a:noFill/>
          <a:ln/>
        </p:spPr>
        <p:txBody>
          <a:bodyPr wrap="square" lIns="0" tIns="0" rIns="0" bIns="0" rtlCol="0" anchor="t">
            <a:normAutofit/>
          </a:bodyPr>
          <a:lstStyle/>
          <a:p>
            <a:pPr algn="l" indent="0" marL="0">
              <a:lnSpc>
                <a:spcPts val="1680"/>
              </a:lnSpc>
              <a:buNone/>
            </a:pPr>
            <a:r>
              <a:rPr lang="vi-VN" sz="1200" b="1" dirty="0">
                <a:solidFill>
                  <a:srgbClr val="13261D"/>
                </a:solidFill>
                <a:latin typeface="Arial" pitchFamily="34" charset="0"/>
                <a:ea typeface="Arial" pitchFamily="34" charset="-122"/>
                <a:cs typeface="Arial" pitchFamily="34" charset="-120"/>
              </a:rPr>
              <a:t>Hỏi về một ảnh</a:t>
            </a:r>
            <a:endParaRPr lang="vi-VN" sz="1200" dirty="0"/>
          </a:p>
        </p:txBody>
      </p:sp>
      <p:sp>
        <p:nvSpPr>
          <p:cNvPr id="13" name="Shape 9"/>
          <p:cNvSpPr/>
          <p:nvPr/>
        </p:nvSpPr>
        <p:spPr>
          <a:xfrm>
            <a:off x="6197600" y="2138561"/>
            <a:ext cx="2489200" cy="3448050"/>
          </a:xfrm>
          <a:prstGeom prst="roundRect">
            <a:avLst>
              <a:gd name="adj" fmla="val 4082"/>
            </a:avLst>
          </a:prstGeom>
          <a:solidFill>
            <a:srgbClr val="FFFFFF"/>
          </a:solidFill>
          <a:ln/>
          <a:effectLst>
            <a:outerShdw sx="100000" sy="100000" kx="0" ky="0" algn="bl" rotWithShape="0" blurRad="203200" dist="101600" dir="5400000">
              <a:srgbClr val="13261D">
                <a:alpha val="10000"/>
              </a:srgbClr>
            </a:outerShdw>
          </a:effectLst>
        </p:spPr>
      </p:sp>
      <p:pic>
        <p:nvPicPr>
          <p:cNvPr id="14" name="Image 2" descr="Trợ lý xem ảnh tấm bẫy và nhận xét số đếm, độ rõ của ảnh">    </p:cNvPr>
          <p:cNvPicPr>
            <a:picLocks noChangeAspect="1"/>
          </p:cNvPicPr>
          <p:nvPr/>
        </p:nvPicPr>
        <p:blipFill>
          <a:blip r:embed="rId3"/>
          <a:srcRect l="0" r="0" t="-106" b="-106"/>
          <a:stretch/>
        </p:blipFill>
        <p:spPr>
          <a:xfrm>
            <a:off x="6203950" y="2144911"/>
            <a:ext cx="2476500" cy="3435350"/>
          </a:xfrm>
          <a:prstGeom prst="roundRect">
            <a:avLst>
              <a:gd name="adj" fmla="val 3846"/>
            </a:avLst>
          </a:prstGeom>
        </p:spPr>
      </p:pic>
      <p:sp>
        <p:nvSpPr>
          <p:cNvPr id="15" name="Shape 10"/>
          <p:cNvSpPr/>
          <p:nvPr/>
        </p:nvSpPr>
        <p:spPr>
          <a:xfrm>
            <a:off x="6200775" y="2141736"/>
            <a:ext cx="2482850" cy="3441700"/>
          </a:xfrm>
          <a:prstGeom prst="roundRect">
            <a:avLst>
              <a:gd name="adj" fmla="val 3964"/>
            </a:avLst>
          </a:prstGeom>
          <a:noFill/>
          <a:ln w="6350">
            <a:solidFill>
              <a:srgbClr val="DCE3DA"/>
            </a:solidFill>
            <a:prstDash val="solid"/>
          </a:ln>
        </p:spPr>
      </p:sp>
      <p:sp>
        <p:nvSpPr>
          <p:cNvPr id="16" name="Text 11"/>
          <p:cNvSpPr/>
          <p:nvPr/>
        </p:nvSpPr>
        <p:spPr>
          <a:xfrm>
            <a:off x="8890000" y="1849041"/>
            <a:ext cx="2563876" cy="238720"/>
          </a:xfrm>
          <a:prstGeom prst="rect">
            <a:avLst/>
          </a:prstGeom>
          <a:noFill/>
          <a:ln/>
        </p:spPr>
        <p:txBody>
          <a:bodyPr wrap="square" lIns="0" tIns="0" rIns="0" bIns="0" rtlCol="0" anchor="t">
            <a:normAutofit/>
          </a:bodyPr>
          <a:lstStyle/>
          <a:p>
            <a:pPr algn="l" indent="0" marL="0">
              <a:lnSpc>
                <a:spcPts val="1680"/>
              </a:lnSpc>
              <a:buNone/>
            </a:pPr>
            <a:r>
              <a:rPr lang="vi-VN" sz="1200" b="1" dirty="0">
                <a:solidFill>
                  <a:srgbClr val="13261D"/>
                </a:solidFill>
                <a:latin typeface="Arial" pitchFamily="34" charset="0"/>
                <a:ea typeface="Arial" pitchFamily="34" charset="-122"/>
                <a:cs typeface="Arial" pitchFamily="34" charset="-120"/>
              </a:rPr>
              <a:t>Ghi nhận khi bạn xác nhận</a:t>
            </a:r>
            <a:endParaRPr lang="vi-VN" sz="1200" dirty="0"/>
          </a:p>
        </p:txBody>
      </p:sp>
      <p:sp>
        <p:nvSpPr>
          <p:cNvPr id="17" name="Shape 12"/>
          <p:cNvSpPr/>
          <p:nvPr/>
        </p:nvSpPr>
        <p:spPr>
          <a:xfrm>
            <a:off x="8890000" y="2138561"/>
            <a:ext cx="2489200" cy="2152650"/>
          </a:xfrm>
          <a:prstGeom prst="roundRect">
            <a:avLst>
              <a:gd name="adj" fmla="val 4720"/>
            </a:avLst>
          </a:prstGeom>
          <a:solidFill>
            <a:srgbClr val="FFFFFF"/>
          </a:solidFill>
          <a:ln/>
          <a:effectLst>
            <a:outerShdw sx="100000" sy="100000" kx="0" ky="0" algn="bl" rotWithShape="0" blurRad="203200" dist="101600" dir="5400000">
              <a:srgbClr val="13261D">
                <a:alpha val="10000"/>
              </a:srgbClr>
            </a:outerShdw>
          </a:effectLst>
        </p:spPr>
      </p:sp>
      <p:pic>
        <p:nvPicPr>
          <p:cNvPr id="18" name="Image 3" descr="Thẻ ghi nhận thay tấm keo với nút Xác nhận và Hủy">    </p:cNvPr>
          <p:cNvPicPr>
            <a:picLocks noChangeAspect="1"/>
          </p:cNvPicPr>
          <p:nvPr/>
        </p:nvPicPr>
        <p:blipFill>
          <a:blip r:embed="rId4"/>
          <a:srcRect l="0" r="0" t="-8" b="-8"/>
          <a:stretch/>
        </p:blipFill>
        <p:spPr>
          <a:xfrm>
            <a:off x="8896350" y="2144911"/>
            <a:ext cx="2476500" cy="2139950"/>
          </a:xfrm>
          <a:prstGeom prst="roundRect">
            <a:avLst>
              <a:gd name="adj" fmla="val 4451"/>
            </a:avLst>
          </a:prstGeom>
        </p:spPr>
      </p:pic>
      <p:sp>
        <p:nvSpPr>
          <p:cNvPr id="19" name="Shape 13"/>
          <p:cNvSpPr/>
          <p:nvPr/>
        </p:nvSpPr>
        <p:spPr>
          <a:xfrm>
            <a:off x="8893175" y="2141736"/>
            <a:ext cx="2482850" cy="2146300"/>
          </a:xfrm>
          <a:prstGeom prst="roundRect">
            <a:avLst>
              <a:gd name="adj" fmla="val 4586"/>
            </a:avLst>
          </a:prstGeom>
          <a:noFill/>
          <a:ln w="6350">
            <a:solidFill>
              <a:srgbClr val="DCE3DA"/>
            </a:solidFill>
            <a:prstDash val="solid"/>
          </a:ln>
        </p:spPr>
      </p:sp>
      <p:sp>
        <p:nvSpPr>
          <p:cNvPr id="20"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vi-VN" sz="1200" dirty="0">
                <a:solidFill>
                  <a:srgbClr val="6B7B70"/>
                </a:solidFill>
                <a:latin typeface="Arial" pitchFamily="34" charset="0"/>
                <a:ea typeface="Arial" pitchFamily="34" charset="-122"/>
                <a:cs typeface="Arial" pitchFamily="34" charset="-120"/>
              </a:rPr>
              <a:t>FlyBot · 13 · Hướng dẫn chi tiết: </a:t>
            </a:r>
            <a:r>
              <a:rPr lang="vi-VN" sz="1200" u="sng" dirty="0">
                <a:solidFill>
                  <a:srgbClr val="6B7B70"/>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ezviz.agrhub.com/manual</a:t>
            </a:r>
            <a:endParaRPr lang="vi-VN"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31"/>
          </a:xfrm>
          <a:prstGeom prst="rect">
            <a:avLst/>
          </a:prstGeom>
          <a:noFill/>
          <a:ln/>
        </p:spPr>
        <p:txBody>
          <a:bodyPr wrap="square" lIns="0" tIns="0" rIns="0" bIns="0" rtlCol="0" anchor="t">
            <a:normAutofit/>
          </a:bodyPr>
          <a:lstStyle/>
          <a:p>
            <a:pPr algn="l" indent="0" marL="0">
              <a:lnSpc>
                <a:spcPts val="1675"/>
              </a:lnSpc>
              <a:buNone/>
            </a:pPr>
            <a:r>
              <a:rPr lang="vi-VN" sz="1196" b="1" spc="150" kern="0" dirty="0">
                <a:solidFill>
                  <a:srgbClr val="1D7A50"/>
                </a:solidFill>
                <a:latin typeface="Arial" pitchFamily="34" charset="0"/>
                <a:ea typeface="Arial" pitchFamily="34" charset="-122"/>
                <a:cs typeface="Arial" pitchFamily="34" charset="-120"/>
              </a:rPr>
              <a:t>VƯỜN, BẢN ĐỒ VÀ NHẬT KÝ</a:t>
            </a:r>
            <a:endParaRPr lang="vi-VN" sz="1196" dirty="0"/>
          </a:p>
        </p:txBody>
      </p:sp>
      <p:sp>
        <p:nvSpPr>
          <p:cNvPr id="3" name="Text 1"/>
          <p:cNvSpPr/>
          <p:nvPr>
            <p:ph type="title"/>
          </p:nvPr>
        </p:nvSpPr>
        <p:spPr>
          <a:xfrm>
            <a:off x="812800" y="1126331"/>
            <a:ext cx="10883392" cy="489744"/>
          </a:xfrm>
          <a:prstGeom prst="rect">
            <a:avLst/>
          </a:prstGeom>
          <a:noFill/>
          <a:ln/>
        </p:spPr>
        <p:txBody>
          <a:bodyPr wrap="square" lIns="0" tIns="0" rIns="0" bIns="0" rtlCol="0" anchor="t">
            <a:normAutofit/>
          </a:bodyPr>
          <a:lstStyle/>
          <a:p>
            <a:pPr algn="l" indent="0" marL="0">
              <a:lnSpc>
                <a:spcPts val="3668"/>
              </a:lnSpc>
              <a:buNone/>
            </a:pPr>
            <a:r>
              <a:rPr lang="vi-VN" sz="3190" b="1" i="0" dirty="0">
                <a:solidFill>
                  <a:srgbClr val="13261D"/>
                </a:solidFill>
                <a:latin typeface="Arial" pitchFamily="34" charset="0"/>
                <a:ea typeface="Arial" pitchFamily="34" charset="-122"/>
                <a:cs typeface="Arial" pitchFamily="34" charset="-120"/>
              </a:rPr>
              <a:t>Biết biện pháp nào thực sự hiệu quả</a:t>
            </a:r>
            <a:endParaRPr lang="vi-VN" sz="3190" dirty="0"/>
          </a:p>
        </p:txBody>
      </p:sp>
      <p:sp>
        <p:nvSpPr>
          <p:cNvPr id="4" name="Shape 2"/>
          <p:cNvSpPr/>
          <p:nvPr/>
        </p:nvSpPr>
        <p:spPr>
          <a:xfrm>
            <a:off x="812800" y="1895475"/>
            <a:ext cx="6350000" cy="3968750"/>
          </a:xfrm>
          <a:prstGeom prst="roundRect">
            <a:avLst>
              <a:gd name="adj" fmla="val 2560"/>
            </a:avLst>
          </a:prstGeom>
          <a:solidFill>
            <a:srgbClr val="FFFFFF"/>
          </a:solidFill>
          <a:ln/>
          <a:effectLst>
            <a:outerShdw sx="100000" sy="100000" kx="0" ky="0" algn="bl" rotWithShape="0" blurRad="304800" dist="152400" dir="5400000">
              <a:srgbClr val="13261D">
                <a:alpha val="12000"/>
              </a:srgbClr>
            </a:outerShdw>
          </a:effectLst>
        </p:spPr>
      </p:sp>
      <p:pic>
        <p:nvPicPr>
          <p:cNvPr id="5" name="Image 0" descr="Nhật ký vườn: các lần phun thuốc và vệ sinh vườn kèm hiệu quả trên số côn trùng, nút xuất sổ VietGAP">    </p:cNvPr>
          <p:cNvPicPr>
            <a:picLocks noChangeAspect="1"/>
          </p:cNvPicPr>
          <p:nvPr/>
        </p:nvPicPr>
        <p:blipFill>
          <a:blip r:embed="rId1"/>
          <a:srcRect l="-60" r="-60" t="0" b="0"/>
          <a:stretch/>
        </p:blipFill>
        <p:spPr>
          <a:xfrm>
            <a:off x="819150" y="1901825"/>
            <a:ext cx="6337300" cy="3956050"/>
          </a:xfrm>
          <a:prstGeom prst="roundRect">
            <a:avLst>
              <a:gd name="adj" fmla="val 2408"/>
            </a:avLst>
          </a:prstGeom>
        </p:spPr>
      </p:pic>
      <p:sp>
        <p:nvSpPr>
          <p:cNvPr id="6" name="Shape 3"/>
          <p:cNvSpPr/>
          <p:nvPr/>
        </p:nvSpPr>
        <p:spPr>
          <a:xfrm>
            <a:off x="815975" y="1898650"/>
            <a:ext cx="6343650" cy="3962400"/>
          </a:xfrm>
          <a:prstGeom prst="roundRect">
            <a:avLst>
              <a:gd name="adj" fmla="val 2484"/>
            </a:avLst>
          </a:prstGeom>
          <a:noFill/>
          <a:ln w="6350">
            <a:solidFill>
              <a:srgbClr val="DCE3DA"/>
            </a:solidFill>
            <a:prstDash val="solid"/>
          </a:ln>
        </p:spPr>
      </p:sp>
      <p:sp>
        <p:nvSpPr>
          <p:cNvPr id="7" name="Text 4"/>
          <p:cNvSpPr/>
          <p:nvPr/>
        </p:nvSpPr>
        <p:spPr>
          <a:xfrm>
            <a:off x="7569200" y="1895475"/>
            <a:ext cx="3924300" cy="279400"/>
          </a:xfrm>
          <a:prstGeom prst="rect">
            <a:avLst/>
          </a:prstGeom>
          <a:noFill/>
          <a:ln/>
        </p:spPr>
        <p:txBody>
          <a:bodyPr wrap="square" lIns="0" tIns="0" rIns="0" bIns="0" rtlCol="0" anchor="t">
            <a:normAutofit/>
          </a:bodyPr>
          <a:lstStyle/>
          <a:p>
            <a:pPr algn="l" indent="0" marL="0">
              <a:lnSpc>
                <a:spcPts val="2000"/>
              </a:lnSpc>
              <a:buNone/>
            </a:pPr>
            <a:r>
              <a:rPr lang="vi-VN" sz="1600" b="1" dirty="0">
                <a:solidFill>
                  <a:srgbClr val="13261D"/>
                </a:solidFill>
                <a:latin typeface="Arial" pitchFamily="34" charset="0"/>
                <a:ea typeface="Arial" pitchFamily="34" charset="-122"/>
                <a:cs typeface="Arial" pitchFamily="34" charset="-120"/>
              </a:rPr>
              <a:t>Vườn, lô và bản đồ</a:t>
            </a:r>
            <a:endParaRPr lang="vi-VN" sz="1600" dirty="0"/>
          </a:p>
        </p:txBody>
      </p:sp>
      <p:sp>
        <p:nvSpPr>
          <p:cNvPr id="8" name="Text 5"/>
          <p:cNvSpPr/>
          <p:nvPr/>
        </p:nvSpPr>
        <p:spPr>
          <a:xfrm>
            <a:off x="7569200" y="2200275"/>
            <a:ext cx="3924300" cy="520700"/>
          </a:xfrm>
          <a:prstGeom prst="rect">
            <a:avLst/>
          </a:prstGeom>
          <a:noFill/>
          <a:ln/>
        </p:spPr>
        <p:txBody>
          <a:bodyPr wrap="square" lIns="0" tIns="0" rIns="0" bIns="0" rtlCol="0" anchor="t">
            <a:normAutofit/>
          </a:bodyPr>
          <a:lstStyle/>
          <a:p>
            <a:pPr algn="l" indent="0" marL="0">
              <a:lnSpc>
                <a:spcPts val="1950"/>
              </a:lnSpc>
              <a:buNone/>
            </a:pPr>
            <a:r>
              <a:rPr lang="vi-VN" sz="1300" dirty="0">
                <a:solidFill>
                  <a:srgbClr val="4A5A50"/>
                </a:solidFill>
                <a:latin typeface="Arial" pitchFamily="34" charset="0"/>
                <a:ea typeface="Arial" pitchFamily="34" charset="-122"/>
                <a:cs typeface="Arial" pitchFamily="34" charset="-120"/>
              </a:rPr>
              <a:t>Bẫy gắn với lô; bản đồ nhiệt cho thấy chỗ nóng dịch hại.</a:t>
            </a:r>
            <a:endParaRPr lang="vi-VN" sz="1300" dirty="0"/>
          </a:p>
        </p:txBody>
      </p:sp>
      <p:sp>
        <p:nvSpPr>
          <p:cNvPr id="9" name="Text 6"/>
          <p:cNvSpPr/>
          <p:nvPr/>
        </p:nvSpPr>
        <p:spPr>
          <a:xfrm>
            <a:off x="7569200" y="2949575"/>
            <a:ext cx="3924300" cy="279400"/>
          </a:xfrm>
          <a:prstGeom prst="rect">
            <a:avLst/>
          </a:prstGeom>
          <a:noFill/>
          <a:ln/>
        </p:spPr>
        <p:txBody>
          <a:bodyPr wrap="square" lIns="0" tIns="0" rIns="0" bIns="0" rtlCol="0" anchor="t">
            <a:normAutofit/>
          </a:bodyPr>
          <a:lstStyle/>
          <a:p>
            <a:pPr algn="l" indent="0" marL="0">
              <a:lnSpc>
                <a:spcPts val="2000"/>
              </a:lnSpc>
              <a:buNone/>
            </a:pPr>
            <a:r>
              <a:rPr lang="vi-VN" sz="1600" b="1" dirty="0">
                <a:solidFill>
                  <a:srgbClr val="13261D"/>
                </a:solidFill>
                <a:latin typeface="Arial" pitchFamily="34" charset="0"/>
                <a:ea typeface="Arial" pitchFamily="34" charset="-122"/>
                <a:cs typeface="Arial" pitchFamily="34" charset="-120"/>
              </a:rPr>
              <a:t>Nhật ký xử lý</a:t>
            </a:r>
            <a:endParaRPr lang="vi-VN" sz="1600" dirty="0"/>
          </a:p>
        </p:txBody>
      </p:sp>
      <p:sp>
        <p:nvSpPr>
          <p:cNvPr id="10" name="Text 7"/>
          <p:cNvSpPr/>
          <p:nvPr/>
        </p:nvSpPr>
        <p:spPr>
          <a:xfrm>
            <a:off x="7569200" y="3254375"/>
            <a:ext cx="3924300" cy="520700"/>
          </a:xfrm>
          <a:prstGeom prst="rect">
            <a:avLst/>
          </a:prstGeom>
          <a:noFill/>
          <a:ln/>
        </p:spPr>
        <p:txBody>
          <a:bodyPr wrap="square" lIns="0" tIns="0" rIns="0" bIns="0" rtlCol="0" anchor="t">
            <a:normAutofit/>
          </a:bodyPr>
          <a:lstStyle/>
          <a:p>
            <a:pPr algn="l" indent="0" marL="0">
              <a:lnSpc>
                <a:spcPts val="1950"/>
              </a:lnSpc>
              <a:buNone/>
            </a:pPr>
            <a:r>
              <a:rPr lang="vi-VN" sz="1300" dirty="0">
                <a:solidFill>
                  <a:srgbClr val="4A5A50"/>
                </a:solidFill>
                <a:latin typeface="Arial" pitchFamily="34" charset="0"/>
                <a:ea typeface="Arial" pitchFamily="34" charset="-122"/>
                <a:cs typeface="Arial" pitchFamily="34" charset="-120"/>
              </a:rPr>
              <a:t>Mỗi lần phun hay đặt bả kèm hiệu quả đo được trên số ruồi.</a:t>
            </a:r>
            <a:endParaRPr lang="vi-VN" sz="1300" dirty="0"/>
          </a:p>
        </p:txBody>
      </p:sp>
      <p:sp>
        <p:nvSpPr>
          <p:cNvPr id="11" name="Text 8"/>
          <p:cNvSpPr/>
          <p:nvPr/>
        </p:nvSpPr>
        <p:spPr>
          <a:xfrm>
            <a:off x="7569200" y="4003675"/>
            <a:ext cx="3924300" cy="279400"/>
          </a:xfrm>
          <a:prstGeom prst="rect">
            <a:avLst/>
          </a:prstGeom>
          <a:noFill/>
          <a:ln/>
        </p:spPr>
        <p:txBody>
          <a:bodyPr wrap="square" lIns="0" tIns="0" rIns="0" bIns="0" rtlCol="0" anchor="t">
            <a:normAutofit/>
          </a:bodyPr>
          <a:lstStyle/>
          <a:p>
            <a:pPr algn="l" indent="0" marL="0">
              <a:lnSpc>
                <a:spcPts val="2000"/>
              </a:lnSpc>
              <a:buNone/>
            </a:pPr>
            <a:r>
              <a:rPr lang="vi-VN" sz="1600" b="1" dirty="0">
                <a:solidFill>
                  <a:srgbClr val="13261D"/>
                </a:solidFill>
                <a:latin typeface="Arial" pitchFamily="34" charset="0"/>
                <a:ea typeface="Arial" pitchFamily="34" charset="-122"/>
                <a:cs typeface="Arial" pitchFamily="34" charset="-120"/>
              </a:rPr>
              <a:t>Sổ VietGAP</a:t>
            </a:r>
            <a:endParaRPr lang="vi-VN" sz="1600" dirty="0"/>
          </a:p>
        </p:txBody>
      </p:sp>
      <p:sp>
        <p:nvSpPr>
          <p:cNvPr id="12" name="Text 9"/>
          <p:cNvSpPr/>
          <p:nvPr/>
        </p:nvSpPr>
        <p:spPr>
          <a:xfrm>
            <a:off x="7569200" y="4308475"/>
            <a:ext cx="3924300" cy="520700"/>
          </a:xfrm>
          <a:prstGeom prst="rect">
            <a:avLst/>
          </a:prstGeom>
          <a:noFill/>
          <a:ln/>
        </p:spPr>
        <p:txBody>
          <a:bodyPr wrap="square" lIns="0" tIns="0" rIns="0" bIns="0" rtlCol="0" anchor="t">
            <a:normAutofit/>
          </a:bodyPr>
          <a:lstStyle/>
          <a:p>
            <a:pPr algn="l" indent="0" marL="0">
              <a:lnSpc>
                <a:spcPts val="1950"/>
              </a:lnSpc>
              <a:buNone/>
            </a:pPr>
            <a:r>
              <a:rPr lang="vi-VN" sz="1300" dirty="0">
                <a:solidFill>
                  <a:srgbClr val="4A5A50"/>
                </a:solidFill>
                <a:latin typeface="Arial" pitchFamily="34" charset="0"/>
                <a:ea typeface="Arial" pitchFamily="34" charset="-122"/>
                <a:cs typeface="Arial" pitchFamily="34" charset="-120"/>
              </a:rPr>
              <a:t>Xuất sổ ghi chép sử dụng thuốc BVTV theo mẫu VietGAP.</a:t>
            </a:r>
            <a:endParaRPr lang="vi-VN"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vi-VN" sz="1200" dirty="0">
                <a:solidFill>
                  <a:srgbClr val="6B7B70"/>
                </a:solidFill>
                <a:latin typeface="Arial" pitchFamily="34" charset="0"/>
                <a:ea typeface="Arial" pitchFamily="34" charset="-122"/>
                <a:cs typeface="Arial" pitchFamily="34" charset="-120"/>
              </a:rPr>
              <a:t>FlyBot · 14</a:t>
            </a:r>
            <a:endParaRPr lang="vi-VN"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1"/>
        </a:solidFill>
      </p:bgPr>
    </p:bg>
    <p:spTree>
      <p:nvGrpSpPr>
        <p:cNvPr id="1" name=""/>
        <p:cNvGrpSpPr/>
        <p:nvPr/>
      </p:nvGrpSpPr>
      <p:grpSpPr>
        <a:xfrm>
          <a:off x="0" y="0"/>
          <a:ext cx="0" cy="0"/>
          <a:chOff x="0" y="0"/>
          <a:chExt cx="0" cy="0"/>
        </a:xfrm>
      </p:grpSpPr>
      <p:sp>
        <p:nvSpPr>
          <p:cNvPr id="2" name="Shape 0"/>
          <p:cNvSpPr/>
          <p:nvPr/>
        </p:nvSpPr>
        <p:spPr>
          <a:xfrm>
            <a:off x="812800" y="838200"/>
            <a:ext cx="2298700" cy="4978400"/>
          </a:xfrm>
          <a:prstGeom prst="roundRect">
            <a:avLst>
              <a:gd name="adj" fmla="val 8840"/>
            </a:avLst>
          </a:prstGeom>
          <a:solidFill>
            <a:srgbClr val="FFFFFF"/>
          </a:solidFill>
          <a:ln/>
          <a:effectLst>
            <a:outerShdw sx="100000" sy="100000" kx="0" ky="0" algn="bl" rotWithShape="0" blurRad="304800" dist="152400" dir="5400000">
              <a:srgbClr val="13261D">
                <a:alpha val="12000"/>
              </a:srgbClr>
            </a:outerShdw>
          </a:effectLst>
        </p:spPr>
      </p:sp>
      <p:pic>
        <p:nvPicPr>
          <p:cNvPr id="3" name="Image 0" descr="FlyBot trên điện thoại: màn hình Tổng quan với thanh điều hướng dưới cùng">    </p:cNvPr>
          <p:cNvPicPr>
            <a:picLocks noChangeAspect="1"/>
          </p:cNvPicPr>
          <p:nvPr/>
        </p:nvPicPr>
        <p:blipFill>
          <a:blip r:embed="rId1"/>
          <a:srcRect l="0" r="0" t="-188" b="-188"/>
          <a:stretch/>
        </p:blipFill>
        <p:spPr>
          <a:xfrm>
            <a:off x="819150" y="844550"/>
            <a:ext cx="2286000" cy="4965700"/>
          </a:xfrm>
          <a:prstGeom prst="roundRect">
            <a:avLst>
              <a:gd name="adj" fmla="val 8611"/>
            </a:avLst>
          </a:prstGeom>
        </p:spPr>
      </p:pic>
      <p:sp>
        <p:nvSpPr>
          <p:cNvPr id="4" name="Shape 1"/>
          <p:cNvSpPr/>
          <p:nvPr/>
        </p:nvSpPr>
        <p:spPr>
          <a:xfrm>
            <a:off x="815975" y="841375"/>
            <a:ext cx="2292350" cy="4972050"/>
          </a:xfrm>
          <a:prstGeom prst="roundRect">
            <a:avLst>
              <a:gd name="adj" fmla="val 8726"/>
            </a:avLst>
          </a:prstGeom>
          <a:noFill/>
          <a:ln w="6350">
            <a:solidFill>
              <a:srgbClr val="DCE3DA"/>
            </a:solidFill>
            <a:prstDash val="solid"/>
          </a:ln>
        </p:spPr>
      </p:sp>
      <p:sp>
        <p:nvSpPr>
          <p:cNvPr id="5" name="Text 2"/>
          <p:cNvSpPr/>
          <p:nvPr/>
        </p:nvSpPr>
        <p:spPr>
          <a:xfrm>
            <a:off x="3721100" y="1750120"/>
            <a:ext cx="7887843" cy="238720"/>
          </a:xfrm>
          <a:prstGeom prst="rect">
            <a:avLst/>
          </a:prstGeom>
          <a:noFill/>
          <a:ln/>
        </p:spPr>
        <p:txBody>
          <a:bodyPr wrap="square" lIns="0" tIns="0" rIns="0" bIns="0" rtlCol="0" anchor="t">
            <a:normAutofit/>
          </a:bodyPr>
          <a:lstStyle/>
          <a:p>
            <a:pPr algn="l" indent="0" marL="0">
              <a:lnSpc>
                <a:spcPts val="1680"/>
              </a:lnSpc>
              <a:buNone/>
            </a:pPr>
            <a:r>
              <a:rPr lang="vi-VN" sz="1200" b="1" spc="150" kern="0" dirty="0">
                <a:solidFill>
                  <a:srgbClr val="1D7A50"/>
                </a:solidFill>
                <a:latin typeface="Arial" pitchFamily="34" charset="0"/>
                <a:ea typeface="Arial" pitchFamily="34" charset="-122"/>
                <a:cs typeface="Arial" pitchFamily="34" charset="-120"/>
              </a:rPr>
              <a:t>ĐIỆN THOẠI VÀ ĐỘI NHÓM</a:t>
            </a:r>
            <a:endParaRPr lang="vi-VN" sz="1200" dirty="0"/>
          </a:p>
        </p:txBody>
      </p:sp>
      <p:sp>
        <p:nvSpPr>
          <p:cNvPr id="6" name="Text 3"/>
          <p:cNvSpPr/>
          <p:nvPr>
            <p:ph type="title"/>
          </p:nvPr>
        </p:nvSpPr>
        <p:spPr>
          <a:xfrm>
            <a:off x="3721100" y="2065040"/>
            <a:ext cx="7887843" cy="960041"/>
          </a:xfrm>
          <a:prstGeom prst="rect">
            <a:avLst/>
          </a:prstGeom>
          <a:noFill/>
          <a:ln/>
        </p:spPr>
        <p:txBody>
          <a:bodyPr wrap="square" lIns="0" tIns="0" rIns="0" bIns="0" rtlCol="0" anchor="t">
            <a:normAutofit/>
          </a:bodyPr>
          <a:lstStyle/>
          <a:p>
            <a:pPr algn="l" indent="0" marL="0">
              <a:lnSpc>
                <a:spcPts val="3680"/>
              </a:lnSpc>
              <a:buNone/>
            </a:pPr>
            <a:r>
              <a:rPr lang="vi-VN" sz="3200" b="1" i="0" dirty="0">
                <a:solidFill>
                  <a:srgbClr val="13261D"/>
                </a:solidFill>
                <a:latin typeface="Arial" pitchFamily="34" charset="0"/>
                <a:ea typeface="Arial" pitchFamily="34" charset="-122"/>
                <a:cs typeface="Arial" pitchFamily="34" charset="-120"/>
              </a:rPr>
              <a:t>Cả đội cùng theo dõi, mỗi người đúng quyền</a:t>
            </a:r>
            <a:endParaRPr lang="vi-VN" sz="3200" dirty="0"/>
          </a:p>
        </p:txBody>
      </p:sp>
      <p:sp>
        <p:nvSpPr>
          <p:cNvPr id="7" name="Text 4"/>
          <p:cNvSpPr/>
          <p:nvPr/>
        </p:nvSpPr>
        <p:spPr>
          <a:xfrm>
            <a:off x="3721100" y="3304480"/>
            <a:ext cx="3524250" cy="279400"/>
          </a:xfrm>
          <a:prstGeom prst="rect">
            <a:avLst/>
          </a:prstGeom>
          <a:noFill/>
          <a:ln/>
        </p:spPr>
        <p:txBody>
          <a:bodyPr wrap="square" lIns="0" tIns="0" rIns="0" bIns="0" rtlCol="0" anchor="t">
            <a:normAutofit/>
          </a:bodyPr>
          <a:lstStyle/>
          <a:p>
            <a:pPr algn="l" indent="0" marL="0">
              <a:lnSpc>
                <a:spcPts val="2000"/>
              </a:lnSpc>
              <a:buNone/>
            </a:pPr>
            <a:r>
              <a:rPr lang="vi-VN" sz="1600" b="1" dirty="0">
                <a:solidFill>
                  <a:srgbClr val="13261D"/>
                </a:solidFill>
                <a:latin typeface="Arial" pitchFamily="34" charset="0"/>
                <a:ea typeface="Arial" pitchFamily="34" charset="-122"/>
                <a:cs typeface="Arial" pitchFamily="34" charset="-120"/>
              </a:rPr>
              <a:t>Cài như ứng dụng</a:t>
            </a:r>
            <a:endParaRPr lang="vi-VN" sz="1600" dirty="0"/>
          </a:p>
        </p:txBody>
      </p:sp>
      <p:sp>
        <p:nvSpPr>
          <p:cNvPr id="8" name="Text 5"/>
          <p:cNvSpPr/>
          <p:nvPr/>
        </p:nvSpPr>
        <p:spPr>
          <a:xfrm>
            <a:off x="3721100" y="3609280"/>
            <a:ext cx="3524250" cy="520700"/>
          </a:xfrm>
          <a:prstGeom prst="rect">
            <a:avLst/>
          </a:prstGeom>
          <a:noFill/>
          <a:ln/>
        </p:spPr>
        <p:txBody>
          <a:bodyPr wrap="square" lIns="0" tIns="0" rIns="0" bIns="0" rtlCol="0" anchor="t">
            <a:normAutofit/>
          </a:bodyPr>
          <a:lstStyle/>
          <a:p>
            <a:pPr algn="l" indent="0" marL="0">
              <a:lnSpc>
                <a:spcPts val="1950"/>
              </a:lnSpc>
              <a:buNone/>
            </a:pPr>
            <a:r>
              <a:rPr lang="vi-VN" sz="1300" dirty="0">
                <a:solidFill>
                  <a:srgbClr val="4A5A50"/>
                </a:solidFill>
                <a:latin typeface="Arial" pitchFamily="34" charset="0"/>
                <a:ea typeface="Arial" pitchFamily="34" charset="-122"/>
                <a:cs typeface="Arial" pitchFamily="34" charset="-120"/>
              </a:rPr>
              <a:t>Dùng trên điện thoại, nhận thông báo đẩy, song ngữ Việt và Anh.</a:t>
            </a:r>
            <a:endParaRPr lang="vi-VN" sz="1300" dirty="0"/>
          </a:p>
        </p:txBody>
      </p:sp>
      <p:sp>
        <p:nvSpPr>
          <p:cNvPr id="9" name="Text 6"/>
          <p:cNvSpPr/>
          <p:nvPr/>
        </p:nvSpPr>
        <p:spPr>
          <a:xfrm>
            <a:off x="7550150" y="3304480"/>
            <a:ext cx="3943922" cy="279400"/>
          </a:xfrm>
          <a:prstGeom prst="rect">
            <a:avLst/>
          </a:prstGeom>
          <a:noFill/>
          <a:ln/>
        </p:spPr>
        <p:txBody>
          <a:bodyPr wrap="square" lIns="0" tIns="0" rIns="0" bIns="0" rtlCol="0" anchor="t">
            <a:normAutofit/>
          </a:bodyPr>
          <a:lstStyle/>
          <a:p>
            <a:pPr algn="l" indent="0" marL="0">
              <a:lnSpc>
                <a:spcPts val="2000"/>
              </a:lnSpc>
              <a:buNone/>
            </a:pPr>
            <a:r>
              <a:rPr lang="vi-VN" sz="1600" b="1" dirty="0">
                <a:solidFill>
                  <a:srgbClr val="13261D"/>
                </a:solidFill>
                <a:latin typeface="Arial" pitchFamily="34" charset="0"/>
                <a:ea typeface="Arial" pitchFamily="34" charset="-122"/>
                <a:cs typeface="Arial" pitchFamily="34" charset="-120"/>
              </a:rPr>
              <a:t>Phân quyền</a:t>
            </a:r>
            <a:endParaRPr lang="vi-VN" sz="1600" dirty="0"/>
          </a:p>
        </p:txBody>
      </p:sp>
      <p:sp>
        <p:nvSpPr>
          <p:cNvPr id="10" name="Text 7"/>
          <p:cNvSpPr/>
          <p:nvPr/>
        </p:nvSpPr>
        <p:spPr>
          <a:xfrm>
            <a:off x="7550150" y="3609280"/>
            <a:ext cx="3943922" cy="520700"/>
          </a:xfrm>
          <a:prstGeom prst="rect">
            <a:avLst/>
          </a:prstGeom>
          <a:noFill/>
          <a:ln/>
        </p:spPr>
        <p:txBody>
          <a:bodyPr wrap="square" lIns="0" tIns="0" rIns="0" bIns="0" rtlCol="0" anchor="t">
            <a:normAutofit/>
          </a:bodyPr>
          <a:lstStyle/>
          <a:p>
            <a:pPr algn="l" indent="0" marL="0">
              <a:lnSpc>
                <a:spcPts val="1950"/>
              </a:lnSpc>
              <a:buNone/>
            </a:pPr>
            <a:r>
              <a:rPr lang="vi-VN" sz="1300" dirty="0">
                <a:solidFill>
                  <a:srgbClr val="4A5A50"/>
                </a:solidFill>
                <a:latin typeface="Arial" pitchFamily="34" charset="0"/>
                <a:ea typeface="Arial" pitchFamily="34" charset="-122"/>
                <a:cs typeface="Arial" pitchFamily="34" charset="-120"/>
              </a:rPr>
              <a:t>Quản trị, quản lý, người xem; chia sẻ từng camera hoặc theo tổ chức.</a:t>
            </a:r>
            <a:endParaRPr lang="vi-VN" sz="1300" dirty="0"/>
          </a:p>
        </p:txBody>
      </p:sp>
      <p:sp>
        <p:nvSpPr>
          <p:cNvPr id="11" name="Text 8"/>
          <p:cNvSpPr/>
          <p:nvPr/>
        </p:nvSpPr>
        <p:spPr>
          <a:xfrm>
            <a:off x="3721100" y="4254500"/>
            <a:ext cx="3524250" cy="279400"/>
          </a:xfrm>
          <a:prstGeom prst="rect">
            <a:avLst/>
          </a:prstGeom>
          <a:noFill/>
          <a:ln/>
        </p:spPr>
        <p:txBody>
          <a:bodyPr wrap="square" lIns="0" tIns="0" rIns="0" bIns="0" rtlCol="0" anchor="t">
            <a:normAutofit/>
          </a:bodyPr>
          <a:lstStyle/>
          <a:p>
            <a:pPr algn="l" indent="0" marL="0">
              <a:lnSpc>
                <a:spcPts val="2000"/>
              </a:lnSpc>
              <a:buNone/>
            </a:pPr>
            <a:r>
              <a:rPr lang="vi-VN" sz="1600" b="1" dirty="0">
                <a:solidFill>
                  <a:srgbClr val="13261D"/>
                </a:solidFill>
                <a:latin typeface="Arial" pitchFamily="34" charset="0"/>
                <a:ea typeface="Arial" pitchFamily="34" charset="-122"/>
                <a:cs typeface="Arial" pitchFamily="34" charset="-120"/>
              </a:rPr>
              <a:t>Kết nối hệ thống khác</a:t>
            </a:r>
            <a:endParaRPr lang="vi-VN" sz="1600" dirty="0"/>
          </a:p>
        </p:txBody>
      </p:sp>
      <p:sp>
        <p:nvSpPr>
          <p:cNvPr id="12" name="Text 9"/>
          <p:cNvSpPr/>
          <p:nvPr/>
        </p:nvSpPr>
        <p:spPr>
          <a:xfrm>
            <a:off x="3721100" y="4559300"/>
            <a:ext cx="3524250" cy="520700"/>
          </a:xfrm>
          <a:prstGeom prst="rect">
            <a:avLst/>
          </a:prstGeom>
          <a:noFill/>
          <a:ln/>
        </p:spPr>
        <p:txBody>
          <a:bodyPr wrap="square" lIns="0" tIns="0" rIns="0" bIns="0" rtlCol="0" anchor="t">
            <a:normAutofit/>
          </a:bodyPr>
          <a:lstStyle/>
          <a:p>
            <a:pPr algn="l" indent="0" marL="0">
              <a:lnSpc>
                <a:spcPts val="1950"/>
              </a:lnSpc>
              <a:buNone/>
            </a:pPr>
            <a:r>
              <a:rPr lang="vi-VN" sz="1300" dirty="0">
                <a:solidFill>
                  <a:srgbClr val="4A5A50"/>
                </a:solidFill>
                <a:latin typeface="Arial" pitchFamily="34" charset="0"/>
                <a:ea typeface="Arial" pitchFamily="34" charset="-122"/>
                <a:cs typeface="Arial" pitchFamily="34" charset="-120"/>
              </a:rPr>
              <a:t>API key và webhook để đưa số liệu sang phần mềm của bạn.</a:t>
            </a:r>
            <a:endParaRPr lang="vi-VN" sz="1300" dirty="0"/>
          </a:p>
        </p:txBody>
      </p:sp>
      <p:sp>
        <p:nvSpPr>
          <p:cNvPr id="13" name="Text 10"/>
          <p:cNvSpPr/>
          <p:nvPr/>
        </p:nvSpPr>
        <p:spPr>
          <a:xfrm>
            <a:off x="7550150" y="4254500"/>
            <a:ext cx="3943922" cy="279400"/>
          </a:xfrm>
          <a:prstGeom prst="rect">
            <a:avLst/>
          </a:prstGeom>
          <a:noFill/>
          <a:ln/>
        </p:spPr>
        <p:txBody>
          <a:bodyPr wrap="square" lIns="0" tIns="0" rIns="0" bIns="0" rtlCol="0" anchor="t">
            <a:normAutofit/>
          </a:bodyPr>
          <a:lstStyle/>
          <a:p>
            <a:pPr algn="l" indent="0" marL="0">
              <a:lnSpc>
                <a:spcPts val="2000"/>
              </a:lnSpc>
              <a:buNone/>
            </a:pPr>
            <a:r>
              <a:rPr lang="vi-VN" sz="1600" b="1" dirty="0">
                <a:solidFill>
                  <a:srgbClr val="13261D"/>
                </a:solidFill>
                <a:latin typeface="Arial" pitchFamily="34" charset="0"/>
                <a:ea typeface="Arial" pitchFamily="34" charset="-122"/>
                <a:cs typeface="Arial" pitchFamily="34" charset="-120"/>
              </a:rPr>
              <a:t>Theo dõi vận hành</a:t>
            </a:r>
            <a:endParaRPr lang="vi-VN" sz="1600" dirty="0"/>
          </a:p>
        </p:txBody>
      </p:sp>
      <p:sp>
        <p:nvSpPr>
          <p:cNvPr id="14" name="Text 11"/>
          <p:cNvSpPr/>
          <p:nvPr/>
        </p:nvSpPr>
        <p:spPr>
          <a:xfrm>
            <a:off x="7550150" y="4559300"/>
            <a:ext cx="3943922" cy="520700"/>
          </a:xfrm>
          <a:prstGeom prst="rect">
            <a:avLst/>
          </a:prstGeom>
          <a:noFill/>
          <a:ln/>
        </p:spPr>
        <p:txBody>
          <a:bodyPr wrap="square" lIns="0" tIns="0" rIns="0" bIns="0" rtlCol="0" anchor="t">
            <a:normAutofit/>
          </a:bodyPr>
          <a:lstStyle/>
          <a:p>
            <a:pPr algn="l" indent="0" marL="0">
              <a:lnSpc>
                <a:spcPts val="1950"/>
              </a:lnSpc>
              <a:buNone/>
            </a:pPr>
            <a:r>
              <a:rPr lang="vi-VN" sz="1300" dirty="0">
                <a:solidFill>
                  <a:srgbClr val="4A5A50"/>
                </a:solidFill>
                <a:latin typeface="Arial" pitchFamily="34" charset="0"/>
                <a:ea typeface="Arial" pitchFamily="34" charset="-122"/>
                <a:cs typeface="Arial" pitchFamily="34" charset="-120"/>
              </a:rPr>
              <a:t>Nhật ký hoạt động và màn hình theo dõi luồng chụp ảnh.</a:t>
            </a:r>
            <a:endParaRPr lang="vi-VN" sz="1300" dirty="0"/>
          </a:p>
        </p:txBody>
      </p:sp>
      <p:sp>
        <p:nvSpPr>
          <p:cNvPr id="15"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vi-VN" sz="1200" dirty="0">
                <a:solidFill>
                  <a:srgbClr val="6B7B70"/>
                </a:solidFill>
                <a:latin typeface="Arial" pitchFamily="34" charset="0"/>
                <a:ea typeface="Arial" pitchFamily="34" charset="-122"/>
                <a:cs typeface="Arial" pitchFamily="34" charset="-120"/>
              </a:rPr>
              <a:t>FlyBot · 15</a:t>
            </a:r>
            <a:endParaRPr lang="vi-VN"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3261D"/>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vi-VN" sz="1200" b="1" spc="150" kern="0" dirty="0">
                <a:solidFill>
                  <a:srgbClr val="F2C230"/>
                </a:solidFill>
                <a:latin typeface="Arial" pitchFamily="34" charset="0"/>
                <a:ea typeface="Arial" pitchFamily="34" charset="-122"/>
                <a:cs typeface="Arial" pitchFamily="34" charset="-120"/>
              </a:rPr>
              <a:t>BẮT ĐẦU</a:t>
            </a:r>
            <a:endParaRPr lang="vi-VN" sz="1200" dirty="0"/>
          </a:p>
        </p:txBody>
      </p:sp>
      <p:sp>
        <p:nvSpPr>
          <p:cNvPr id="3" name="Text 1"/>
          <p:cNvSpPr/>
          <p:nvPr>
            <p:ph type="title"/>
          </p:nvPr>
        </p:nvSpPr>
        <p:spPr>
          <a:xfrm>
            <a:off x="812800" y="1026120"/>
            <a:ext cx="10883392" cy="537369"/>
          </a:xfrm>
          <a:prstGeom prst="rect">
            <a:avLst/>
          </a:prstGeom>
          <a:noFill/>
          <a:ln/>
        </p:spPr>
        <p:txBody>
          <a:bodyPr wrap="square" lIns="0" tIns="0" rIns="0" bIns="0" rtlCol="0" anchor="t">
            <a:normAutofit/>
          </a:bodyPr>
          <a:lstStyle/>
          <a:p>
            <a:pPr algn="l" indent="0" marL="0">
              <a:lnSpc>
                <a:spcPts val="4032"/>
              </a:lnSpc>
              <a:buNone/>
            </a:pPr>
            <a:r>
              <a:rPr lang="vi-VN" sz="3600" b="1" i="0" dirty="0">
                <a:solidFill>
                  <a:srgbClr val="F5F7F1"/>
                </a:solidFill>
                <a:latin typeface="Arial" pitchFamily="34" charset="0"/>
                <a:ea typeface="Arial" pitchFamily="34" charset="-122"/>
                <a:cs typeface="Arial" pitchFamily="34" charset="-120"/>
              </a:rPr>
              <a:t>Ba bước để bẫy đầu tiên tự báo số</a:t>
            </a:r>
            <a:endParaRPr lang="vi-VN" sz="3600" dirty="0"/>
          </a:p>
        </p:txBody>
      </p:sp>
      <p:sp>
        <p:nvSpPr>
          <p:cNvPr id="4" name="Shape 2"/>
          <p:cNvSpPr/>
          <p:nvPr/>
        </p:nvSpPr>
        <p:spPr>
          <a:xfrm>
            <a:off x="812800" y="1906389"/>
            <a:ext cx="3386634" cy="0"/>
          </a:xfrm>
          <a:prstGeom prst="line">
            <a:avLst/>
          </a:prstGeom>
          <a:noFill/>
          <a:ln w="25400">
            <a:solidFill>
              <a:srgbClr val="F2C230"/>
            </a:solidFill>
            <a:prstDash val="solid"/>
          </a:ln>
        </p:spPr>
      </p:sp>
      <p:sp>
        <p:nvSpPr>
          <p:cNvPr id="5" name="Text 3"/>
          <p:cNvSpPr/>
          <p:nvPr/>
        </p:nvSpPr>
        <p:spPr>
          <a:xfrm>
            <a:off x="812800" y="2122289"/>
            <a:ext cx="3488233" cy="416520"/>
          </a:xfrm>
          <a:prstGeom prst="rect">
            <a:avLst/>
          </a:prstGeom>
          <a:noFill/>
          <a:ln/>
        </p:spPr>
        <p:txBody>
          <a:bodyPr wrap="square" lIns="0" tIns="0" rIns="0" bIns="0" rtlCol="0" anchor="t">
            <a:normAutofit/>
          </a:bodyPr>
          <a:lstStyle/>
          <a:p>
            <a:pPr algn="l" indent="0" marL="0">
              <a:lnSpc>
                <a:spcPts val="3080"/>
              </a:lnSpc>
              <a:buNone/>
            </a:pPr>
            <a:r>
              <a:rPr lang="vi-VN" sz="2200" b="1" dirty="0">
                <a:solidFill>
                  <a:srgbClr val="F2C230"/>
                </a:solidFill>
                <a:latin typeface="Arial" pitchFamily="34" charset="0"/>
                <a:ea typeface="Arial" pitchFamily="34" charset="-122"/>
                <a:cs typeface="Arial" pitchFamily="34" charset="-120"/>
              </a:rPr>
              <a:t>01</a:t>
            </a:r>
            <a:endParaRPr lang="vi-VN" sz="2200" dirty="0"/>
          </a:p>
        </p:txBody>
      </p:sp>
      <p:sp>
        <p:nvSpPr>
          <p:cNvPr id="6" name="Text 4"/>
          <p:cNvSpPr/>
          <p:nvPr/>
        </p:nvSpPr>
        <p:spPr>
          <a:xfrm>
            <a:off x="812800" y="2640409"/>
            <a:ext cx="3488233" cy="311150"/>
          </a:xfrm>
          <a:prstGeom prst="rect">
            <a:avLst/>
          </a:prstGeom>
          <a:noFill/>
          <a:ln/>
        </p:spPr>
        <p:txBody>
          <a:bodyPr wrap="square" lIns="0" tIns="0" rIns="0" bIns="0" rtlCol="0" anchor="t">
            <a:normAutofit/>
          </a:bodyPr>
          <a:lstStyle/>
          <a:p>
            <a:pPr algn="l" indent="0" marL="0">
              <a:lnSpc>
                <a:spcPts val="2250"/>
              </a:lnSpc>
              <a:buNone/>
            </a:pPr>
            <a:r>
              <a:rPr lang="vi-VN" sz="1800" b="1" dirty="0">
                <a:solidFill>
                  <a:srgbClr val="F5F7F1"/>
                </a:solidFill>
                <a:latin typeface="Arial" pitchFamily="34" charset="0"/>
                <a:ea typeface="Arial" pitchFamily="34" charset="-122"/>
                <a:cs typeface="Arial" pitchFamily="34" charset="-120"/>
              </a:rPr>
              <a:t>Lắp camera trước tấm bẫy</a:t>
            </a:r>
            <a:endParaRPr lang="vi-VN" sz="1800" dirty="0"/>
          </a:p>
        </p:txBody>
      </p:sp>
      <p:sp>
        <p:nvSpPr>
          <p:cNvPr id="7" name="Text 5"/>
          <p:cNvSpPr/>
          <p:nvPr/>
        </p:nvSpPr>
        <p:spPr>
          <a:xfrm>
            <a:off x="812800" y="3053159"/>
            <a:ext cx="3488233" cy="520700"/>
          </a:xfrm>
          <a:prstGeom prst="rect">
            <a:avLst/>
          </a:prstGeom>
          <a:noFill/>
          <a:ln/>
        </p:spPr>
        <p:txBody>
          <a:bodyPr wrap="square" lIns="0" tIns="0" rIns="0" bIns="0" rtlCol="0" anchor="t">
            <a:normAutofit/>
          </a:bodyPr>
          <a:lstStyle/>
          <a:p>
            <a:pPr algn="l" indent="0" marL="0">
              <a:lnSpc>
                <a:spcPts val="1950"/>
              </a:lnSpc>
              <a:buNone/>
            </a:pPr>
            <a:r>
              <a:rPr lang="vi-VN" sz="1300" dirty="0">
                <a:solidFill>
                  <a:srgbClr val="BFD3C6"/>
                </a:solidFill>
                <a:latin typeface="Arial" pitchFamily="34" charset="0"/>
                <a:ea typeface="Arial" pitchFamily="34" charset="-122"/>
                <a:cs typeface="Arial" pitchFamily="34" charset="-120"/>
              </a:rPr>
              <a:t>Camera EZVIZ hướng vào tấm bẫy dính hoặc bẫy dẫn dụ.</a:t>
            </a:r>
            <a:endParaRPr lang="vi-VN" sz="1300" dirty="0"/>
          </a:p>
        </p:txBody>
      </p:sp>
      <p:sp>
        <p:nvSpPr>
          <p:cNvPr id="8" name="Shape 6"/>
          <p:cNvSpPr/>
          <p:nvPr/>
        </p:nvSpPr>
        <p:spPr>
          <a:xfrm>
            <a:off x="4402634" y="1906389"/>
            <a:ext cx="3386733" cy="0"/>
          </a:xfrm>
          <a:prstGeom prst="line">
            <a:avLst/>
          </a:prstGeom>
          <a:noFill/>
          <a:ln w="25400">
            <a:solidFill>
              <a:srgbClr val="F2C230"/>
            </a:solidFill>
            <a:prstDash val="solid"/>
          </a:ln>
        </p:spPr>
      </p:sp>
      <p:sp>
        <p:nvSpPr>
          <p:cNvPr id="9" name="Text 7"/>
          <p:cNvSpPr/>
          <p:nvPr/>
        </p:nvSpPr>
        <p:spPr>
          <a:xfrm>
            <a:off x="4402634" y="2122289"/>
            <a:ext cx="3488335" cy="416520"/>
          </a:xfrm>
          <a:prstGeom prst="rect">
            <a:avLst/>
          </a:prstGeom>
          <a:noFill/>
          <a:ln/>
        </p:spPr>
        <p:txBody>
          <a:bodyPr wrap="square" lIns="0" tIns="0" rIns="0" bIns="0" rtlCol="0" anchor="t">
            <a:normAutofit/>
          </a:bodyPr>
          <a:lstStyle/>
          <a:p>
            <a:pPr algn="l" indent="0" marL="0">
              <a:lnSpc>
                <a:spcPts val="3080"/>
              </a:lnSpc>
              <a:buNone/>
            </a:pPr>
            <a:r>
              <a:rPr lang="vi-VN" sz="2200" b="1" dirty="0">
                <a:solidFill>
                  <a:srgbClr val="F2C230"/>
                </a:solidFill>
                <a:latin typeface="Arial" pitchFamily="34" charset="0"/>
                <a:ea typeface="Arial" pitchFamily="34" charset="-122"/>
                <a:cs typeface="Arial" pitchFamily="34" charset="-120"/>
              </a:rPr>
              <a:t>02</a:t>
            </a:r>
            <a:endParaRPr lang="vi-VN" sz="2200" dirty="0"/>
          </a:p>
        </p:txBody>
      </p:sp>
      <p:sp>
        <p:nvSpPr>
          <p:cNvPr id="10" name="Text 8"/>
          <p:cNvSpPr/>
          <p:nvPr/>
        </p:nvSpPr>
        <p:spPr>
          <a:xfrm>
            <a:off x="4402634" y="2640409"/>
            <a:ext cx="3488335" cy="311150"/>
          </a:xfrm>
          <a:prstGeom prst="rect">
            <a:avLst/>
          </a:prstGeom>
          <a:noFill/>
          <a:ln/>
        </p:spPr>
        <p:txBody>
          <a:bodyPr wrap="square" lIns="0" tIns="0" rIns="0" bIns="0" rtlCol="0" anchor="t">
            <a:normAutofit/>
          </a:bodyPr>
          <a:lstStyle/>
          <a:p>
            <a:pPr algn="l" indent="0" marL="0">
              <a:lnSpc>
                <a:spcPts val="2250"/>
              </a:lnSpc>
              <a:buNone/>
            </a:pPr>
            <a:r>
              <a:rPr lang="vi-VN" sz="1800" b="1" dirty="0">
                <a:solidFill>
                  <a:srgbClr val="F5F7F1"/>
                </a:solidFill>
                <a:latin typeface="Arial" pitchFamily="34" charset="0"/>
                <a:ea typeface="Arial" pitchFamily="34" charset="-122"/>
                <a:cs typeface="Arial" pitchFamily="34" charset="-120"/>
              </a:rPr>
              <a:t>Thêm camera vào FlyBot</a:t>
            </a:r>
            <a:endParaRPr lang="vi-VN" sz="1800" dirty="0"/>
          </a:p>
        </p:txBody>
      </p:sp>
      <p:sp>
        <p:nvSpPr>
          <p:cNvPr id="11" name="Text 9"/>
          <p:cNvSpPr/>
          <p:nvPr/>
        </p:nvSpPr>
        <p:spPr>
          <a:xfrm>
            <a:off x="4402634" y="3053159"/>
            <a:ext cx="3488335" cy="520700"/>
          </a:xfrm>
          <a:prstGeom prst="rect">
            <a:avLst/>
          </a:prstGeom>
          <a:noFill/>
          <a:ln/>
        </p:spPr>
        <p:txBody>
          <a:bodyPr wrap="square" lIns="0" tIns="0" rIns="0" bIns="0" rtlCol="0" anchor="t">
            <a:normAutofit/>
          </a:bodyPr>
          <a:lstStyle/>
          <a:p>
            <a:pPr algn="l" indent="0" marL="0">
              <a:lnSpc>
                <a:spcPts val="1950"/>
              </a:lnSpc>
              <a:buNone/>
            </a:pPr>
            <a:r>
              <a:rPr lang="vi-VN" sz="1300" dirty="0">
                <a:solidFill>
                  <a:srgbClr val="BFD3C6"/>
                </a:solidFill>
                <a:latin typeface="Arial" pitchFamily="34" charset="0"/>
                <a:ea typeface="Arial" pitchFamily="34" charset="-122"/>
                <a:cs typeface="Arial" pitchFamily="34" charset="-120"/>
              </a:rPr>
              <a:t>Nhập số serial và mã xác thực, chọn loại bẫy và lịch chụp.</a:t>
            </a:r>
            <a:endParaRPr lang="vi-VN" sz="1300" dirty="0"/>
          </a:p>
        </p:txBody>
      </p:sp>
      <p:sp>
        <p:nvSpPr>
          <p:cNvPr id="12" name="Shape 10"/>
          <p:cNvSpPr/>
          <p:nvPr/>
        </p:nvSpPr>
        <p:spPr>
          <a:xfrm>
            <a:off x="7992566" y="1906389"/>
            <a:ext cx="3386634" cy="0"/>
          </a:xfrm>
          <a:prstGeom prst="line">
            <a:avLst/>
          </a:prstGeom>
          <a:noFill/>
          <a:ln w="25400">
            <a:solidFill>
              <a:srgbClr val="F2C230"/>
            </a:solidFill>
            <a:prstDash val="solid"/>
          </a:ln>
        </p:spPr>
      </p:sp>
      <p:sp>
        <p:nvSpPr>
          <p:cNvPr id="13" name="Text 11"/>
          <p:cNvSpPr/>
          <p:nvPr/>
        </p:nvSpPr>
        <p:spPr>
          <a:xfrm>
            <a:off x="7992566" y="2122289"/>
            <a:ext cx="3488233" cy="416520"/>
          </a:xfrm>
          <a:prstGeom prst="rect">
            <a:avLst/>
          </a:prstGeom>
          <a:noFill/>
          <a:ln/>
        </p:spPr>
        <p:txBody>
          <a:bodyPr wrap="square" lIns="0" tIns="0" rIns="0" bIns="0" rtlCol="0" anchor="t">
            <a:normAutofit/>
          </a:bodyPr>
          <a:lstStyle/>
          <a:p>
            <a:pPr algn="l" indent="0" marL="0">
              <a:lnSpc>
                <a:spcPts val="3080"/>
              </a:lnSpc>
              <a:buNone/>
            </a:pPr>
            <a:r>
              <a:rPr lang="vi-VN" sz="2200" b="1" dirty="0">
                <a:solidFill>
                  <a:srgbClr val="F2C230"/>
                </a:solidFill>
                <a:latin typeface="Arial" pitchFamily="34" charset="0"/>
                <a:ea typeface="Arial" pitchFamily="34" charset="-122"/>
                <a:cs typeface="Arial" pitchFamily="34" charset="-120"/>
              </a:rPr>
              <a:t>03</a:t>
            </a:r>
            <a:endParaRPr lang="vi-VN" sz="2200" dirty="0"/>
          </a:p>
        </p:txBody>
      </p:sp>
      <p:sp>
        <p:nvSpPr>
          <p:cNvPr id="14" name="Text 12"/>
          <p:cNvSpPr/>
          <p:nvPr/>
        </p:nvSpPr>
        <p:spPr>
          <a:xfrm>
            <a:off x="7992566" y="2640409"/>
            <a:ext cx="3488233" cy="311150"/>
          </a:xfrm>
          <a:prstGeom prst="rect">
            <a:avLst/>
          </a:prstGeom>
          <a:noFill/>
          <a:ln/>
        </p:spPr>
        <p:txBody>
          <a:bodyPr wrap="square" lIns="0" tIns="0" rIns="0" bIns="0" rtlCol="0" anchor="t">
            <a:normAutofit/>
          </a:bodyPr>
          <a:lstStyle/>
          <a:p>
            <a:pPr algn="l" indent="0" marL="0">
              <a:lnSpc>
                <a:spcPts val="2250"/>
              </a:lnSpc>
              <a:buNone/>
            </a:pPr>
            <a:r>
              <a:rPr lang="vi-VN" sz="1800" b="1" dirty="0">
                <a:solidFill>
                  <a:srgbClr val="F5F7F1"/>
                </a:solidFill>
                <a:latin typeface="Arial" pitchFamily="34" charset="0"/>
                <a:ea typeface="Arial" pitchFamily="34" charset="-122"/>
                <a:cs typeface="Arial" pitchFamily="34" charset="-120"/>
              </a:rPr>
              <a:t>Đặt ngưỡng và kênh nhận</a:t>
            </a:r>
            <a:endParaRPr lang="vi-VN" sz="1800" dirty="0"/>
          </a:p>
        </p:txBody>
      </p:sp>
      <p:sp>
        <p:nvSpPr>
          <p:cNvPr id="15" name="Text 13"/>
          <p:cNvSpPr/>
          <p:nvPr/>
        </p:nvSpPr>
        <p:spPr>
          <a:xfrm>
            <a:off x="7992566" y="3053159"/>
            <a:ext cx="3488233" cy="520700"/>
          </a:xfrm>
          <a:prstGeom prst="rect">
            <a:avLst/>
          </a:prstGeom>
          <a:noFill/>
          <a:ln/>
        </p:spPr>
        <p:txBody>
          <a:bodyPr wrap="square" lIns="0" tIns="0" rIns="0" bIns="0" rtlCol="0" anchor="t">
            <a:normAutofit/>
          </a:bodyPr>
          <a:lstStyle/>
          <a:p>
            <a:pPr algn="l" indent="0" marL="0">
              <a:lnSpc>
                <a:spcPts val="1950"/>
              </a:lnSpc>
              <a:buNone/>
            </a:pPr>
            <a:r>
              <a:rPr lang="vi-VN" sz="1300" dirty="0">
                <a:solidFill>
                  <a:srgbClr val="BFD3C6"/>
                </a:solidFill>
                <a:latin typeface="Arial" pitchFamily="34" charset="0"/>
                <a:ea typeface="Arial" pitchFamily="34" charset="-122"/>
                <a:cs typeface="Arial" pitchFamily="34" charset="-120"/>
              </a:rPr>
              <a:t>Ngưỡng cho từng bẫy; nhận cảnh báo qua điện thoại, email, Telegram.</a:t>
            </a:r>
            <a:endParaRPr lang="vi-VN" sz="1300" dirty="0"/>
          </a:p>
        </p:txBody>
      </p:sp>
      <p:pic>
        <p:nvPicPr>
          <p:cNvPr id="16" name="Image 0" descr="Mã QR mở ezviz.agrhub.com">    </p:cNvPr>
          <p:cNvPicPr>
            <a:picLocks noChangeAspect="1"/>
          </p:cNvPicPr>
          <p:nvPr/>
        </p:nvPicPr>
        <p:blipFill>
          <a:blip r:embed="rId1"/>
          <a:srcRect l="0" r="0" t="0" b="0"/>
          <a:stretch/>
        </p:blipFill>
        <p:spPr>
          <a:xfrm>
            <a:off x="812800" y="3904059"/>
            <a:ext cx="1143000" cy="1143000"/>
          </a:xfrm>
          <a:prstGeom prst="roundRect">
            <a:avLst>
              <a:gd name="adj" fmla="val 6667"/>
            </a:avLst>
          </a:prstGeom>
        </p:spPr>
      </p:pic>
      <p:sp>
        <p:nvSpPr>
          <p:cNvPr id="17" name="Text 14"/>
          <p:cNvSpPr/>
          <p:nvPr/>
        </p:nvSpPr>
        <p:spPr>
          <a:xfrm>
            <a:off x="2108200" y="4210149"/>
            <a:ext cx="1372295" cy="292100"/>
          </a:xfrm>
          <a:prstGeom prst="rect">
            <a:avLst/>
          </a:prstGeom>
          <a:noFill/>
          <a:ln/>
        </p:spPr>
        <p:txBody>
          <a:bodyPr wrap="square" lIns="0" tIns="0" rIns="0" bIns="0" rtlCol="0" anchor="t">
            <a:normAutofit/>
          </a:bodyPr>
          <a:lstStyle/>
          <a:p>
            <a:pPr algn="l" indent="0" marL="0">
              <a:lnSpc>
                <a:spcPts val="2100"/>
              </a:lnSpc>
              <a:buNone/>
            </a:pPr>
            <a:r>
              <a:rPr lang="vi-VN" sz="1500" b="1" dirty="0">
                <a:solidFill>
                  <a:srgbClr val="F5F7F1"/>
                </a:solidFill>
                <a:latin typeface="Arial" pitchFamily="34" charset="0"/>
                <a:ea typeface="Arial" pitchFamily="34" charset="-122"/>
                <a:cs typeface="Arial" pitchFamily="34" charset="-120"/>
              </a:rPr>
              <a:t>Mở ứng dụng</a:t>
            </a:r>
            <a:endParaRPr lang="vi-VN" sz="1500" dirty="0"/>
          </a:p>
        </p:txBody>
      </p:sp>
      <p:sp>
        <p:nvSpPr>
          <p:cNvPr id="18" name="Text 15"/>
          <p:cNvSpPr/>
          <p:nvPr/>
        </p:nvSpPr>
        <p:spPr>
          <a:xfrm>
            <a:off x="2108200" y="4527649"/>
            <a:ext cx="1585793" cy="238720"/>
          </a:xfrm>
          <a:prstGeom prst="rect">
            <a:avLst/>
          </a:prstGeom>
          <a:noFill/>
          <a:ln/>
        </p:spPr>
        <p:txBody>
          <a:bodyPr wrap="square" lIns="0" tIns="0" rIns="0" bIns="0" rtlCol="0" anchor="t">
            <a:normAutofit/>
          </a:bodyPr>
          <a:lstStyle/>
          <a:p>
            <a:pPr algn="l" indent="0" marL="0">
              <a:lnSpc>
                <a:spcPts val="1680"/>
              </a:lnSpc>
              <a:buNone/>
            </a:pPr>
            <a:r>
              <a:rPr lang="vi-VN" sz="1200" u="sng" dirty="0">
                <a:solidFill>
                  <a:srgbClr val="BFD3C6"/>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ezviz.agrhub.com</a:t>
            </a:r>
            <a:endParaRPr lang="vi-VN" sz="1200" dirty="0"/>
          </a:p>
        </p:txBody>
      </p:sp>
      <p:pic>
        <p:nvPicPr>
          <p:cNvPr id="19" name="Image 1" descr="Mã QR mở video giới thiệu FlyBot">    </p:cNvPr>
          <p:cNvPicPr>
            <a:picLocks noChangeAspect="1"/>
          </p:cNvPicPr>
          <p:nvPr/>
        </p:nvPicPr>
        <p:blipFill>
          <a:blip r:embed="rId3"/>
          <a:srcRect l="0" r="0" t="0" b="0"/>
          <a:stretch/>
        </p:blipFill>
        <p:spPr>
          <a:xfrm>
            <a:off x="3886895" y="3904059"/>
            <a:ext cx="1143000" cy="1143000"/>
          </a:xfrm>
          <a:prstGeom prst="roundRect">
            <a:avLst>
              <a:gd name="adj" fmla="val 6667"/>
            </a:avLst>
          </a:prstGeom>
        </p:spPr>
      </p:pic>
      <p:sp>
        <p:nvSpPr>
          <p:cNvPr id="20" name="Text 16"/>
          <p:cNvSpPr/>
          <p:nvPr/>
        </p:nvSpPr>
        <p:spPr>
          <a:xfrm>
            <a:off x="5182295" y="4210149"/>
            <a:ext cx="2240837" cy="292100"/>
          </a:xfrm>
          <a:prstGeom prst="rect">
            <a:avLst/>
          </a:prstGeom>
          <a:noFill/>
          <a:ln/>
        </p:spPr>
        <p:txBody>
          <a:bodyPr wrap="square" lIns="0" tIns="0" rIns="0" bIns="0" rtlCol="0" anchor="t">
            <a:normAutofit/>
          </a:bodyPr>
          <a:lstStyle/>
          <a:p>
            <a:pPr algn="l" indent="0" marL="0">
              <a:lnSpc>
                <a:spcPts val="2100"/>
              </a:lnSpc>
              <a:buNone/>
            </a:pPr>
            <a:r>
              <a:rPr lang="vi-VN" sz="1500" b="1" dirty="0">
                <a:solidFill>
                  <a:srgbClr val="F5F7F1"/>
                </a:solidFill>
                <a:latin typeface="Arial" pitchFamily="34" charset="0"/>
                <a:ea typeface="Arial" pitchFamily="34" charset="-122"/>
                <a:cs typeface="Arial" pitchFamily="34" charset="-120"/>
              </a:rPr>
              <a:t>Xem video 82 giây</a:t>
            </a:r>
            <a:endParaRPr lang="vi-VN" sz="1500" dirty="0"/>
          </a:p>
        </p:txBody>
      </p:sp>
      <p:sp>
        <p:nvSpPr>
          <p:cNvPr id="21" name="Text 17"/>
          <p:cNvSpPr/>
          <p:nvPr/>
        </p:nvSpPr>
        <p:spPr>
          <a:xfrm>
            <a:off x="5182295" y="4527649"/>
            <a:ext cx="2610683" cy="238720"/>
          </a:xfrm>
          <a:prstGeom prst="rect">
            <a:avLst/>
          </a:prstGeom>
          <a:noFill/>
          <a:ln/>
        </p:spPr>
        <p:txBody>
          <a:bodyPr wrap="square" lIns="0" tIns="0" rIns="0" bIns="0" rtlCol="0" anchor="t">
            <a:normAutofit/>
          </a:bodyPr>
          <a:lstStyle/>
          <a:p>
            <a:pPr algn="l" indent="0" marL="0">
              <a:lnSpc>
                <a:spcPts val="1680"/>
              </a:lnSpc>
              <a:buNone/>
            </a:pPr>
            <a:r>
              <a:rPr lang="vi-VN" sz="1200" u="sng" dirty="0">
                <a:solidFill>
                  <a:srgbClr val="BFD3C6"/>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Quét bằng camera điện thoại</a:t>
            </a:r>
            <a:endParaRPr lang="vi-VN" sz="1200" dirty="0"/>
          </a:p>
        </p:txBody>
      </p:sp>
      <p:sp>
        <p:nvSpPr>
          <p:cNvPr id="22"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vi-VN" sz="1200" dirty="0">
                <a:solidFill>
                  <a:srgbClr val="8FA898"/>
                </a:solidFill>
                <a:latin typeface="Arial" pitchFamily="34" charset="0"/>
                <a:ea typeface="Arial" pitchFamily="34" charset="-122"/>
                <a:cs typeface="Arial" pitchFamily="34" charset="-120"/>
              </a:rPr>
              <a:t>Liên hệ: </a:t>
            </a:r>
            <a:r>
              <a:rPr lang="vi-VN" sz="1200" dirty="0">
                <a:solidFill>
                  <a:srgbClr val="8FA898"/>
                </a:solidFill>
                <a:latin typeface="Arial" pitchFamily="34" charset="0"/>
                <a:ea typeface="Arial" pitchFamily="34" charset="-122"/>
                <a:cs typeface="Arial" pitchFamily="34" charset="-120"/>
              </a:rPr>
              <a:t>contact@agrhub.com</a:t>
            </a:r>
            <a:r>
              <a:rPr lang="vi-VN" sz="1200" dirty="0">
                <a:solidFill>
                  <a:srgbClr val="8FA898"/>
                </a:solidFill>
                <a:latin typeface="Arial" pitchFamily="34" charset="0"/>
                <a:ea typeface="Arial" pitchFamily="34" charset="-122"/>
                <a:cs typeface="Arial" pitchFamily="34" charset="-120"/>
              </a:rPr>
              <a:t> · </a:t>
            </a:r>
            <a:r>
              <a:rPr lang="vi-VN" sz="1200" u="sng" dirty="0">
                <a:solidFill>
                  <a:srgbClr val="8FA898"/>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ezviz.agrhub.com</a:t>
            </a:r>
            <a:r>
              <a:rPr lang="vi-VN" sz="1200" dirty="0">
                <a:solidFill>
                  <a:srgbClr val="8FA898"/>
                </a:solidFill>
                <a:latin typeface="Arial" pitchFamily="34" charset="0"/>
                <a:ea typeface="Arial" pitchFamily="34" charset="-122"/>
                <a:cs typeface="Arial" pitchFamily="34" charset="-120"/>
              </a:rPr>
              <a:t> · </a:t>
            </a:r>
            <a:r>
              <a:rPr lang="vi-VN" sz="1200" u="sng" dirty="0">
                <a:solidFill>
                  <a:srgbClr val="8FA898"/>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Hướng dẫn</a:t>
            </a:r>
            <a:r>
              <a:rPr lang="vi-VN" sz="1200" dirty="0">
                <a:solidFill>
                  <a:srgbClr val="8FA898"/>
                </a:solidFill>
                <a:latin typeface="Arial" pitchFamily="34" charset="0"/>
                <a:ea typeface="Arial" pitchFamily="34" charset="-122"/>
                <a:cs typeface="Arial" pitchFamily="34" charset="-120"/>
              </a:rPr>
              <a:t> · </a:t>
            </a:r>
            <a:r>
              <a:rPr lang="vi-VN" sz="1200" u="sng" dirty="0">
                <a:solidFill>
                  <a:srgbClr val="8FA898"/>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Video giới thiệu</a:t>
            </a:r>
            <a:endParaRPr lang="vi-VN" sz="1200" dirty="0"/>
          </a:p>
        </p:txBody>
      </p:sp>
    </p:spTree>
  </p:cSld>
  <p:clrMapOvr>
    <a:masterClrMapping/>
  </p:clrMapOvr>
</p:sld>
</file>

<file path=ppt/theme/theme1.xml><?xml version="1.0" encoding="utf-8"?>
<a:theme xmlns:a="http://schemas.openxmlformats.org/drawingml/2006/main" name="FlyBot – Giới thiệu ứng dụng">
  <a:themeElements>
    <a:clrScheme name="FlyBot – Giới thiệu ứng dụng">
      <a:dk1>
        <a:srgbClr val="13261D"/>
      </a:dk1>
      <a:lt1>
        <a:srgbClr val="F5F7F1"/>
      </a:lt1>
      <a:dk2>
        <a:srgbClr val="4C5A52"/>
      </a:dk2>
      <a:lt2>
        <a:srgbClr val="DEE2DC"/>
      </a:lt2>
      <a:accent1>
        <a:srgbClr val="F2C230"/>
      </a:accent1>
      <a:accent2>
        <a:srgbClr val="1D7A50"/>
      </a:accent2>
      <a:accent3>
        <a:srgbClr val="7FD3A8"/>
      </a:accent3>
      <a:accent4>
        <a:srgbClr val="4A5A50"/>
      </a:accent4>
      <a:accent5>
        <a:srgbClr val="BFD3C6"/>
      </a:accent5>
      <a:accent6>
        <a:srgbClr val="6B7B70"/>
      </a:accent6>
      <a:hlink>
        <a:srgbClr val="0563C1"/>
      </a:hlink>
      <a:folHlink>
        <a:srgbClr val="954F72"/>
      </a:folHlink>
    </a:clrScheme>
    <a:fontScheme name="FlyBot – Giới thiệu ứng dụng">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FlyBot – Giới thiệu ứng dụng</dc:title>
  <dc:subject/>
  <dc:creator/>
  <cp:lastModifiedBy/>
  <cp:revision>1</cp:revision>
  <dcterms:created xsi:type="dcterms:W3CDTF">2026-10-12T04:45:34Z</dcterms:created>
  <dcterms:modified xsi:type="dcterms:W3CDTF">2026-10-12T04:45:34Z</dcterms:modified>
</cp:coreProperties>
</file>