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FlyBot: hệ thống bẫy côn trùng có camera, AI tự đếm côn trùng trên tấm bẫy và báo cho người trồng khi mật độ vượt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trồng hiện kiểm bẫy bằng cách đi từng bẫy và đếm tay. Việc này tốn công, số liệu khó so sánh, và thường phát hiện bùng phát quá muộn.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camera chụp tấm bẫy theo lịch, AI nhận dạng và đếm từng con, hệ thống tính số ruồi mới vào bẫy mỗi ngày, rồi cảnh báo và gửi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82 giây giới thiệu các màn hình chính. Video tự chạy khi trình chiếu đến trang này; bấm vào video để tạm dừng.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Màn hình Tổng quan: số ruồi vào bẫy hôm nay, chỉ số ruồi/bẫy/ngày 7 ngày so với tuần trước, mức nguy cơ của từng bẫy so với ngưỡng riêng, biểu đồ 14 ngày và dự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khoanh từng con côn trùng trên ảnh, ghi tên loài và độ tin cậy. Người dùng có thể xác nhận hoặc sửa số đếm; các ảnh đã duyệt được dùng để huấn luyện lại AI. Ảnh lỗi nhận dạng được tự động thử lại. Mô hình RF-DETR huấn luyện trên 1.573 ảnh với hơn 85.000 con ruồi đánh dấu; trên 76 ảnh kiểm thử, độ nhạy 92%, độ chính xác 93%, mAP@50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loại bẫy khi thêm camera. Bẫy dính: số ruồi mới mỗi ngày là phần tăng so với hôm trước. Bẫy dẫn dụ: dùng trung bình mỗi ảnh trong ngày cho cảnh báo, báo cáo, tổng quan và bản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Camera: xem hình trực tiếp, chụp ngay, xem lại các đoạn ghi hình trên thẻ nhớ theo dòng thời gian, ghi nhận thay tấm bẫy và xem lịch sử nhận diện của riêng camera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Cảnh báo khi số ruồi chạm ngưỡng riêng của từng bẫy, khi tăng đột biến, khi camera mất kết nối, khi đến hạn thay tấm bẫy và khi AI lỗi nhiều lần. Gửi trong ứng dụng, thông báo đẩy,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Analytics có biểu đồ xu hướng, phân tích chuyên sâu theo bẫy và theo giờ, và lịch sử mọi ảnh đã phân tích. Có thể lọc và xuất toàn bộ kết quả ra PDF hoặc Excel kèm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chọn khối, khoảng thời gian và bộ lọc cho từng khối, xuất PDF, chia sẻ cho người khác hoặc qua link công khai có thời hạn, và gửi tự động hằng tuần hoặc hằng tháng qua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Trợ lý AI (nút Assistant ở góc trên) là một agent: nó tự gọi các công cụ của FlyBot để lấy số liệu thật trước khi trả lời, so sánh các tuần, đọc cảnh báo, báo cáo và nhật ký vườn (kèm hiệu quả từng lần xử lý), có thể nhìn trực tiếp một ảnh (nút "Hỏi trợ lý về ảnh này"), chụp ảnh từ camera, gửi báo cáo PDF qua email và mở đúng màn hình. Câu trả lời hiện dần kèm thẻ ảnh, biểu đồ, so sánh. Ghi nhận thay tấm keo hay một lần phun thuốc chỉ được lưu khi người dùng bấm Xác nhận. Cuộc trò chuyện được giữ 7 ngày. Trợ lý dùng cùng quy tắc quyền xem camera như ứng dụng và không được đổi cài đặt hay tài khoản.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ví dụ trong khung chat: hỏi ảnh mới nhất thì trợ lý trả lời kèm ảnh nhận dạng; hỏi 24 giờ qua thì có biểu đồ theo giờ; bấm "Hỏi trợ lý về ảnh này" thì AI xem ảnh và nhận xét; nói "đã thay tấm keo" thì trợ lý chuẩn bị thẻ, chỉ ghi khi bạn bấm Xác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Quản lý vườn và lô, đặt bẫy trên bản đồ, xem bản đồ nhiệt. Nhật ký vườn ghi lại các lần xử lý và tự tính hiệu quả trên số côn trùng vào bẫy, xuất được sổ ghi chép theo VietGAP.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dùng được trên điện thoại như một ứng dụng, có thông báo đẩy, tiếng Việt và tiếng Anh. Phân quyền theo vai trò, chia sẻ camera và tổ chức, có API và webhook, nhật ký hoạt động và màn hình theo dõi luồng chụp ảnh cho quản trị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bước: lắp camera EZVIZ trước tấm bẫy, thêm camera bằng số serial và mã xác thực rồi chọn loại bẫy, đặt ngưỡng cảnh báo và kênh nhận. Liên hệ contact@agrhub.com hoặc truy cập https://ezviz.agrhub.com. Hai mã QR mở ứng dụng và video giới thiệu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vi-VN"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vi-VN"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vi-VN"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vi-VN"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vi-VN"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vi-VN"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vi-VN"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vi-VN"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zviz.agrhub.com" TargetMode="External"/><Relationship Id="rId1" Type="http://schemas.openxmlformats.org/officeDocument/2006/relationships/image" Target="../media/image-1-1.png"/><Relationship Id="rId3" Type="http://schemas.openxmlformats.org/officeDocument/2006/relationships/image" Target="../media/image-1-2.webp"/><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ezviz.agrhub.com/media/flybot-tour-vi.mp4" TargetMode="External"/><Relationship Id="rId2" Type="http://schemas.openxmlformats.org/officeDocument/2006/relationships/image" Target="../media/image-4-1.webp"/><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video" Target="../media/media1.mp4"/><Relationship Id="rId6" Type="http://schemas.microsoft.com/office/2007/relationships/media" Target="../media/media1.mp4"/></Relationships>
</file>

<file path=ppt/slides/_rels/slide5.xml.rels><?xml version="1.0" encoding="UTF-8" standalone="yes"?>
<Relationships xmlns="http://schemas.openxmlformats.org/package/2006/relationships"><Relationship Id="rId1" Type="http://schemas.openxmlformats.org/officeDocument/2006/relationships/image" Target="../media/image-5-1.webp"/><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webp"/><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webp"/><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webp"/><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webp"/><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ezviz.agrhub.com/manual?tab=assistant"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ezviz.agrhub.com/manual?tab=assistant" TargetMode="External"/><Relationship Id="rId1" Type="http://schemas.openxmlformats.org/officeDocument/2006/relationships/image" Target="../media/image-13-1.webp"/><Relationship Id="rId2" Type="http://schemas.openxmlformats.org/officeDocument/2006/relationships/image" Target="../media/image-13-2.webp"/><Relationship Id="rId3" Type="http://schemas.openxmlformats.org/officeDocument/2006/relationships/image" Target="../media/image-13-3.webp"/><Relationship Id="rId4" Type="http://schemas.openxmlformats.org/officeDocument/2006/relationships/image" Target="../media/image-13-4.webp"/><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webp"/><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webp"/><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ezviz.agrhub.com" TargetMode="External"/><Relationship Id="rId4" Type="http://schemas.openxmlformats.org/officeDocument/2006/relationships/hyperlink" Target="https://ezviz.agrhub.com/media/flybot-tour-vi.mp4" TargetMode="External"/><Relationship Id="rId5" Type="http://schemas.openxmlformats.org/officeDocument/2006/relationships/hyperlink" Target="https://ezviz.agrhub.com" TargetMode="External"/><Relationship Id="rId6" Type="http://schemas.openxmlformats.org/officeDocument/2006/relationships/hyperlink" Target="https://ezviz.agrhub.com/manual" TargetMode="External"/><Relationship Id="rId7" Type="http://schemas.openxmlformats.org/officeDocument/2006/relationships/hyperlink" Target="https://ezviz.agrhub.com/media/flybot-tour-vi.mp4" TargetMode="External"/><Relationship Id="rId1" Type="http://schemas.openxmlformats.org/officeDocument/2006/relationships/image" Target="../media/image-16-1.png"/><Relationship Id="rId3" Type="http://schemas.openxmlformats.org/officeDocument/2006/relationships/image" Target="../media/image-16-2.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Logo FlyBot">    </p:cNvPr>
          <p:cNvPicPr>
            <a:picLocks noChangeAspect="1"/>
          </p:cNvPicPr>
          <p:nvPr/>
        </p:nvPicPr>
        <p:blipFill>
          <a:blip r:embed="rId1"/>
          <a:srcRect l="0" r="0" t="0" b="0"/>
          <a:stretch/>
        </p:blipFill>
        <p:spPr>
          <a:xfrm>
            <a:off x="812800" y="901898"/>
            <a:ext cx="711200" cy="711200"/>
          </a:xfrm>
          <a:prstGeom prst="rect">
            <a:avLst/>
          </a:prstGeom>
        </p:spPr>
      </p:pic>
      <p:sp>
        <p:nvSpPr>
          <p:cNvPr id="3" name="Text 0"/>
          <p:cNvSpPr/>
          <p:nvPr/>
        </p:nvSpPr>
        <p:spPr>
          <a:xfrm>
            <a:off x="1676400" y="1061938"/>
            <a:ext cx="1114544"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5F7F1"/>
                </a:solidFill>
                <a:latin typeface="Arial" pitchFamily="34" charset="0"/>
                <a:ea typeface="Arial" pitchFamily="34" charset="-122"/>
                <a:cs typeface="Arial" pitchFamily="34" charset="-120"/>
              </a:rPr>
              <a:t>FlyBot</a:t>
            </a:r>
            <a:endParaRPr lang="vi-VN" sz="2200" dirty="0"/>
          </a:p>
        </p:txBody>
      </p:sp>
      <p:sp>
        <p:nvSpPr>
          <p:cNvPr id="4" name="Text 1"/>
          <p:cNvSpPr/>
          <p:nvPr>
            <p:ph type="title"/>
          </p:nvPr>
        </p:nvSpPr>
        <p:spPr>
          <a:xfrm>
            <a:off x="812800" y="1867098"/>
            <a:ext cx="4970780" cy="2148681"/>
          </a:xfrm>
          <a:prstGeom prst="rect">
            <a:avLst/>
          </a:prstGeom>
          <a:noFill/>
          <a:ln/>
        </p:spPr>
        <p:txBody>
          <a:bodyPr wrap="square" lIns="0" tIns="0" rIns="0" bIns="0" rtlCol="0" anchor="t">
            <a:normAutofit/>
          </a:bodyPr>
          <a:lstStyle/>
          <a:p>
            <a:pPr algn="l" indent="0" marL="0">
              <a:lnSpc>
                <a:spcPts val="4180"/>
              </a:lnSpc>
              <a:buNone/>
            </a:pPr>
            <a:r>
              <a:rPr lang="vi-VN" sz="3800" b="1" i="0" dirty="0">
                <a:solidFill>
                  <a:srgbClr val="F5F7F1"/>
                </a:solidFill>
                <a:latin typeface="Arial" pitchFamily="34" charset="0"/>
                <a:ea typeface="Arial" pitchFamily="34" charset="-122"/>
                <a:cs typeface="Arial" pitchFamily="34" charset="-120"/>
              </a:rPr>
              <a:t>Bẫy côn trùng thông minh: camera chụp, AI đếm</a:t>
            </a:r>
            <a:endParaRPr lang="vi-VN" sz="3800" dirty="0"/>
          </a:p>
        </p:txBody>
      </p:sp>
      <p:sp>
        <p:nvSpPr>
          <p:cNvPr id="5" name="Text 2"/>
          <p:cNvSpPr/>
          <p:nvPr/>
        </p:nvSpPr>
        <p:spPr>
          <a:xfrm>
            <a:off x="812800" y="4244380"/>
            <a:ext cx="4970780" cy="614561"/>
          </a:xfrm>
          <a:prstGeom prst="rect">
            <a:avLst/>
          </a:prstGeom>
          <a:noFill/>
          <a:ln/>
        </p:spPr>
        <p:txBody>
          <a:bodyPr wrap="square" lIns="0" tIns="0" rIns="0" bIns="0" rtlCol="0" anchor="t">
            <a:normAutofit/>
          </a:bodyPr>
          <a:lstStyle/>
          <a:p>
            <a:pPr algn="l" indent="0" marL="0">
              <a:lnSpc>
                <a:spcPts val="2320"/>
              </a:lnSpc>
              <a:buNone/>
            </a:pPr>
            <a:r>
              <a:rPr lang="vi-VN" sz="1600" dirty="0">
                <a:solidFill>
                  <a:srgbClr val="BFD3C6"/>
                </a:solidFill>
                <a:latin typeface="Arial" pitchFamily="34" charset="0"/>
                <a:ea typeface="Arial" pitchFamily="34" charset="-122"/>
                <a:cs typeface="Arial" pitchFamily="34" charset="-120"/>
              </a:rPr>
              <a:t>Theo dõi ruồi vàng và côn trùng gây hại trên từng bẫy, mỗi ngày, ngay trên điện thoại.</a:t>
            </a:r>
            <a:endParaRPr lang="vi-VN" sz="1600" dirty="0"/>
          </a:p>
        </p:txBody>
      </p:sp>
      <p:sp>
        <p:nvSpPr>
          <p:cNvPr id="6" name="Text 3"/>
          <p:cNvSpPr/>
          <p:nvPr/>
        </p:nvSpPr>
        <p:spPr>
          <a:xfrm>
            <a:off x="812800" y="5087541"/>
            <a:ext cx="3683000" cy="365720"/>
          </a:xfrm>
          <a:prstGeom prst="roundRect">
            <a:avLst>
              <a:gd name="adj" fmla="val 50000"/>
            </a:avLst>
          </a:prstGeom>
          <a:solidFill>
            <a:srgbClr val="F2C230"/>
          </a:solidFill>
          <a:ln/>
        </p:spPr>
        <p:txBody>
          <a:bodyPr wrap="square" lIns="48169" tIns="22642" rIns="48169"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Web · Điện thoại · Tiếng Việt và English</a:t>
            </a:r>
            <a:endParaRPr lang="vi-VN" sz="1200" dirty="0"/>
          </a:p>
        </p:txBody>
      </p:sp>
      <p:sp>
        <p:nvSpPr>
          <p:cNvPr id="7" name="Text 4"/>
          <p:cNvSpPr/>
          <p:nvPr/>
        </p:nvSpPr>
        <p:spPr>
          <a:xfrm>
            <a:off x="812800" y="5707261"/>
            <a:ext cx="4970780" cy="274241"/>
          </a:xfrm>
          <a:prstGeom prst="rect">
            <a:avLst/>
          </a:prstGeom>
          <a:noFill/>
          <a:ln/>
        </p:spPr>
        <p:txBody>
          <a:bodyPr wrap="square" lIns="0" tIns="0" rIns="0" bIns="0" rtlCol="0" anchor="t">
            <a:normAutofit/>
          </a:bodyPr>
          <a:lstStyle/>
          <a:p>
            <a:pPr algn="l" indent="0" marL="0">
              <a:lnSpc>
                <a:spcPts val="1960"/>
              </a:lnSpc>
              <a:buNone/>
            </a:pPr>
            <a:r>
              <a:rPr lang="vi-VN" sz="1400" b="1" u="sng" dirty="0">
                <a:solidFill>
                  <a:srgbClr val="F2C23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vi-VN" sz="1400" dirty="0"/>
          </a:p>
        </p:txBody>
      </p:sp>
      <p:pic>
        <p:nvPicPr>
          <p:cNvPr id="8" name="Image 1" descr="Màn hình Tổng quan của FlyBot: ruồi vào bẫy hôm nay, ruồi/bẫy/ngày và danh sách bẫy">    </p:cNvPr>
          <p:cNvPicPr>
            <a:picLocks noChangeAspect="1"/>
          </p:cNvPicPr>
          <p:nvPr/>
        </p:nvPicPr>
        <p:blipFill>
          <a:blip r:embed="rId3"/>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9" name="Shape 5"/>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VẤN ĐỀ</a:t>
            </a:r>
            <a:endParaRPr lang="vi-VN" sz="1200" dirty="0"/>
          </a:p>
        </p:txBody>
      </p:sp>
      <p:sp>
        <p:nvSpPr>
          <p:cNvPr id="3" name="Text 1"/>
          <p:cNvSpPr/>
          <p:nvPr>
            <p:ph type="title"/>
          </p:nvPr>
        </p:nvSpPr>
        <p:spPr>
          <a:xfrm>
            <a:off x="812800" y="1127720"/>
            <a:ext cx="11379200"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Kiểm bẫy thủ công tốn công và luôn đi sau dịch hại</a:t>
            </a:r>
            <a:endParaRPr lang="vi-VN" sz="3200" dirty="0"/>
          </a:p>
        </p:txBody>
      </p:sp>
      <p:sp>
        <p:nvSpPr>
          <p:cNvPr id="4" name="Shape 2"/>
          <p:cNvSpPr/>
          <p:nvPr/>
        </p:nvSpPr>
        <p:spPr>
          <a:xfrm>
            <a:off x="815975" y="2004616"/>
            <a:ext cx="3380284" cy="3834209"/>
          </a:xfrm>
          <a:prstGeom prst="roundRect">
            <a:avLst>
              <a:gd name="adj" fmla="val 3663"/>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312591"/>
            <a:ext cx="406400" cy="406400"/>
          </a:xfrm>
          <a:prstGeom prst="rect">
            <a:avLst/>
          </a:prstGeom>
        </p:spPr>
      </p:pic>
      <p:sp>
        <p:nvSpPr>
          <p:cNvPr id="6" name="Text 3"/>
          <p:cNvSpPr/>
          <p:nvPr/>
        </p:nvSpPr>
        <p:spPr>
          <a:xfrm>
            <a:off x="1123950" y="2871391"/>
            <a:ext cx="2847264" cy="6350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Đi từng bẫy, đếm bằng tay</a:t>
            </a:r>
            <a:endParaRPr lang="vi-VN" sz="2000" dirty="0"/>
          </a:p>
        </p:txBody>
      </p:sp>
      <p:sp>
        <p:nvSpPr>
          <p:cNvPr id="7" name="Text 4"/>
          <p:cNvSpPr/>
          <p:nvPr/>
        </p:nvSpPr>
        <p:spPr>
          <a:xfrm>
            <a:off x="1123950" y="3633391"/>
            <a:ext cx="2847264"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Mỗi lần kiểm tra mất nhiều giờ công, và số đếm phụ thuộc vào người đếm.</a:t>
            </a:r>
            <a:endParaRPr lang="vi-VN" sz="1400" dirty="0"/>
          </a:p>
        </p:txBody>
      </p:sp>
      <p:sp>
        <p:nvSpPr>
          <p:cNvPr id="8" name="Shape 5"/>
          <p:cNvSpPr/>
          <p:nvPr/>
        </p:nvSpPr>
        <p:spPr>
          <a:xfrm>
            <a:off x="4405809" y="2004616"/>
            <a:ext cx="3380383" cy="3834209"/>
          </a:xfrm>
          <a:prstGeom prst="roundRect">
            <a:avLst>
              <a:gd name="adj" fmla="val 3663"/>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312591"/>
            <a:ext cx="406400" cy="406400"/>
          </a:xfrm>
          <a:prstGeom prst="rect">
            <a:avLst/>
          </a:prstGeom>
        </p:spPr>
      </p:pic>
      <p:sp>
        <p:nvSpPr>
          <p:cNvPr id="10" name="Text 6"/>
          <p:cNvSpPr/>
          <p:nvPr/>
        </p:nvSpPr>
        <p:spPr>
          <a:xfrm>
            <a:off x="4713784" y="2871391"/>
            <a:ext cx="2847366" cy="3302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Số liệu rời rạc</a:t>
            </a:r>
            <a:endParaRPr lang="vi-VN" sz="2000" dirty="0"/>
          </a:p>
        </p:txBody>
      </p:sp>
      <p:sp>
        <p:nvSpPr>
          <p:cNvPr id="11" name="Text 7"/>
          <p:cNvSpPr/>
          <p:nvPr/>
        </p:nvSpPr>
        <p:spPr>
          <a:xfrm>
            <a:off x="4713784" y="3328591"/>
            <a:ext cx="2847366"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Ghi chép trên giấy khó so sánh giữa các bẫy, các lô và các tuần.</a:t>
            </a:r>
            <a:endParaRPr lang="vi-VN" sz="1400" dirty="0"/>
          </a:p>
        </p:txBody>
      </p:sp>
      <p:sp>
        <p:nvSpPr>
          <p:cNvPr id="12" name="Shape 8"/>
          <p:cNvSpPr/>
          <p:nvPr/>
        </p:nvSpPr>
        <p:spPr>
          <a:xfrm>
            <a:off x="7995741" y="2004616"/>
            <a:ext cx="3380284" cy="3834209"/>
          </a:xfrm>
          <a:prstGeom prst="roundRect">
            <a:avLst>
              <a:gd name="adj" fmla="val 3663"/>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312591"/>
            <a:ext cx="406400" cy="406400"/>
          </a:xfrm>
          <a:prstGeom prst="rect">
            <a:avLst/>
          </a:prstGeom>
        </p:spPr>
      </p:pic>
      <p:sp>
        <p:nvSpPr>
          <p:cNvPr id="14" name="Text 9"/>
          <p:cNvSpPr/>
          <p:nvPr/>
        </p:nvSpPr>
        <p:spPr>
          <a:xfrm>
            <a:off x="8303716" y="2871391"/>
            <a:ext cx="2847264" cy="3302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Phát hiện muộn</a:t>
            </a:r>
            <a:endParaRPr lang="vi-VN" sz="2000" dirty="0"/>
          </a:p>
        </p:txBody>
      </p:sp>
      <p:sp>
        <p:nvSpPr>
          <p:cNvPr id="15" name="Text 10"/>
          <p:cNvSpPr/>
          <p:nvPr/>
        </p:nvSpPr>
        <p:spPr>
          <a:xfrm>
            <a:off x="8303716" y="3328591"/>
            <a:ext cx="2847264"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Khi thấy mật độ tăng thì đợt bùng phát đã bắt đầu, xử lý tốn kém hơn.</a:t>
            </a:r>
            <a:endParaRPr lang="vi-VN"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2</a:t>
            </a:r>
            <a:endParaRPr lang="vi-V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CÁCH HOẠT ĐỘNG</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Từ tấm bẫy đến quyết định, không cần đếm tay</a:t>
            </a:r>
            <a:endParaRPr lang="vi-VN" sz="3200" dirty="0"/>
          </a:p>
        </p:txBody>
      </p:sp>
      <p:sp>
        <p:nvSpPr>
          <p:cNvPr id="4" name="Shape 2"/>
          <p:cNvSpPr/>
          <p:nvPr/>
        </p:nvSpPr>
        <p:spPr>
          <a:xfrm>
            <a:off x="815975" y="2004616"/>
            <a:ext cx="2257425" cy="383420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1</a:t>
            </a:r>
            <a:endParaRPr lang="vi-VN" sz="1200" dirty="0"/>
          </a:p>
        </p:txBody>
      </p:sp>
      <p:sp>
        <p:nvSpPr>
          <p:cNvPr id="6" name="Text 4"/>
          <p:cNvSpPr/>
          <p:nvPr/>
        </p:nvSpPr>
        <p:spPr>
          <a:xfrm>
            <a:off x="1073150"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Camera chụp tấm bẫy</a:t>
            </a:r>
            <a:endParaRPr lang="vi-VN" sz="1800" dirty="0"/>
          </a:p>
        </p:txBody>
      </p:sp>
      <p:sp>
        <p:nvSpPr>
          <p:cNvPr id="7" name="Text 5"/>
          <p:cNvSpPr/>
          <p:nvPr/>
        </p:nvSpPr>
        <p:spPr>
          <a:xfrm>
            <a:off x="1073150" y="3419872"/>
            <a:ext cx="1795367"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Camera EZVIZ chụp theo lịch riêng của từng bẫy, có thể chỉ chụp ban ngày.</a:t>
            </a:r>
            <a:endParaRPr lang="vi-VN" sz="1300" dirty="0"/>
          </a:p>
        </p:txBody>
      </p:sp>
      <p:pic>
        <p:nvPicPr>
          <p:cNvPr id="8" name="Image 0" descr="arrow-right">    </p:cNvPr>
          <p:cNvPicPr>
            <a:picLocks noChangeAspect="1"/>
          </p:cNvPicPr>
          <p:nvPr/>
        </p:nvPicPr>
        <p:blipFill>
          <a:blip r:embed="rId1"/>
          <a:srcRect l="0" r="0" t="0" b="0"/>
          <a:stretch/>
        </p:blipFill>
        <p:spPr>
          <a:xfrm>
            <a:off x="3178175" y="3832820"/>
            <a:ext cx="304800" cy="177800"/>
          </a:xfrm>
          <a:prstGeom prst="rect">
            <a:avLst/>
          </a:prstGeom>
        </p:spPr>
      </p:pic>
      <p:sp>
        <p:nvSpPr>
          <p:cNvPr id="9" name="Shape 6"/>
          <p:cNvSpPr/>
          <p:nvPr/>
        </p:nvSpPr>
        <p:spPr>
          <a:xfrm>
            <a:off x="3587750" y="2004616"/>
            <a:ext cx="2257425" cy="383420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2</a:t>
            </a:r>
            <a:endParaRPr lang="vi-VN" sz="1200" dirty="0"/>
          </a:p>
        </p:txBody>
      </p:sp>
      <p:sp>
        <p:nvSpPr>
          <p:cNvPr id="11" name="Text 8"/>
          <p:cNvSpPr/>
          <p:nvPr/>
        </p:nvSpPr>
        <p:spPr>
          <a:xfrm>
            <a:off x="3844925"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AI nhận dạng và đếm</a:t>
            </a:r>
            <a:endParaRPr lang="vi-VN" sz="1800" dirty="0"/>
          </a:p>
        </p:txBody>
      </p:sp>
      <p:sp>
        <p:nvSpPr>
          <p:cNvPr id="12" name="Text 9"/>
          <p:cNvSpPr/>
          <p:nvPr/>
        </p:nvSpPr>
        <p:spPr>
          <a:xfrm>
            <a:off x="3844925" y="3419872"/>
            <a:ext cx="1795367"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Khoanh từng con trên ảnh, ghi tên loài và độ tin cậy.</a:t>
            </a:r>
            <a:endParaRPr lang="vi-VN" sz="1300" dirty="0"/>
          </a:p>
        </p:txBody>
      </p:sp>
      <p:pic>
        <p:nvPicPr>
          <p:cNvPr id="13" name="Image 1" descr="arrow-right">    </p:cNvPr>
          <p:cNvPicPr>
            <a:picLocks noChangeAspect="1"/>
          </p:cNvPicPr>
          <p:nvPr/>
        </p:nvPicPr>
        <p:blipFill>
          <a:blip r:embed="rId2"/>
          <a:srcRect l="0" r="0" t="0" b="0"/>
          <a:stretch/>
        </p:blipFill>
        <p:spPr>
          <a:xfrm>
            <a:off x="5949950" y="3832820"/>
            <a:ext cx="304800" cy="177800"/>
          </a:xfrm>
          <a:prstGeom prst="rect">
            <a:avLst/>
          </a:prstGeom>
        </p:spPr>
      </p:pic>
      <p:sp>
        <p:nvSpPr>
          <p:cNvPr id="14" name="Shape 10"/>
          <p:cNvSpPr/>
          <p:nvPr/>
        </p:nvSpPr>
        <p:spPr>
          <a:xfrm>
            <a:off x="6359525" y="2004616"/>
            <a:ext cx="2257425" cy="383420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3</a:t>
            </a:r>
            <a:endParaRPr lang="vi-VN" sz="1200" dirty="0"/>
          </a:p>
        </p:txBody>
      </p:sp>
      <p:sp>
        <p:nvSpPr>
          <p:cNvPr id="16" name="Text 12"/>
          <p:cNvSpPr/>
          <p:nvPr/>
        </p:nvSpPr>
        <p:spPr>
          <a:xfrm>
            <a:off x="6616700"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Tính ruồi vào bẫy mỗi ngày</a:t>
            </a:r>
            <a:endParaRPr lang="vi-VN" sz="1800" dirty="0"/>
          </a:p>
        </p:txBody>
      </p:sp>
      <p:sp>
        <p:nvSpPr>
          <p:cNvPr id="17" name="Text 13"/>
          <p:cNvSpPr/>
          <p:nvPr/>
        </p:nvSpPr>
        <p:spPr>
          <a:xfrm>
            <a:off x="6616700" y="3419872"/>
            <a:ext cx="1795367"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Số con mới mỗi ngày và chỉ số ruồi/bẫy/ngày để so sánh.</a:t>
            </a:r>
            <a:endParaRPr lang="vi-VN" sz="1300" dirty="0"/>
          </a:p>
        </p:txBody>
      </p:sp>
      <p:pic>
        <p:nvPicPr>
          <p:cNvPr id="18" name="Image 2" descr="arrow-right">    </p:cNvPr>
          <p:cNvPicPr>
            <a:picLocks noChangeAspect="1"/>
          </p:cNvPicPr>
          <p:nvPr/>
        </p:nvPicPr>
        <p:blipFill>
          <a:blip r:embed="rId3"/>
          <a:srcRect l="0" r="0" t="0" b="0"/>
          <a:stretch/>
        </p:blipFill>
        <p:spPr>
          <a:xfrm>
            <a:off x="8721725" y="3832820"/>
            <a:ext cx="304800" cy="177800"/>
          </a:xfrm>
          <a:prstGeom prst="rect">
            <a:avLst/>
          </a:prstGeom>
        </p:spPr>
      </p:pic>
      <p:sp>
        <p:nvSpPr>
          <p:cNvPr id="19" name="Shape 14"/>
          <p:cNvSpPr/>
          <p:nvPr/>
        </p:nvSpPr>
        <p:spPr>
          <a:xfrm>
            <a:off x="9128125" y="2001441"/>
            <a:ext cx="2251075" cy="3840559"/>
          </a:xfrm>
          <a:prstGeom prst="roundRect">
            <a:avLst>
              <a:gd name="adj" fmla="val 5642"/>
            </a:avLst>
          </a:prstGeom>
          <a:solidFill>
            <a:srgbClr val="13261D"/>
          </a:solidFill>
          <a:ln/>
        </p:spPr>
      </p:sp>
      <p:sp>
        <p:nvSpPr>
          <p:cNvPr id="20" name="Text 15"/>
          <p:cNvSpPr/>
          <p:nvPr/>
        </p:nvSpPr>
        <p:spPr>
          <a:xfrm>
            <a:off x="9382125" y="225544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4</a:t>
            </a:r>
            <a:endParaRPr lang="vi-VN" sz="1200" dirty="0"/>
          </a:p>
        </p:txBody>
      </p:sp>
      <p:sp>
        <p:nvSpPr>
          <p:cNvPr id="21" name="Text 16"/>
          <p:cNvSpPr/>
          <p:nvPr/>
        </p:nvSpPr>
        <p:spPr>
          <a:xfrm>
            <a:off x="9382125" y="273804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Cảnh báo và báo cáo</a:t>
            </a:r>
            <a:endParaRPr lang="vi-VN" sz="1800" dirty="0"/>
          </a:p>
        </p:txBody>
      </p:sp>
      <p:sp>
        <p:nvSpPr>
          <p:cNvPr id="22" name="Text 17"/>
          <p:cNvSpPr/>
          <p:nvPr/>
        </p:nvSpPr>
        <p:spPr>
          <a:xfrm>
            <a:off x="9382125" y="3413522"/>
            <a:ext cx="1795367"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Báo ngay khi vượt ngưỡng; báo cáo gửi định kỳ.</a:t>
            </a:r>
            <a:endParaRPr lang="vi-VN"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3</a:t>
            </a:r>
            <a:endParaRPr lang="vi-V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1364159"/>
            <a:ext cx="2930144"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VIDEO GIỚI THIỆU</a:t>
            </a:r>
            <a:endParaRPr lang="vi-VN" sz="1200" dirty="0"/>
          </a:p>
        </p:txBody>
      </p:sp>
      <p:sp>
        <p:nvSpPr>
          <p:cNvPr id="3" name="Text 1"/>
          <p:cNvSpPr/>
          <p:nvPr>
            <p:ph type="title"/>
          </p:nvPr>
        </p:nvSpPr>
        <p:spPr>
          <a:xfrm>
            <a:off x="812800" y="1729879"/>
            <a:ext cx="2930144" cy="960041"/>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FlyBot trong 82 giây</a:t>
            </a:r>
            <a:endParaRPr lang="vi-VN" sz="3200" dirty="0"/>
          </a:p>
        </p:txBody>
      </p:sp>
      <p:sp>
        <p:nvSpPr>
          <p:cNvPr id="4" name="Text 2"/>
          <p:cNvSpPr/>
          <p:nvPr/>
        </p:nvSpPr>
        <p:spPr>
          <a:xfrm>
            <a:off x="812800" y="2816920"/>
            <a:ext cx="2930144" cy="10922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Một vòng qua ứng dụng: tổng quan, nhận dạng AI, camera, phân tích, báo cáo, trợ lý FlyBot và hướng dẫn nhanh.</a:t>
            </a:r>
            <a:endParaRPr lang="vi-VN" sz="1400" dirty="0"/>
          </a:p>
        </p:txBody>
      </p:sp>
      <p:sp>
        <p:nvSpPr>
          <p:cNvPr id="5" name="Text 3"/>
          <p:cNvSpPr/>
          <p:nvPr/>
        </p:nvSpPr>
        <p:spPr>
          <a:xfrm>
            <a:off x="812800" y="4036120"/>
            <a:ext cx="2930144" cy="274241"/>
          </a:xfrm>
          <a:prstGeom prst="rect">
            <a:avLst/>
          </a:prstGeom>
          <a:noFill/>
          <a:ln/>
        </p:spPr>
        <p:txBody>
          <a:bodyPr wrap="square" lIns="0" tIns="0" rIns="0" bIns="0" rtlCol="0" anchor="t">
            <a:normAutofit/>
          </a:bodyPr>
          <a:lstStyle/>
          <a:p>
            <a:pPr algn="l" indent="0" marL="0">
              <a:lnSpc>
                <a:spcPts val="1960"/>
              </a:lnSpc>
              <a:buNone/>
            </a:pPr>
            <a:r>
              <a:rPr lang="vi-VN" sz="1400" b="1" dirty="0">
                <a:solidFill>
                  <a:srgbClr val="F2C230"/>
                </a:solidFill>
                <a:latin typeface="Arial" pitchFamily="34" charset="0"/>
                <a:ea typeface="Arial" pitchFamily="34" charset="-122"/>
                <a:cs typeface="Arial" pitchFamily="34" charset="-120"/>
              </a:rPr>
              <a:t>▶ </a:t>
            </a:r>
            <a:r>
              <a:rPr lang="vi-VN" sz="1400" b="1" u="sng" dirty="0">
                <a:solidFill>
                  <a:srgbClr val="F2C23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Xem video trên website</a:t>
            </a:r>
            <a:endParaRPr lang="vi-VN" sz="1400" dirty="0"/>
          </a:p>
        </p:txBody>
      </p:sp>
      <p:sp>
        <p:nvSpPr>
          <p:cNvPr id="6" name="Text 4"/>
          <p:cNvSpPr/>
          <p:nvPr/>
        </p:nvSpPr>
        <p:spPr>
          <a:xfrm>
            <a:off x="812800" y="4437360"/>
            <a:ext cx="2930144" cy="878681"/>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Video tự chạy khi trình chiếu. Trong file PDF hoặc PowerPoint, bấm vào video hoặc link trên để xem bản mới nhất trên website.</a:t>
            </a:r>
            <a:endParaRPr lang="vi-VN" sz="1200" dirty="0"/>
          </a:p>
        </p:txBody>
      </p:sp>
      <p:sp>
        <p:nvSpPr>
          <p:cNvPr id="7" name="Shape 5"/>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8" name="Image 0" descr="Video giới thiệu FlyBot: một vòng qua các màn hình chính của ứng dụng">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2"/>
          <a:srcRect l="-68" r="-68" t="0" b="0"/>
          <a:stretch/>
        </p:blipFill>
        <p:spPr>
          <a:xfrm>
            <a:off x="4070350" y="1276350"/>
            <a:ext cx="7302500" cy="4102100"/>
          </a:xfrm>
          <a:prstGeom prst="roundRect">
            <a:avLst>
              <a:gd name="adj" fmla="val 2322"/>
            </a:avLst>
          </a:prstGeom>
        </p:spPr>
      </p:pic>
      <p:sp>
        <p:nvSpPr>
          <p:cNvPr id="9" name="Shape 6"/>
          <p:cNvSpPr/>
          <p:nvPr/>
        </p:nvSpPr>
        <p:spPr>
          <a:xfrm>
            <a:off x="4067175" y="1273175"/>
            <a:ext cx="7308850" cy="4108450"/>
          </a:xfrm>
          <a:prstGeom prst="roundRect">
            <a:avLst>
              <a:gd name="adj" fmla="val 2396"/>
            </a:avLst>
          </a:prstGeom>
          <a:noFill/>
          <a:ln w="6350">
            <a:solidFill>
              <a:srgbClr val="2E4A3B"/>
            </a:solidFill>
            <a:prstDash val="solid"/>
          </a:ln>
        </p:spPr>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4</a:t>
            </a:r>
            <a:endParaRPr lang="vi-V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TỔNG QUAN</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Cả vườn trong một màn hình</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Màn hình Tổng quan: thẻ ruồi vào bẫy hôm nay, ruồi/bẫy/ngày, camera hoạt động và chỉ số nguy cơ, cùng danh sách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Ruồi vào bẫy hôm nay</a:t>
            </a:r>
            <a:endParaRPr lang="vi-VN" sz="1600" dirty="0"/>
          </a:p>
        </p:txBody>
      </p:sp>
      <p:sp>
        <p:nvSpPr>
          <p:cNvPr id="8" name="Text 5"/>
          <p:cNvSpPr/>
          <p:nvPr/>
        </p:nvSpPr>
        <p:spPr>
          <a:xfrm>
            <a:off x="7569200" y="2200275"/>
            <a:ext cx="45720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Số con mới, không phải tổng dồn trên tấm keo.</a:t>
            </a:r>
            <a:endParaRPr lang="vi-VN" sz="1300" dirty="0"/>
          </a:p>
        </p:txBody>
      </p:sp>
      <p:sp>
        <p:nvSpPr>
          <p:cNvPr id="9" name="Text 6"/>
          <p:cNvSpPr/>
          <p:nvPr/>
        </p:nvSpPr>
        <p:spPr>
          <a:xfrm>
            <a:off x="7569200" y="27019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Ruồi/bẫy/ngày</a:t>
            </a:r>
            <a:endParaRPr lang="vi-VN" sz="1600" dirty="0"/>
          </a:p>
        </p:txBody>
      </p:sp>
      <p:sp>
        <p:nvSpPr>
          <p:cNvPr id="10" name="Text 7"/>
          <p:cNvSpPr/>
          <p:nvPr/>
        </p:nvSpPr>
        <p:spPr>
          <a:xfrm>
            <a:off x="7569200" y="30067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Chỉ số chuẩn để so sánh giữa các bẫy và với tuần trước.</a:t>
            </a:r>
            <a:endParaRPr lang="vi-VN" sz="1300" dirty="0"/>
          </a:p>
        </p:txBody>
      </p:sp>
      <p:sp>
        <p:nvSpPr>
          <p:cNvPr id="11" name="Text 8"/>
          <p:cNvSpPr/>
          <p:nvPr/>
        </p:nvSpPr>
        <p:spPr>
          <a:xfrm>
            <a:off x="7569200" y="37560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Nguy cơ theo từng bẫy</a:t>
            </a:r>
            <a:endParaRPr lang="vi-VN" sz="1600" dirty="0"/>
          </a:p>
        </p:txBody>
      </p:sp>
      <p:sp>
        <p:nvSpPr>
          <p:cNvPr id="12" name="Text 9"/>
          <p:cNvSpPr/>
          <p:nvPr/>
        </p:nvSpPr>
        <p:spPr>
          <a:xfrm>
            <a:off x="7569200" y="40608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So với ngưỡng riêng của mỗi bẫy, kèm ảnh nhận dạng mới nhất.</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5</a:t>
            </a:r>
            <a:endParaRPr lang="vi-V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NHẬN DẠNG AI</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Từng con được khoanh và gọi đúng tên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Ảnh tấm bẫy dính với khung nhận dạng quanh từng con ruồi vàng và bướm đêm, kèm thống kê theo loài">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Khung và tên loài</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Mỗi con có khung, tên loài và độ tin cậy; thống kê theo loài.</a:t>
            </a:r>
            <a:endParaRPr lang="vi-VN" sz="1300" dirty="0"/>
          </a:p>
        </p:txBody>
      </p:sp>
      <p:sp>
        <p:nvSpPr>
          <p:cNvPr id="9" name="Text 6"/>
          <p:cNvSpPr/>
          <p:nvPr/>
        </p:nvSpPr>
        <p:spPr>
          <a:xfrm>
            <a:off x="7569200" y="28987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Độ chính xác đã kiểm chứng</a:t>
            </a:r>
            <a:endParaRPr lang="vi-VN" sz="1600" dirty="0"/>
          </a:p>
        </p:txBody>
      </p:sp>
      <p:sp>
        <p:nvSpPr>
          <p:cNvPr id="10" name="Text 7"/>
          <p:cNvSpPr/>
          <p:nvPr/>
        </p:nvSpPr>
        <p:spPr>
          <a:xfrm>
            <a:off x="7569200" y="32035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Trên ảnh kiểm thử: tìm thấy 92% số ruồi, 93% khung đúng là ruồi vàng.</a:t>
            </a:r>
            <a:endParaRPr lang="vi-VN" sz="1300" dirty="0"/>
          </a:p>
        </p:txBody>
      </p:sp>
      <p:sp>
        <p:nvSpPr>
          <p:cNvPr id="11" name="Text 8"/>
          <p:cNvSpPr/>
          <p:nvPr/>
        </p:nvSpPr>
        <p:spPr>
          <a:xfrm>
            <a:off x="7569200" y="39020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Người kiểm tra lại</a:t>
            </a:r>
            <a:endParaRPr lang="vi-VN" sz="1600" dirty="0"/>
          </a:p>
        </p:txBody>
      </p:sp>
      <p:sp>
        <p:nvSpPr>
          <p:cNvPr id="12" name="Text 9"/>
          <p:cNvSpPr/>
          <p:nvPr/>
        </p:nvSpPr>
        <p:spPr>
          <a:xfrm>
            <a:off x="7569200" y="4206875"/>
            <a:ext cx="45720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Xác nhận đúng hoặc sửa số đếm ngay trên ảnh.</a:t>
            </a:r>
            <a:endParaRPr lang="vi-VN" sz="1300" dirty="0"/>
          </a:p>
        </p:txBody>
      </p:sp>
      <p:sp>
        <p:nvSpPr>
          <p:cNvPr id="13" name="Text 10"/>
          <p:cNvSpPr/>
          <p:nvPr/>
        </p:nvSpPr>
        <p:spPr>
          <a:xfrm>
            <a:off x="7569200" y="46577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AI ngày càng chính xác</a:t>
            </a:r>
            <a:endParaRPr lang="vi-VN" sz="1600" dirty="0"/>
          </a:p>
        </p:txBody>
      </p:sp>
      <p:sp>
        <p:nvSpPr>
          <p:cNvPr id="14" name="Text 11"/>
          <p:cNvSpPr/>
          <p:nvPr/>
        </p:nvSpPr>
        <p:spPr>
          <a:xfrm>
            <a:off x="7569200" y="49625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Ảnh đã duyệt được gửi đi để huấn luyện lại mô hình.</a:t>
            </a:r>
            <a:endParaRPr lang="vi-VN"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6</a:t>
            </a:r>
            <a:endParaRPr lang="vi-V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HAI LOẠI BẪY</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Mỗi loại bẫy được đọc số theo cách riêng</a:t>
            </a:r>
            <a:endParaRPr lang="vi-VN"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397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Bẫy dính</a:t>
            </a:r>
            <a:endParaRPr lang="vi-VN" sz="1200" dirty="0"/>
          </a:p>
        </p:txBody>
      </p:sp>
      <p:sp>
        <p:nvSpPr>
          <p:cNvPr id="6" name="Text 4"/>
          <p:cNvSpPr/>
          <p:nvPr/>
        </p:nvSpPr>
        <p:spPr>
          <a:xfrm>
            <a:off x="1174750" y="2856111"/>
            <a:ext cx="4539107" cy="660400"/>
          </a:xfrm>
          <a:prstGeom prst="rect">
            <a:avLst/>
          </a:prstGeom>
          <a:noFill/>
          <a:ln/>
        </p:spPr>
        <p:txBody>
          <a:bodyPr wrap="square" lIns="0" tIns="0" rIns="0" bIns="0" rtlCol="0" anchor="t">
            <a:normAutofit/>
          </a:bodyPr>
          <a:lstStyle/>
          <a:p>
            <a:pPr algn="l" indent="0" marL="0">
              <a:lnSpc>
                <a:spcPts val="2500"/>
              </a:lnSpc>
              <a:buNone/>
            </a:pPr>
            <a:r>
              <a:rPr lang="vi-VN" sz="2000" b="1" dirty="0">
                <a:solidFill>
                  <a:srgbClr val="F5F7F1"/>
                </a:solidFill>
                <a:latin typeface="Arial" pitchFamily="34" charset="0"/>
                <a:ea typeface="Arial" pitchFamily="34" charset="-122"/>
                <a:cs typeface="Arial" pitchFamily="34" charset="-120"/>
              </a:rPr>
              <a:t>Ruồi vào bẫy = phần tăng thêm mỗi ngày</a:t>
            </a:r>
            <a:endParaRPr lang="vi-VN" sz="2000" dirty="0"/>
          </a:p>
        </p:txBody>
      </p:sp>
      <p:sp>
        <p:nvSpPr>
          <p:cNvPr id="7" name="Text 5"/>
          <p:cNvSpPr/>
          <p:nvPr/>
        </p:nvSpPr>
        <p:spPr>
          <a:xfrm>
            <a:off x="1174750" y="3668911"/>
            <a:ext cx="4539107"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Tấm keo giữ lại mọi con đã dính. FlyBot tính số con mới so với hôm trước, bỏ qua ngày thay tấm, và nhắc thay tấm theo tuổi tấm.</a:t>
            </a:r>
            <a:endParaRPr lang="vi-VN"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651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Bẫy dẫn dụ</a:t>
            </a:r>
            <a:endParaRPr lang="vi-VN" sz="1200" dirty="0"/>
          </a:p>
        </p:txBody>
      </p:sp>
      <p:sp>
        <p:nvSpPr>
          <p:cNvPr id="10" name="Text 8"/>
          <p:cNvSpPr/>
          <p:nvPr/>
        </p:nvSpPr>
        <p:spPr>
          <a:xfrm>
            <a:off x="6610350" y="2856111"/>
            <a:ext cx="4539107" cy="660400"/>
          </a:xfrm>
          <a:prstGeom prst="rect">
            <a:avLst/>
          </a:prstGeom>
          <a:noFill/>
          <a:ln/>
        </p:spPr>
        <p:txBody>
          <a:bodyPr wrap="square" lIns="0" tIns="0" rIns="0" bIns="0" rtlCol="0" anchor="t">
            <a:normAutofit/>
          </a:bodyPr>
          <a:lstStyle/>
          <a:p>
            <a:pPr algn="l" indent="0" marL="0">
              <a:lnSpc>
                <a:spcPts val="2500"/>
              </a:lnSpc>
              <a:buNone/>
            </a:pPr>
            <a:r>
              <a:rPr lang="vi-VN" sz="2000" b="1" dirty="0">
                <a:solidFill>
                  <a:srgbClr val="F5F7F1"/>
                </a:solidFill>
                <a:latin typeface="Arial" pitchFamily="34" charset="0"/>
                <a:ea typeface="Arial" pitchFamily="34" charset="-122"/>
                <a:cs typeface="Arial" pitchFamily="34" charset="-120"/>
              </a:rPr>
              <a:t>Đánh giá theo trung bình trong ngày</a:t>
            </a:r>
            <a:endParaRPr lang="vi-VN" sz="2000" dirty="0"/>
          </a:p>
        </p:txBody>
      </p:sp>
      <p:sp>
        <p:nvSpPr>
          <p:cNvPr id="11" name="Text 9"/>
          <p:cNvSpPr/>
          <p:nvPr/>
        </p:nvSpPr>
        <p:spPr>
          <a:xfrm>
            <a:off x="6610350" y="3668911"/>
            <a:ext cx="4539107"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Ruồi vào rồi có thể bay đi, nên FlyBot dùng số con trung bình mỗi ảnh trong ngày. Một ảnh đông ruồi không còn gây báo động sai.</a:t>
            </a:r>
            <a:endParaRPr lang="vi-VN"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7</a:t>
            </a:r>
            <a:endParaRPr lang="vi-V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CAMERA</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Xem trực tiếp, xem lại và bảo trì bẫy</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Trang Camera: các đoạn ghi hình theo dòng thời gian, thanh 24 giờ và lịch sử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Trực tiếp và chụp ngay</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Hình trực tiếp từ camera, chụp và phân tích ngay khi cần.</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Xem lại theo dòng thời gian</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Đoạn ghi hình trên thẻ nhớ xếp theo giờ, lùi tiến từng ngày.</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Bảo trì bẫy</a:t>
            </a:r>
            <a:endParaRPr lang="vi-VN" sz="1600" dirty="0"/>
          </a:p>
        </p:txBody>
      </p:sp>
      <p:sp>
        <p:nvSpPr>
          <p:cNvPr id="12" name="Text 9"/>
          <p:cNvSpPr/>
          <p:nvPr/>
        </p:nvSpPr>
        <p:spPr>
          <a:xfrm>
            <a:off x="7569200" y="4308475"/>
            <a:ext cx="39243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Ghi nhận thay tấm keo, nhắc thay khi đến hạn.</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8</a:t>
            </a:r>
            <a:endParaRPr lang="vi-V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CẢNH BÁO</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Biết ngay khi cần ra vườn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anh sách thông báo: tăng đột biến, vượt ngưỡng dịch hại, camera mất kết nối, đến hạn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Đúng lúc</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Vượt ngưỡng từng bẫy, tăng đột biến, camera mất kết nối, đến hạn thay tấm.</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Đúng kênh</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Trong ứng dụng, thông báo đẩy, email, Telegram; bản tin sáng 6:30 nếu bật.</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Không làm phiền</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Chọn loại cảnh báo, giờ yên lặng và thời gian chờ giữa hai lần báo.</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9</a:t>
            </a:r>
            <a:endParaRPr lang="vi-V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PHÂN TÍCH VÀ LỊCH SỬ</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Mọi ảnh đã phân tích, lọc và xuất khi cần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Lịch sử nhận dạng: bảng ảnh có số đếm, trạng thái cảnh báo và loài, với menu xuất PDF kèm ảnh và Excel kèm ảnh">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Phân tích chuyên sâu</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So sánh bẫy, nhiệt độ so với số ruồi, khung giờ ruồi vào nhiều.</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Lọc theo nhu cầu</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Theo camera, thời gian, mức cảnh báo, trạng thái duyệt.</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Xuất kèm ảnh</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PDF và Excel kèm ảnh có khung nhận dạng, mỗi camera một sheet.</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10</a:t>
            </a:r>
            <a:endParaRPr lang="vi-V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BÁO CÁO</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Báo cáo tự thiết kế, tự gửi đến người cần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Báo cáo mùa vụ: chỉ số chính, số ruồi mỗi ngày và loài côn trùng, với các nút Xuất PDF, Gửi email và Chia sẻ">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Chọn các khối</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Chỉ số, biểu đồ, bảng; 7 ngày đến 12 tháng, so với kỳ trước.</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Gửi định kỳ</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Hằng tuần hoặc hằng tháng, kèm PDF, qua email và Telegram.</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Chia sẻ có thời hạn</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Chia sẻ cho đồng nghiệp hoặc qua link công khai, tự hết hạn.</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11</a:t>
            </a:r>
            <a:endParaRPr lang="vi-V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TRỢ LÝ AI</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Hỏi bằng lời, trợ lý tự tra cứu và làm</a:t>
            </a:r>
            <a:endParaRPr lang="vi-VN"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Bạn hỏi</a:t>
            </a:r>
            <a:endParaRPr lang="vi-VN" sz="1800" dirty="0"/>
          </a:p>
        </p:txBody>
      </p:sp>
      <p:sp>
        <p:nvSpPr>
          <p:cNvPr id="7" name="Text 4"/>
          <p:cNvSpPr/>
          <p:nvPr/>
        </p:nvSpPr>
        <p:spPr>
          <a:xfrm>
            <a:off x="1073150" y="309483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"Bẫy nào đang nặng nhất?"</a:t>
            </a:r>
            <a:endParaRPr lang="vi-VN" sz="1300" dirty="0"/>
          </a:p>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"Lần phun tuần trước có hiệu quả không?"</a:t>
            </a:r>
            <a:endParaRPr lang="vi-VN" sz="1300" dirty="0"/>
          </a:p>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"Tôi đã thay tấm keo bẫy A1."</a:t>
            </a:r>
            <a:endParaRPr lang="vi-VN"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Trợ lý tự chọn công cụ</a:t>
            </a:r>
            <a:endParaRPr lang="vi-VN"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Số liệu bẫy, so sánh tuần, cảnh báo, báo cáo, nhật ký vườn; nhìn trực tiếp một ảnh; chụp ảnh, gửi báo cáo.</a:t>
            </a:r>
            <a:endParaRPr lang="vi-VN"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Trả lời và dẫn đường</a:t>
            </a:r>
            <a:endParaRPr lang="vi-VN"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Trả lời hiện dần, kèm ảnh, biểu đồ; mở đúng màn hình. Thay đổi chỉ được ghi khi bạn bấm Xác nhận.</a:t>
            </a:r>
            <a:endParaRPr lang="vi-VN"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Trợ lý chỉ thấy camera bạn có quyền xem, và không thay đổi cài đặt hay tài khoản.</a:t>
            </a:r>
            <a:endParaRPr lang="vi-VN"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12 · Hướng dẫn chi tiết: </a:t>
            </a:r>
            <a:r>
              <a:rPr lang="vi-VN"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ezviz.agrhub.com/manual</a:t>
            </a:r>
            <a:endParaRPr lang="vi-V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TRỢ LÝ AI TRONG ỨNG DỤNG</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Trả lời bằng ảnh, biểu đồ và nút bấm</a:t>
            </a:r>
            <a:endParaRPr lang="vi-VN"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Ảnh nhận dạng mới nhất</a:t>
            </a:r>
            <a:endParaRPr lang="vi-VN"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rợ lý trả lời câu hỏi ảnh mới nhất bằng 4 ảnh bẫy kèm số con">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Biểu đồ ngay trong chat</a:t>
            </a:r>
            <a:endParaRPr lang="vi-VN"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rợ lý trả lời 24 giờ qua kèm biểu đồ ruồi vào bẫy theo giờ">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Hỏi về một ảnh</a:t>
            </a:r>
            <a:endParaRPr lang="vi-VN"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rợ lý xem ảnh tấm bẫy và nhận xét số đếm, độ rõ của ảnh">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Ghi nhận khi bạn xác nhận</a:t>
            </a:r>
            <a:endParaRPr lang="vi-VN"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Thẻ ghi nhận thay tấm keo với nút Xác nhận và Hủy">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13 · Hướng dẫn chi tiết: </a:t>
            </a:r>
            <a:r>
              <a:rPr lang="vi-VN" sz="1200" u="sng" dirty="0">
                <a:solidFill>
                  <a:srgbClr val="6B7B7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ezviz.agrhub.com/manual</a:t>
            </a:r>
            <a:endParaRPr lang="vi-V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VƯỜN, BẢN ĐỒ VÀ NHẬT KÝ</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Biết biện pháp nào thực sự hiệu quả</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hật ký vườn: các lần phun thuốc và vệ sinh vườn kèm hiệu quả trên số côn trùng, nút xuất sổ VietGAP">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Vườn, lô và bản đồ</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Bẫy gắn với lô; bản đồ nhiệt cho thấy chỗ nóng dịch hại.</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Nhật ký xử lý</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Mỗi lần phun hay đặt bả kèm hiệu quả đo được trên số ruồi.</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Sổ VietGAP</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Xuất sổ ghi chép sử dụng thuốc BVTV theo mẫu VietGAP.</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14</a:t>
            </a:r>
            <a:endParaRPr lang="vi-V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trên điện thoại: màn hình Tổng quan với thanh điều hướng dưới cùng">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ĐIỆN THOẠI VÀ ĐỘI NHÓM</a:t>
            </a:r>
            <a:endParaRPr lang="vi-VN"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Cả đội cùng theo dõi, mỗi người đúng quyền</a:t>
            </a:r>
            <a:endParaRPr lang="vi-VN" sz="3200" dirty="0"/>
          </a:p>
        </p:txBody>
      </p:sp>
      <p:sp>
        <p:nvSpPr>
          <p:cNvPr id="7" name="Text 4"/>
          <p:cNvSpPr/>
          <p:nvPr/>
        </p:nvSpPr>
        <p:spPr>
          <a:xfrm>
            <a:off x="3721100" y="3304480"/>
            <a:ext cx="352425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Cài như ứng dụng</a:t>
            </a:r>
            <a:endParaRPr lang="vi-VN" sz="1600" dirty="0"/>
          </a:p>
        </p:txBody>
      </p:sp>
      <p:sp>
        <p:nvSpPr>
          <p:cNvPr id="8" name="Text 5"/>
          <p:cNvSpPr/>
          <p:nvPr/>
        </p:nvSpPr>
        <p:spPr>
          <a:xfrm>
            <a:off x="3721100" y="3609280"/>
            <a:ext cx="352425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Dùng trên điện thoại, nhận thông báo đẩy, song ngữ Việt và Anh.</a:t>
            </a:r>
            <a:endParaRPr lang="vi-VN"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Phân quyền</a:t>
            </a:r>
            <a:endParaRPr lang="vi-VN"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Quản trị, quản lý, người xem; chia sẻ từng camera hoặc theo tổ chức.</a:t>
            </a:r>
            <a:endParaRPr lang="vi-VN" sz="1300" dirty="0"/>
          </a:p>
        </p:txBody>
      </p:sp>
      <p:sp>
        <p:nvSpPr>
          <p:cNvPr id="11" name="Text 8"/>
          <p:cNvSpPr/>
          <p:nvPr/>
        </p:nvSpPr>
        <p:spPr>
          <a:xfrm>
            <a:off x="3721100" y="4254500"/>
            <a:ext cx="352425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Kết nối hệ thống khác</a:t>
            </a:r>
            <a:endParaRPr lang="vi-VN" sz="1600" dirty="0"/>
          </a:p>
        </p:txBody>
      </p:sp>
      <p:sp>
        <p:nvSpPr>
          <p:cNvPr id="12" name="Text 9"/>
          <p:cNvSpPr/>
          <p:nvPr/>
        </p:nvSpPr>
        <p:spPr>
          <a:xfrm>
            <a:off x="3721100" y="4559300"/>
            <a:ext cx="352425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API key và webhook để đưa số liệu sang phần mềm của bạn.</a:t>
            </a:r>
            <a:endParaRPr lang="vi-VN" sz="1300" dirty="0"/>
          </a:p>
        </p:txBody>
      </p:sp>
      <p:sp>
        <p:nvSpPr>
          <p:cNvPr id="13" name="Text 10"/>
          <p:cNvSpPr/>
          <p:nvPr/>
        </p:nvSpPr>
        <p:spPr>
          <a:xfrm>
            <a:off x="7550150" y="4254500"/>
            <a:ext cx="3943922"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Theo dõi vận hành</a:t>
            </a:r>
            <a:endParaRPr lang="vi-VN" sz="1600" dirty="0"/>
          </a:p>
        </p:txBody>
      </p:sp>
      <p:sp>
        <p:nvSpPr>
          <p:cNvPr id="14" name="Text 11"/>
          <p:cNvSpPr/>
          <p:nvPr/>
        </p:nvSpPr>
        <p:spPr>
          <a:xfrm>
            <a:off x="7550150" y="4559300"/>
            <a:ext cx="3943922"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Nhật ký hoạt động và màn hình theo dõi luồng chụp ảnh.</a:t>
            </a:r>
            <a:endParaRPr lang="vi-VN"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15</a:t>
            </a:r>
            <a:endParaRPr lang="vi-V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BẮT ĐẦU</a:t>
            </a:r>
            <a:endParaRPr lang="vi-VN" sz="1200" dirty="0"/>
          </a:p>
        </p:txBody>
      </p:sp>
      <p:sp>
        <p:nvSpPr>
          <p:cNvPr id="3" name="Text 1"/>
          <p:cNvSpPr/>
          <p:nvPr>
            <p:ph type="title"/>
          </p:nvPr>
        </p:nvSpPr>
        <p:spPr>
          <a:xfrm>
            <a:off x="812800" y="1026120"/>
            <a:ext cx="10883392" cy="537369"/>
          </a:xfrm>
          <a:prstGeom prst="rect">
            <a:avLst/>
          </a:prstGeom>
          <a:noFill/>
          <a:ln/>
        </p:spPr>
        <p:txBody>
          <a:bodyPr wrap="square" lIns="0" tIns="0" rIns="0" bIns="0" rtlCol="0" anchor="t">
            <a:normAutofit/>
          </a:bodyPr>
          <a:lstStyle/>
          <a:p>
            <a:pPr algn="l" indent="0" marL="0">
              <a:lnSpc>
                <a:spcPts val="4032"/>
              </a:lnSpc>
              <a:buNone/>
            </a:pPr>
            <a:r>
              <a:rPr lang="vi-VN" sz="3600" b="1" i="0" dirty="0">
                <a:solidFill>
                  <a:srgbClr val="F5F7F1"/>
                </a:solidFill>
                <a:latin typeface="Arial" pitchFamily="34" charset="0"/>
                <a:ea typeface="Arial" pitchFamily="34" charset="-122"/>
                <a:cs typeface="Arial" pitchFamily="34" charset="-120"/>
              </a:rPr>
              <a:t>Ba bước để bẫy đầu tiên tự báo số</a:t>
            </a:r>
            <a:endParaRPr lang="vi-VN" sz="3600" dirty="0"/>
          </a:p>
        </p:txBody>
      </p:sp>
      <p:sp>
        <p:nvSpPr>
          <p:cNvPr id="4" name="Shape 2"/>
          <p:cNvSpPr/>
          <p:nvPr/>
        </p:nvSpPr>
        <p:spPr>
          <a:xfrm>
            <a:off x="812800" y="1906389"/>
            <a:ext cx="3386634" cy="0"/>
          </a:xfrm>
          <a:prstGeom prst="line">
            <a:avLst/>
          </a:prstGeom>
          <a:noFill/>
          <a:ln w="25400">
            <a:solidFill>
              <a:srgbClr val="F2C230"/>
            </a:solidFill>
            <a:prstDash val="solid"/>
          </a:ln>
        </p:spPr>
      </p:sp>
      <p:sp>
        <p:nvSpPr>
          <p:cNvPr id="5" name="Text 3"/>
          <p:cNvSpPr/>
          <p:nvPr/>
        </p:nvSpPr>
        <p:spPr>
          <a:xfrm>
            <a:off x="812800" y="2122289"/>
            <a:ext cx="3488233"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01</a:t>
            </a:r>
            <a:endParaRPr lang="vi-VN" sz="2200" dirty="0"/>
          </a:p>
        </p:txBody>
      </p:sp>
      <p:sp>
        <p:nvSpPr>
          <p:cNvPr id="6" name="Text 4"/>
          <p:cNvSpPr/>
          <p:nvPr/>
        </p:nvSpPr>
        <p:spPr>
          <a:xfrm>
            <a:off x="812800" y="2640409"/>
            <a:ext cx="3488233"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Lắp camera trước tấm bẫy</a:t>
            </a:r>
            <a:endParaRPr lang="vi-VN" sz="1800" dirty="0"/>
          </a:p>
        </p:txBody>
      </p:sp>
      <p:sp>
        <p:nvSpPr>
          <p:cNvPr id="7" name="Text 5"/>
          <p:cNvSpPr/>
          <p:nvPr/>
        </p:nvSpPr>
        <p:spPr>
          <a:xfrm>
            <a:off x="812800" y="3053159"/>
            <a:ext cx="3488233"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Camera EZVIZ hướng vào tấm bẫy dính hoặc bẫy dẫn dụ.</a:t>
            </a:r>
            <a:endParaRPr lang="vi-VN" sz="1300" dirty="0"/>
          </a:p>
        </p:txBody>
      </p:sp>
      <p:sp>
        <p:nvSpPr>
          <p:cNvPr id="8" name="Shape 6"/>
          <p:cNvSpPr/>
          <p:nvPr/>
        </p:nvSpPr>
        <p:spPr>
          <a:xfrm>
            <a:off x="4402634" y="1906389"/>
            <a:ext cx="3386733" cy="0"/>
          </a:xfrm>
          <a:prstGeom prst="line">
            <a:avLst/>
          </a:prstGeom>
          <a:noFill/>
          <a:ln w="25400">
            <a:solidFill>
              <a:srgbClr val="F2C230"/>
            </a:solidFill>
            <a:prstDash val="solid"/>
          </a:ln>
        </p:spPr>
      </p:sp>
      <p:sp>
        <p:nvSpPr>
          <p:cNvPr id="9" name="Text 7"/>
          <p:cNvSpPr/>
          <p:nvPr/>
        </p:nvSpPr>
        <p:spPr>
          <a:xfrm>
            <a:off x="4402634" y="2122289"/>
            <a:ext cx="3488335"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02</a:t>
            </a:r>
            <a:endParaRPr lang="vi-VN" sz="2200" dirty="0"/>
          </a:p>
        </p:txBody>
      </p:sp>
      <p:sp>
        <p:nvSpPr>
          <p:cNvPr id="10" name="Text 8"/>
          <p:cNvSpPr/>
          <p:nvPr/>
        </p:nvSpPr>
        <p:spPr>
          <a:xfrm>
            <a:off x="4402634" y="2640409"/>
            <a:ext cx="3488335"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Thêm camera vào FlyBot</a:t>
            </a:r>
            <a:endParaRPr lang="vi-VN" sz="1800" dirty="0"/>
          </a:p>
        </p:txBody>
      </p:sp>
      <p:sp>
        <p:nvSpPr>
          <p:cNvPr id="11" name="Text 9"/>
          <p:cNvSpPr/>
          <p:nvPr/>
        </p:nvSpPr>
        <p:spPr>
          <a:xfrm>
            <a:off x="4402634" y="3053159"/>
            <a:ext cx="3488335"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Nhập số serial và mã xác thực, chọn loại bẫy và lịch chụp.</a:t>
            </a:r>
            <a:endParaRPr lang="vi-VN" sz="1300" dirty="0"/>
          </a:p>
        </p:txBody>
      </p:sp>
      <p:sp>
        <p:nvSpPr>
          <p:cNvPr id="12" name="Shape 10"/>
          <p:cNvSpPr/>
          <p:nvPr/>
        </p:nvSpPr>
        <p:spPr>
          <a:xfrm>
            <a:off x="7992566" y="1906389"/>
            <a:ext cx="3386634" cy="0"/>
          </a:xfrm>
          <a:prstGeom prst="line">
            <a:avLst/>
          </a:prstGeom>
          <a:noFill/>
          <a:ln w="25400">
            <a:solidFill>
              <a:srgbClr val="F2C230"/>
            </a:solidFill>
            <a:prstDash val="solid"/>
          </a:ln>
        </p:spPr>
      </p:sp>
      <p:sp>
        <p:nvSpPr>
          <p:cNvPr id="13" name="Text 11"/>
          <p:cNvSpPr/>
          <p:nvPr/>
        </p:nvSpPr>
        <p:spPr>
          <a:xfrm>
            <a:off x="7992566" y="2122289"/>
            <a:ext cx="3488233"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03</a:t>
            </a:r>
            <a:endParaRPr lang="vi-VN" sz="2200" dirty="0"/>
          </a:p>
        </p:txBody>
      </p:sp>
      <p:sp>
        <p:nvSpPr>
          <p:cNvPr id="14" name="Text 12"/>
          <p:cNvSpPr/>
          <p:nvPr/>
        </p:nvSpPr>
        <p:spPr>
          <a:xfrm>
            <a:off x="7992566" y="2640409"/>
            <a:ext cx="3488233"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Đặt ngưỡng và kênh nhận</a:t>
            </a:r>
            <a:endParaRPr lang="vi-VN" sz="1800" dirty="0"/>
          </a:p>
        </p:txBody>
      </p:sp>
      <p:sp>
        <p:nvSpPr>
          <p:cNvPr id="15" name="Text 13"/>
          <p:cNvSpPr/>
          <p:nvPr/>
        </p:nvSpPr>
        <p:spPr>
          <a:xfrm>
            <a:off x="7992566" y="3053159"/>
            <a:ext cx="3488233"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Ngưỡng cho từng bẫy; nhận cảnh báo qua điện thoại, email, Telegram.</a:t>
            </a:r>
            <a:endParaRPr lang="vi-VN" sz="1300" dirty="0"/>
          </a:p>
        </p:txBody>
      </p:sp>
      <p:pic>
        <p:nvPicPr>
          <p:cNvPr id="16" name="Image 0" descr="Mã QR mở ezviz.agrhub.com">    </p:cNvPr>
          <p:cNvPicPr>
            <a:picLocks noChangeAspect="1"/>
          </p:cNvPicPr>
          <p:nvPr/>
        </p:nvPicPr>
        <p:blipFill>
          <a:blip r:embed="rId1"/>
          <a:srcRect l="0" r="0" t="0" b="0"/>
          <a:stretch/>
        </p:blipFill>
        <p:spPr>
          <a:xfrm>
            <a:off x="812800" y="3904059"/>
            <a:ext cx="1143000" cy="1143000"/>
          </a:xfrm>
          <a:prstGeom prst="roundRect">
            <a:avLst>
              <a:gd name="adj" fmla="val 6667"/>
            </a:avLst>
          </a:prstGeom>
        </p:spPr>
      </p:pic>
      <p:sp>
        <p:nvSpPr>
          <p:cNvPr id="17" name="Text 14"/>
          <p:cNvSpPr/>
          <p:nvPr/>
        </p:nvSpPr>
        <p:spPr>
          <a:xfrm>
            <a:off x="2108200" y="4210149"/>
            <a:ext cx="1372295" cy="292100"/>
          </a:xfrm>
          <a:prstGeom prst="rect">
            <a:avLst/>
          </a:prstGeom>
          <a:noFill/>
          <a:ln/>
        </p:spPr>
        <p:txBody>
          <a:bodyPr wrap="square" lIns="0" tIns="0" rIns="0" bIns="0" rtlCol="0" anchor="t">
            <a:normAutofit/>
          </a:bodyPr>
          <a:lstStyle/>
          <a:p>
            <a:pPr algn="l" indent="0" marL="0">
              <a:lnSpc>
                <a:spcPts val="2100"/>
              </a:lnSpc>
              <a:buNone/>
            </a:pPr>
            <a:r>
              <a:rPr lang="vi-VN" sz="1500" b="1" dirty="0">
                <a:solidFill>
                  <a:srgbClr val="F5F7F1"/>
                </a:solidFill>
                <a:latin typeface="Arial" pitchFamily="34" charset="0"/>
                <a:ea typeface="Arial" pitchFamily="34" charset="-122"/>
                <a:cs typeface="Arial" pitchFamily="34" charset="-120"/>
              </a:rPr>
              <a:t>Mở ứng dụng</a:t>
            </a:r>
            <a:endParaRPr lang="vi-VN" sz="1500" dirty="0"/>
          </a:p>
        </p:txBody>
      </p:sp>
      <p:sp>
        <p:nvSpPr>
          <p:cNvPr id="18" name="Text 15"/>
          <p:cNvSpPr/>
          <p:nvPr/>
        </p:nvSpPr>
        <p:spPr>
          <a:xfrm>
            <a:off x="2108200" y="4527649"/>
            <a:ext cx="1585793" cy="238720"/>
          </a:xfrm>
          <a:prstGeom prst="rect">
            <a:avLst/>
          </a:prstGeom>
          <a:noFill/>
          <a:ln/>
        </p:spPr>
        <p:txBody>
          <a:bodyPr wrap="square" lIns="0" tIns="0" rIns="0" bIns="0" rtlCol="0" anchor="t">
            <a:normAutofit/>
          </a:bodyPr>
          <a:lstStyle/>
          <a:p>
            <a:pPr algn="l" indent="0" marL="0">
              <a:lnSpc>
                <a:spcPts val="1680"/>
              </a:lnSpc>
              <a:buNone/>
            </a:pPr>
            <a:r>
              <a:rPr lang="vi-VN" sz="1200" u="sng" dirty="0">
                <a:solidFill>
                  <a:srgbClr val="BFD3C6"/>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vi-VN" sz="1200" dirty="0"/>
          </a:p>
        </p:txBody>
      </p:sp>
      <p:pic>
        <p:nvPicPr>
          <p:cNvPr id="19" name="Image 1" descr="Mã QR mở video giới thiệu FlyBot">    </p:cNvPr>
          <p:cNvPicPr>
            <a:picLocks noChangeAspect="1"/>
          </p:cNvPicPr>
          <p:nvPr/>
        </p:nvPicPr>
        <p:blipFill>
          <a:blip r:embed="rId3"/>
          <a:srcRect l="0" r="0" t="0" b="0"/>
          <a:stretch/>
        </p:blipFill>
        <p:spPr>
          <a:xfrm>
            <a:off x="3886895" y="3904059"/>
            <a:ext cx="1143000" cy="1143000"/>
          </a:xfrm>
          <a:prstGeom prst="roundRect">
            <a:avLst>
              <a:gd name="adj" fmla="val 6667"/>
            </a:avLst>
          </a:prstGeom>
        </p:spPr>
      </p:pic>
      <p:sp>
        <p:nvSpPr>
          <p:cNvPr id="20" name="Text 16"/>
          <p:cNvSpPr/>
          <p:nvPr/>
        </p:nvSpPr>
        <p:spPr>
          <a:xfrm>
            <a:off x="5182295" y="4210149"/>
            <a:ext cx="2240837" cy="292100"/>
          </a:xfrm>
          <a:prstGeom prst="rect">
            <a:avLst/>
          </a:prstGeom>
          <a:noFill/>
          <a:ln/>
        </p:spPr>
        <p:txBody>
          <a:bodyPr wrap="square" lIns="0" tIns="0" rIns="0" bIns="0" rtlCol="0" anchor="t">
            <a:normAutofit/>
          </a:bodyPr>
          <a:lstStyle/>
          <a:p>
            <a:pPr algn="l" indent="0" marL="0">
              <a:lnSpc>
                <a:spcPts val="2100"/>
              </a:lnSpc>
              <a:buNone/>
            </a:pPr>
            <a:r>
              <a:rPr lang="vi-VN" sz="1500" b="1" dirty="0">
                <a:solidFill>
                  <a:srgbClr val="F5F7F1"/>
                </a:solidFill>
                <a:latin typeface="Arial" pitchFamily="34" charset="0"/>
                <a:ea typeface="Arial" pitchFamily="34" charset="-122"/>
                <a:cs typeface="Arial" pitchFamily="34" charset="-120"/>
              </a:rPr>
              <a:t>Xem video 82 giây</a:t>
            </a:r>
            <a:endParaRPr lang="vi-VN" sz="1500" dirty="0"/>
          </a:p>
        </p:txBody>
      </p:sp>
      <p:sp>
        <p:nvSpPr>
          <p:cNvPr id="21" name="Text 17"/>
          <p:cNvSpPr/>
          <p:nvPr/>
        </p:nvSpPr>
        <p:spPr>
          <a:xfrm>
            <a:off x="5182295" y="4527649"/>
            <a:ext cx="2610683" cy="238720"/>
          </a:xfrm>
          <a:prstGeom prst="rect">
            <a:avLst/>
          </a:prstGeom>
          <a:noFill/>
          <a:ln/>
        </p:spPr>
        <p:txBody>
          <a:bodyPr wrap="square" lIns="0" tIns="0" rIns="0" bIns="0" rtlCol="0" anchor="t">
            <a:normAutofit/>
          </a:bodyPr>
          <a:lstStyle/>
          <a:p>
            <a:pPr algn="l" indent="0" marL="0">
              <a:lnSpc>
                <a:spcPts val="1680"/>
              </a:lnSpc>
              <a:buNone/>
            </a:pPr>
            <a:r>
              <a:rPr lang="vi-VN" sz="1200" u="sng" dirty="0">
                <a:solidFill>
                  <a:srgbClr val="BFD3C6"/>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Quét bằng camera điện thoại</a:t>
            </a:r>
            <a:endParaRPr lang="vi-VN" sz="1200" dirty="0"/>
          </a:p>
        </p:txBody>
      </p:sp>
      <p:sp>
        <p:nvSpPr>
          <p:cNvPr id="22"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Liên hệ: </a:t>
            </a:r>
            <a:r>
              <a:rPr lang="vi-VN" sz="1200" dirty="0">
                <a:solidFill>
                  <a:srgbClr val="8FA898"/>
                </a:solidFill>
                <a:latin typeface="Arial" pitchFamily="34" charset="0"/>
                <a:ea typeface="Arial" pitchFamily="34" charset="-122"/>
                <a:cs typeface="Arial" pitchFamily="34" charset="-120"/>
              </a:rPr>
              <a:t>contact@agrhub.com</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Hướng dẫn</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Video giới thiệu</a:t>
            </a:r>
            <a:endParaRPr lang="vi-VN" sz="1200" dirty="0"/>
          </a:p>
        </p:txBody>
      </p:sp>
    </p:spTree>
  </p:cSld>
  <p:clrMapOvr>
    <a:masterClrMapping/>
  </p:clrMapOvr>
</p:sld>
</file>

<file path=ppt/theme/theme1.xml><?xml version="1.0" encoding="utf-8"?>
<a:theme xmlns:a="http://schemas.openxmlformats.org/drawingml/2006/main" name="FlyBot – Giới thiệu ứng dụng">
  <a:themeElements>
    <a:clrScheme name="FlyBot – Giới thiệu ứng dụng">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Giới thiệu ứng dụ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Giới thiệu ứng dụng</dc:title>
  <dc:subject/>
  <dc:creator/>
  <cp:lastModifiedBy/>
  <cp:revision>1</cp:revision>
  <dcterms:created xsi:type="dcterms:W3CDTF">2026-10-12T04:45:34Z</dcterms:created>
  <dcterms:modified xsi:type="dcterms:W3CDTF">2026-10-12T04:45:34Z</dcterms:modified>
</cp:coreProperties>
</file>